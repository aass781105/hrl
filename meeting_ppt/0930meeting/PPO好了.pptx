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3"/>
  </p:notesMasterIdLst>
  <p:sldIdLst>
    <p:sldId id="942" r:id="rId2"/>
    <p:sldId id="948" r:id="rId3"/>
    <p:sldId id="955" r:id="rId4"/>
    <p:sldId id="947" r:id="rId5"/>
    <p:sldId id="954" r:id="rId6"/>
    <p:sldId id="958" r:id="rId7"/>
    <p:sldId id="956" r:id="rId8"/>
    <p:sldId id="957" r:id="rId9"/>
    <p:sldId id="952" r:id="rId10"/>
    <p:sldId id="959" r:id="rId11"/>
    <p:sldId id="93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70AD47"/>
    <a:srgbClr val="3F6EC2"/>
    <a:srgbClr val="ED7D31"/>
    <a:srgbClr val="C00000"/>
    <a:srgbClr val="4E799B"/>
    <a:srgbClr val="FFAD39"/>
    <a:srgbClr val="FF9966"/>
    <a:srgbClr val="B0966A"/>
    <a:srgbClr val="CA62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佈景主題樣式 2 - 輔色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796" autoAdjust="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1842FF-CB32-43DF-B9FE-65EF665875B2}" type="datetimeFigureOut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E097C-2611-49AA-93D4-A0110E9A53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6620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960880"/>
            <a:ext cx="10058400" cy="1210733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5400" spc="-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6218" y="4064624"/>
            <a:ext cx="10058400" cy="1143000"/>
          </a:xfrm>
        </p:spPr>
        <p:txBody>
          <a:bodyPr lIns="91440" rIns="9144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 dirty="0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414A-AA3B-479F-9443-E87E6DB2D303}" type="datetime1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385064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Taipei Tech logo">
            <a:extLst>
              <a:ext uri="{FF2B5EF4-FFF2-40B4-BE49-F238E27FC236}">
                <a16:creationId xmlns:a16="http://schemas.microsoft.com/office/drawing/2014/main" id="{C84FB869-60CA-1359-A1A9-972FEE00D5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573" y="82333"/>
            <a:ext cx="1109133" cy="65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A8FE2F8E-0A2C-6F39-816C-42C1E1733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328" y="180909"/>
            <a:ext cx="3740342" cy="558829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9E7AFDF-5951-D557-114F-9D59ED13850D}"/>
              </a:ext>
            </a:extLst>
          </p:cNvPr>
          <p:cNvSpPr/>
          <p:nvPr userDrawn="1"/>
        </p:nvSpPr>
        <p:spPr>
          <a:xfrm>
            <a:off x="1" y="1632361"/>
            <a:ext cx="854110" cy="23352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F597C5-038F-02ED-F1C7-CE412689C651}"/>
              </a:ext>
            </a:extLst>
          </p:cNvPr>
          <p:cNvSpPr/>
          <p:nvPr userDrawn="1"/>
        </p:nvSpPr>
        <p:spPr>
          <a:xfrm>
            <a:off x="11337885" y="1632360"/>
            <a:ext cx="854110" cy="23352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154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1005" y="997522"/>
            <a:ext cx="9562253" cy="545671"/>
          </a:xfrm>
        </p:spPr>
        <p:txBody>
          <a:bodyPr>
            <a:noAutofit/>
          </a:bodyPr>
          <a:lstStyle>
            <a:lvl1pPr marL="0">
              <a:defRPr sz="40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64139-FB37-44CF-9649-84761977F7A6}" type="datetime1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14E0F19-E296-C08D-6CCC-3FFA4780209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24280" y="1844040"/>
            <a:ext cx="10012680" cy="4307840"/>
          </a:xfrm>
        </p:spPr>
        <p:txBody>
          <a:bodyPr/>
          <a:lstStyle>
            <a:lvl1pPr marL="91440" indent="-9144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400"/>
            </a:lvl1pPr>
            <a:lvl2pPr marL="38404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/>
            </a:lvl2pPr>
            <a:lvl3pPr marL="56692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3pPr>
            <a:lvl4pPr marL="74980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4pPr>
            <a:lvl5pPr marL="93268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zh-TW" altLang="en-US" dirty="0"/>
              <a:t> 按一下以編輯母片文字樣式</a:t>
            </a:r>
          </a:p>
          <a:p>
            <a:pPr lvl="1"/>
            <a:r>
              <a:rPr lang="zh-TW" altLang="en-US" dirty="0"/>
              <a:t> 第二層</a:t>
            </a:r>
          </a:p>
          <a:p>
            <a:pPr lvl="2"/>
            <a:r>
              <a:rPr lang="zh-TW" altLang="en-US" dirty="0"/>
              <a:t> 第三層</a:t>
            </a:r>
          </a:p>
          <a:p>
            <a:pPr lvl="3"/>
            <a:r>
              <a:rPr lang="zh-TW" altLang="en-US" dirty="0"/>
              <a:t> 第四層</a:t>
            </a:r>
          </a:p>
          <a:p>
            <a:pPr lvl="4"/>
            <a:r>
              <a:rPr lang="zh-TW" altLang="en-US" dirty="0"/>
              <a:t> 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291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6B276-F255-4EEC-8D40-1223573FF8B6}" type="datetime1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D32E87-AE6C-472D-9A09-3ECFE3A03479}"/>
              </a:ext>
            </a:extLst>
          </p:cNvPr>
          <p:cNvSpPr/>
          <p:nvPr userDrawn="1"/>
        </p:nvSpPr>
        <p:spPr>
          <a:xfrm>
            <a:off x="0" y="0"/>
            <a:ext cx="367200" cy="558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F9B39C-AD5F-C429-CFBC-3A61DB623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880" y="33090"/>
            <a:ext cx="9562253" cy="545671"/>
          </a:xfrm>
        </p:spPr>
        <p:txBody>
          <a:bodyPr>
            <a:noAutofit/>
          </a:bodyPr>
          <a:lstStyle>
            <a:lvl1pPr marL="0">
              <a:defRPr sz="32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BBEB8-4775-A21F-4CBB-D3B6B1972A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8640" y="911014"/>
            <a:ext cx="11247120" cy="5240866"/>
          </a:xfrm>
        </p:spPr>
        <p:txBody>
          <a:bodyPr/>
          <a:lstStyle>
            <a:lvl1pPr marL="91440" indent="-9144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400"/>
            </a:lvl1pPr>
            <a:lvl2pPr marL="38404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/>
            </a:lvl2pPr>
            <a:lvl3pPr marL="56692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3pPr>
            <a:lvl4pPr marL="74980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4pPr>
            <a:lvl5pPr marL="93268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zh-TW" altLang="en-US" dirty="0"/>
              <a:t> 按一下以編輯母片文字樣式</a:t>
            </a:r>
          </a:p>
          <a:p>
            <a:pPr lvl="1"/>
            <a:r>
              <a:rPr lang="zh-TW" altLang="en-US" dirty="0"/>
              <a:t> 第二層</a:t>
            </a:r>
          </a:p>
          <a:p>
            <a:pPr lvl="2"/>
            <a:r>
              <a:rPr lang="zh-TW" altLang="en-US" dirty="0"/>
              <a:t> 第三層</a:t>
            </a:r>
          </a:p>
          <a:p>
            <a:pPr lvl="3"/>
            <a:r>
              <a:rPr lang="zh-TW" altLang="en-US" dirty="0"/>
              <a:t> 第四層</a:t>
            </a:r>
          </a:p>
          <a:p>
            <a:pPr lvl="4"/>
            <a:r>
              <a:rPr lang="zh-TW" altLang="en-US" dirty="0"/>
              <a:t> 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997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9F5CB97-E547-425F-B1EF-51E6D4EAC77F}" type="datetime1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23565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2BE65-6E56-49AE-80DA-7E1BCEC842BD}" type="datetime1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7800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714" y="6515590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fld id="{459D13DB-F681-4B20-BE28-C9CE0BB35DC9}" type="datetime1">
              <a:rPr lang="zh-TW" altLang="en-US" smtClean="0"/>
              <a:pPr/>
              <a:t>2025/9/30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571397"/>
            <a:ext cx="4822804" cy="2535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baseline="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132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296F0BE3-5357-4671-AC41-EE354106F685}"/>
              </a:ext>
            </a:extLst>
          </p:cNvPr>
          <p:cNvSpPr/>
          <p:nvPr userDrawn="1"/>
        </p:nvSpPr>
        <p:spPr>
          <a:xfrm>
            <a:off x="0" y="0"/>
            <a:ext cx="367200" cy="558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26" name="Picture 2" descr="Taipei Tech logo">
            <a:extLst>
              <a:ext uri="{FF2B5EF4-FFF2-40B4-BE49-F238E27FC236}">
                <a16:creationId xmlns:a16="http://schemas.microsoft.com/office/drawing/2014/main" id="{B93B3042-4014-4658-5163-E5664504D9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687" y="76285"/>
            <a:ext cx="1109133" cy="65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9624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703" r:id="rId3"/>
    <p:sldLayoutId id="2147483704" r:id="rId4"/>
    <p:sldLayoutId id="2147483707" r:id="rId5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FFB725-A3BC-1735-E5D3-E841251F3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1960880"/>
            <a:ext cx="10058400" cy="1556043"/>
          </a:xfrm>
        </p:spPr>
        <p:txBody>
          <a:bodyPr>
            <a:normAutofit/>
          </a:bodyPr>
          <a:lstStyle/>
          <a:p>
            <a:r>
              <a:rPr lang="zh-TW" altLang="en-US" dirty="0"/>
              <a:t>搞定</a:t>
            </a:r>
            <a:r>
              <a:rPr lang="en-US" altLang="zh-TW" dirty="0"/>
              <a:t>PPO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B61C99B-68D5-06B4-0619-45FF2CD5F2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李信翰</a:t>
            </a:r>
            <a:endParaRPr lang="en-US" altLang="zh-TW" dirty="0"/>
          </a:p>
          <a:p>
            <a:r>
              <a:rPr lang="en-US" altLang="zh-TW" dirty="0"/>
              <a:t>2025/09/30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829393D-EB17-0B9B-F7A1-7EBE72096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310FEA9-4B06-E7EE-E0A0-84370D4EC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67401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真正的問題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646" y="1844040"/>
            <a:ext cx="11267637" cy="472735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/>
              <a:t>共享骨幹網路會讓 </a:t>
            </a:r>
            <a:r>
              <a:rPr lang="en-US" altLang="zh-TW" dirty="0"/>
              <a:t>critic </a:t>
            </a:r>
            <a:r>
              <a:rPr lang="zh-TW" altLang="en-US" dirty="0"/>
              <a:t>牽著 </a:t>
            </a:r>
            <a:r>
              <a:rPr lang="en-US" altLang="zh-TW" dirty="0"/>
              <a:t>actor </a:t>
            </a:r>
            <a:r>
              <a:rPr lang="zh-TW" altLang="en-US" dirty="0"/>
              <a:t>走</a:t>
            </a:r>
            <a:endParaRPr lang="en-US" altLang="zh-TW" dirty="0"/>
          </a:p>
          <a:p>
            <a:pPr lvl="1">
              <a:lnSpc>
                <a:spcPct val="150000"/>
              </a:lnSpc>
            </a:pPr>
            <a:r>
              <a:rPr lang="zh-TW" altLang="en-US" dirty="0"/>
              <a:t>目前</a:t>
            </a:r>
            <a:r>
              <a:rPr lang="en-US" altLang="zh-TW" dirty="0"/>
              <a:t>actor</a:t>
            </a:r>
            <a:r>
              <a:rPr lang="zh-TW" altLang="en-US" dirty="0"/>
              <a:t>和</a:t>
            </a:r>
            <a:r>
              <a:rPr lang="en-US" altLang="zh-TW" dirty="0"/>
              <a:t>critic</a:t>
            </a:r>
            <a:r>
              <a:rPr lang="zh-TW" altLang="en-US" dirty="0"/>
              <a:t>共用主網路</a:t>
            </a:r>
            <a:r>
              <a:rPr lang="en-US" altLang="zh-TW" dirty="0"/>
              <a:t>Body</a:t>
            </a:r>
          </a:p>
          <a:p>
            <a:pPr marL="201168" lvl="1" indent="0">
              <a:lnSpc>
                <a:spcPct val="150000"/>
              </a:lnSpc>
              <a:buNone/>
            </a:pPr>
            <a:r>
              <a:rPr lang="zh-TW" altLang="en-US" dirty="0"/>
              <a:t>    只有最後分別以一層</a:t>
            </a:r>
            <a:r>
              <a:rPr lang="en-US" altLang="zh-TW" dirty="0"/>
              <a:t>Linear</a:t>
            </a:r>
            <a:r>
              <a:rPr lang="zh-TW" altLang="en-US" dirty="0"/>
              <a:t>連接。</a:t>
            </a:r>
            <a:endParaRPr lang="en-US" altLang="zh-TW" dirty="0"/>
          </a:p>
          <a:p>
            <a:pPr lvl="1">
              <a:lnSpc>
                <a:spcPct val="150000"/>
              </a:lnSpc>
            </a:pPr>
            <a:r>
              <a:rPr lang="en-US" altLang="zh-TW" dirty="0"/>
              <a:t>critic </a:t>
            </a:r>
            <a:r>
              <a:rPr lang="zh-TW" altLang="en-US" dirty="0"/>
              <a:t>的損失會把主網路往「更好預測 </a:t>
            </a:r>
            <a:r>
              <a:rPr lang="en-US" altLang="zh-TW" dirty="0"/>
              <a:t>V(s)</a:t>
            </a:r>
            <a:r>
              <a:rPr lang="zh-TW" altLang="en-US" dirty="0"/>
              <a:t>」</a:t>
            </a:r>
            <a:endParaRPr lang="en-US" altLang="zh-TW" dirty="0"/>
          </a:p>
          <a:p>
            <a:pPr marL="201168" lvl="1" indent="0">
              <a:lnSpc>
                <a:spcPct val="150000"/>
              </a:lnSpc>
              <a:buNone/>
            </a:pPr>
            <a:r>
              <a:rPr lang="zh-TW" altLang="en-US" dirty="0"/>
              <a:t>   的方向訓練；但這個方向</a:t>
            </a:r>
            <a:r>
              <a:rPr lang="zh-TW" altLang="en-US" b="1" dirty="0"/>
              <a:t>未必</a:t>
            </a:r>
            <a:endParaRPr lang="en-US" altLang="zh-TW" b="1" dirty="0"/>
          </a:p>
          <a:p>
            <a:pPr marL="201168" lvl="1" indent="0">
              <a:lnSpc>
                <a:spcPct val="150000"/>
              </a:lnSpc>
              <a:buNone/>
            </a:pPr>
            <a:r>
              <a:rPr lang="zh-TW" altLang="en-US" dirty="0"/>
              <a:t>（甚至常常不）等於「讓策略回報變好」</a:t>
            </a:r>
            <a:endParaRPr lang="en-US" altLang="zh-TW" dirty="0"/>
          </a:p>
          <a:p>
            <a:pPr marL="201168" lvl="1" indent="0">
              <a:lnSpc>
                <a:spcPct val="150000"/>
              </a:lnSpc>
              <a:buNone/>
            </a:pPr>
            <a:r>
              <a:rPr lang="zh-TW" altLang="en-US" dirty="0"/>
              <a:t> 的方向。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B3EB7BA-8940-F9AE-815D-0DAED4D2B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602473"/>
            <a:ext cx="6087325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809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解決方法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646" y="1844040"/>
            <a:ext cx="11267637" cy="545671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TW" altLang="en-US" dirty="0"/>
              <a:t>分開網路，並調整</a:t>
            </a:r>
            <a:r>
              <a:rPr lang="en-US" altLang="zh-TW" dirty="0"/>
              <a:t>state</a:t>
            </a:r>
            <a:r>
              <a:rPr lang="zh-TW" altLang="en-US" dirty="0"/>
              <a:t>在網路的</a:t>
            </a:r>
            <a:r>
              <a:rPr lang="en-US" altLang="zh-TW" dirty="0"/>
              <a:t>input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F43CAC3-6757-F807-B37A-BE2C93C3F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16" y="2393040"/>
            <a:ext cx="6729711" cy="4066745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D21F00D2-0955-A283-1849-81B6579E7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427" y="2920754"/>
            <a:ext cx="5128856" cy="353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218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PPO</a:t>
            </a:r>
            <a:r>
              <a:rPr lang="zh-TW" altLang="en-US" dirty="0"/>
              <a:t>目前現況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20" y="1844039"/>
            <a:ext cx="11534531" cy="436584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dirty="0"/>
              <a:t>State:[</a:t>
            </a:r>
            <a:r>
              <a:rPr lang="en-US" altLang="zh-TW" dirty="0" err="1"/>
              <a:t>Job_i</a:t>
            </a:r>
            <a:r>
              <a:rPr lang="en-US" altLang="zh-TW" dirty="0"/>
              <a:t> </a:t>
            </a:r>
            <a:r>
              <a:rPr lang="zh-TW" altLang="en-US" dirty="0"/>
              <a:t>剩餘的總加工時間</a:t>
            </a:r>
            <a:r>
              <a:rPr lang="en-US" altLang="zh-TW" dirty="0"/>
              <a:t>, </a:t>
            </a:r>
            <a:r>
              <a:rPr lang="en-US" altLang="zh-TW" dirty="0" err="1"/>
              <a:t>Job_i</a:t>
            </a:r>
            <a:r>
              <a:rPr lang="zh-TW" altLang="en-US" dirty="0"/>
              <a:t>目前</a:t>
            </a:r>
            <a:r>
              <a:rPr lang="en-US" altLang="zh-TW" dirty="0"/>
              <a:t>Operation</a:t>
            </a:r>
            <a:r>
              <a:rPr lang="zh-TW" altLang="en-US" dirty="0"/>
              <a:t>的加工時間</a:t>
            </a:r>
            <a:r>
              <a:rPr lang="en-US" altLang="zh-TW" dirty="0"/>
              <a:t>, </a:t>
            </a:r>
            <a:r>
              <a:rPr lang="en-US" altLang="zh-TW" dirty="0" err="1"/>
              <a:t>Job_i</a:t>
            </a:r>
            <a:r>
              <a:rPr lang="zh-TW" altLang="en-US" dirty="0"/>
              <a:t>目前</a:t>
            </a:r>
            <a:r>
              <a:rPr lang="en-US" altLang="zh-TW" dirty="0"/>
              <a:t>				Operation</a:t>
            </a:r>
            <a:r>
              <a:rPr lang="zh-TW" altLang="en-US" dirty="0"/>
              <a:t>的最快開始加工時間</a:t>
            </a:r>
            <a:r>
              <a:rPr lang="en-US" altLang="zh-TW" dirty="0"/>
              <a:t>, </a:t>
            </a:r>
            <a:r>
              <a:rPr lang="zh-TW" altLang="en-US" dirty="0"/>
              <a:t>到達到現在的時間</a:t>
            </a:r>
            <a:r>
              <a:rPr lang="en-US" altLang="zh-TW" dirty="0"/>
              <a:t>]</a:t>
            </a:r>
          </a:p>
          <a:p>
            <a:pPr>
              <a:lnSpc>
                <a:spcPct val="150000"/>
              </a:lnSpc>
            </a:pPr>
            <a:r>
              <a:rPr lang="en-US" altLang="zh-TW" dirty="0"/>
              <a:t>Action:[Job index]</a:t>
            </a:r>
            <a:r>
              <a:rPr lang="zh-TW" altLang="en-US" dirty="0"/>
              <a:t> 當</a:t>
            </a:r>
            <a:r>
              <a:rPr lang="en-US" altLang="zh-TW" dirty="0"/>
              <a:t>job</a:t>
            </a:r>
            <a:r>
              <a:rPr lang="zh-TW" altLang="en-US" dirty="0"/>
              <a:t>完工時用遮罩避開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en-US" altLang="zh-TW" dirty="0"/>
              <a:t>Reward</a:t>
            </a:r>
            <a:r>
              <a:rPr lang="zh-TW" altLang="en-US" dirty="0"/>
              <a:t> </a:t>
            </a:r>
            <a:r>
              <a:rPr lang="en-US" altLang="zh-TW" dirty="0"/>
              <a:t>1: </a:t>
            </a:r>
            <a:r>
              <a:rPr lang="zh-TW" altLang="en-US" dirty="0"/>
              <a:t>平均加工時間 </a:t>
            </a:r>
            <a:r>
              <a:rPr lang="en-US" altLang="zh-TW" dirty="0"/>
              <a:t>– </a:t>
            </a:r>
            <a:r>
              <a:rPr lang="en-US" altLang="zh-TW" dirty="0" err="1"/>
              <a:t>makespan</a:t>
            </a:r>
            <a:r>
              <a:rPr lang="zh-TW" altLang="en-US" dirty="0"/>
              <a:t>增加值 </a:t>
            </a:r>
            <a:r>
              <a:rPr lang="en-US" altLang="zh-TW" dirty="0"/>
              <a:t>(dense)</a:t>
            </a:r>
          </a:p>
          <a:p>
            <a:pPr>
              <a:lnSpc>
                <a:spcPct val="150000"/>
              </a:lnSpc>
            </a:pPr>
            <a:r>
              <a:rPr lang="en-US" altLang="zh-TW" dirty="0"/>
              <a:t>Reward 2: -</a:t>
            </a:r>
            <a:r>
              <a:rPr lang="en-US" altLang="zh-TW" dirty="0" err="1"/>
              <a:t>makespan</a:t>
            </a:r>
            <a:r>
              <a:rPr lang="en-US" altLang="zh-TW" dirty="0"/>
              <a:t>(sparse)</a:t>
            </a:r>
          </a:p>
        </p:txBody>
      </p:sp>
    </p:spTree>
    <p:extLst>
      <p:ext uri="{BB962C8B-B14F-4D97-AF65-F5344CB8AC3E}">
        <p14:creationId xmlns:p14="http://schemas.microsoft.com/office/powerpoint/2010/main" val="3674481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PPO</a:t>
            </a:r>
            <a:r>
              <a:rPr lang="zh-TW" altLang="en-US" dirty="0"/>
              <a:t> 超參數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52AAE40-BD12-001C-D1E9-264FDE06C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545" y="2630221"/>
            <a:ext cx="5572644" cy="275234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73CF49B-DE9C-ABA1-F951-F833A1F31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545" y="5968314"/>
            <a:ext cx="7784620" cy="233661"/>
          </a:xfrm>
          <a:prstGeom prst="rect">
            <a:avLst/>
          </a:prstGeom>
        </p:spPr>
      </p:pic>
      <p:sp>
        <p:nvSpPr>
          <p:cNvPr id="11" name="內容版面配置區 4">
            <a:extLst>
              <a:ext uri="{FF2B5EF4-FFF2-40B4-BE49-F238E27FC236}">
                <a16:creationId xmlns:a16="http://schemas.microsoft.com/office/drawing/2014/main" id="{97E18ABE-CC35-E539-1B78-FD7FDF958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4545" y="5382564"/>
            <a:ext cx="3987684" cy="49134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1800" dirty="0" err="1"/>
              <a:t>lr</a:t>
            </a:r>
            <a:r>
              <a:rPr lang="zh-TW" altLang="en-US" sz="1800" dirty="0"/>
              <a:t>初始為</a:t>
            </a:r>
            <a:r>
              <a:rPr lang="en-US" altLang="zh-TW" sz="1800" dirty="0"/>
              <a:t>1e-3</a:t>
            </a:r>
            <a:r>
              <a:rPr lang="zh-TW" altLang="en-US" sz="1800" dirty="0"/>
              <a:t>並遞減為</a:t>
            </a:r>
            <a:r>
              <a:rPr lang="en-US" altLang="zh-TW" sz="1800" dirty="0"/>
              <a:t>1e-4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62D4DC3-550F-9D2B-24BD-DA869DCFDB90}"/>
              </a:ext>
            </a:extLst>
          </p:cNvPr>
          <p:cNvSpPr txBox="1">
            <a:spLocks/>
          </p:cNvSpPr>
          <p:nvPr/>
        </p:nvSpPr>
        <p:spPr>
          <a:xfrm>
            <a:off x="1324545" y="1738033"/>
            <a:ext cx="5947112" cy="50774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1800" dirty="0"/>
              <a:t>訓練</a:t>
            </a:r>
            <a:r>
              <a:rPr lang="en-US" altLang="zh-TW" sz="1800" dirty="0"/>
              <a:t>Episode = 300</a:t>
            </a:r>
            <a:r>
              <a:rPr lang="zh-TW" altLang="en-US" sz="1800" dirty="0"/>
              <a:t>   總訓練時長約</a:t>
            </a:r>
            <a:r>
              <a:rPr lang="en-US" altLang="zh-TW" sz="1800" dirty="0"/>
              <a:t>400s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40B7022-1A25-98DE-4ACA-41308063871E}"/>
              </a:ext>
            </a:extLst>
          </p:cNvPr>
          <p:cNvSpPr txBox="1">
            <a:spLocks/>
          </p:cNvSpPr>
          <p:nvPr/>
        </p:nvSpPr>
        <p:spPr>
          <a:xfrm>
            <a:off x="1324544" y="2122480"/>
            <a:ext cx="9562253" cy="50774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1800" dirty="0"/>
              <a:t>訓練資料為</a:t>
            </a:r>
            <a:r>
              <a:rPr lang="en-US" altLang="zh-TW" sz="1800" dirty="0"/>
              <a:t>La11 ~La15</a:t>
            </a:r>
            <a:r>
              <a:rPr lang="zh-TW" altLang="en-US" sz="1800" dirty="0"/>
              <a:t>，共</a:t>
            </a:r>
            <a:r>
              <a:rPr lang="en-US" altLang="zh-TW" sz="1800" dirty="0"/>
              <a:t>5</a:t>
            </a:r>
            <a:r>
              <a:rPr lang="zh-TW" altLang="en-US" sz="1800" dirty="0"/>
              <a:t>個 </a:t>
            </a:r>
            <a:r>
              <a:rPr lang="en-US" altLang="zh-TW" sz="1800" dirty="0"/>
              <a:t>20</a:t>
            </a:r>
            <a:r>
              <a:rPr lang="zh-TW" altLang="en-US" sz="1800" dirty="0"/>
              <a:t>*</a:t>
            </a:r>
            <a:r>
              <a:rPr lang="en-US" altLang="zh-TW" sz="1800" dirty="0"/>
              <a:t>5</a:t>
            </a:r>
            <a:r>
              <a:rPr lang="zh-TW" altLang="en-US" sz="1800" dirty="0"/>
              <a:t>的資料集，並使用其中一個做為測試</a:t>
            </a:r>
            <a:endParaRPr lang="en-US" altLang="zh-TW" sz="1800" dirty="0"/>
          </a:p>
        </p:txBody>
      </p:sp>
    </p:spTree>
    <p:extLst>
      <p:ext uri="{BB962C8B-B14F-4D97-AF65-F5344CB8AC3E}">
        <p14:creationId xmlns:p14="http://schemas.microsoft.com/office/powerpoint/2010/main" val="3570315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派工法則結果 </a:t>
            </a:r>
            <a:r>
              <a:rPr lang="en-US" altLang="zh-TW" dirty="0"/>
              <a:t>La14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17" name="內容版面配置區 4">
            <a:extLst>
              <a:ext uri="{FF2B5EF4-FFF2-40B4-BE49-F238E27FC236}">
                <a16:creationId xmlns:a16="http://schemas.microsoft.com/office/drawing/2014/main" id="{F269B73C-3AA9-D215-E770-2A8FBF63C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1005" y="2546626"/>
            <a:ext cx="11267637" cy="545671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dirty="0"/>
              <a:t>EST Dispatch Rule: </a:t>
            </a:r>
            <a:r>
              <a:rPr lang="zh-TW" altLang="en-US" dirty="0"/>
              <a:t>最早可加工的工件先排，若有相同則接著看最短加工時間</a:t>
            </a:r>
          </a:p>
          <a:p>
            <a:pPr>
              <a:lnSpc>
                <a:spcPct val="150000"/>
              </a:lnSpc>
            </a:pPr>
            <a:endParaRPr lang="zh-TW" altLang="en-US" dirty="0"/>
          </a:p>
        </p:txBody>
      </p:sp>
      <p:sp>
        <p:nvSpPr>
          <p:cNvPr id="18" name="內容版面配置區 4">
            <a:extLst>
              <a:ext uri="{FF2B5EF4-FFF2-40B4-BE49-F238E27FC236}">
                <a16:creationId xmlns:a16="http://schemas.microsoft.com/office/drawing/2014/main" id="{E9F54D7E-9CBB-5B10-ACDB-25E60252C3B5}"/>
              </a:ext>
            </a:extLst>
          </p:cNvPr>
          <p:cNvSpPr txBox="1">
            <a:spLocks/>
          </p:cNvSpPr>
          <p:nvPr/>
        </p:nvSpPr>
        <p:spPr>
          <a:xfrm>
            <a:off x="1151004" y="1922332"/>
            <a:ext cx="11267637" cy="545671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dirty="0"/>
              <a:t>La 14   Optimum : 1292</a:t>
            </a:r>
            <a:endParaRPr lang="zh-TW" altLang="en-US" dirty="0"/>
          </a:p>
        </p:txBody>
      </p:sp>
      <p:pic>
        <p:nvPicPr>
          <p:cNvPr id="6" name="圖片 5" descr="一張含有 螢幕擷取畫面, 鮮豔, Rectangle, 行 的圖片&#10;&#10;AI 產生的內容可能不正確。">
            <a:extLst>
              <a:ext uri="{FF2B5EF4-FFF2-40B4-BE49-F238E27FC236}">
                <a16:creationId xmlns:a16="http://schemas.microsoft.com/office/drawing/2014/main" id="{EE734B30-43DF-39B0-9A85-D625EC9684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53" y="3429000"/>
            <a:ext cx="10971893" cy="274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745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PPO</a:t>
            </a:r>
            <a:r>
              <a:rPr lang="zh-TW" altLang="en-US" dirty="0"/>
              <a:t>結果 </a:t>
            </a:r>
            <a:r>
              <a:rPr lang="en-US" altLang="zh-TW" dirty="0"/>
              <a:t>La14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B00BB8C-2364-1CF6-7D6A-15074176EE99}"/>
              </a:ext>
            </a:extLst>
          </p:cNvPr>
          <p:cNvSpPr txBox="1"/>
          <p:nvPr/>
        </p:nvSpPr>
        <p:spPr>
          <a:xfrm>
            <a:off x="1345699" y="1773483"/>
            <a:ext cx="3222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Dense reward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CD09136-F145-94B4-6029-35D8458B4F38}"/>
              </a:ext>
            </a:extLst>
          </p:cNvPr>
          <p:cNvSpPr txBox="1"/>
          <p:nvPr/>
        </p:nvSpPr>
        <p:spPr>
          <a:xfrm>
            <a:off x="7411285" y="1776478"/>
            <a:ext cx="3222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Sparse reward</a:t>
            </a:r>
            <a:endParaRPr lang="zh-TW" altLang="en-US" dirty="0"/>
          </a:p>
        </p:txBody>
      </p:sp>
      <p:pic>
        <p:nvPicPr>
          <p:cNvPr id="6" name="圖片 5" descr="一張含有 文字, 行, 字型, 繪圖 的圖片&#10;&#10;AI 產生的內容可能不正確。">
            <a:extLst>
              <a:ext uri="{FF2B5EF4-FFF2-40B4-BE49-F238E27FC236}">
                <a16:creationId xmlns:a16="http://schemas.microsoft.com/office/drawing/2014/main" id="{2FF302AE-587A-357D-36E1-6E69ACFB16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94" y="3643232"/>
            <a:ext cx="5773783" cy="2925984"/>
          </a:xfrm>
          <a:prstGeom prst="rect">
            <a:avLst/>
          </a:prstGeom>
        </p:spPr>
      </p:pic>
      <p:pic>
        <p:nvPicPr>
          <p:cNvPr id="11" name="圖片 10" descr="一張含有 螢幕擷取畫面, 鮮豔, Rectangle, 正方形 的圖片&#10;&#10;AI 產生的內容可能不正確。">
            <a:extLst>
              <a:ext uri="{FF2B5EF4-FFF2-40B4-BE49-F238E27FC236}">
                <a16:creationId xmlns:a16="http://schemas.microsoft.com/office/drawing/2014/main" id="{64ABA177-4524-C4E8-C2D2-4D910E3366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09" y="2109814"/>
            <a:ext cx="5842998" cy="1460749"/>
          </a:xfrm>
          <a:prstGeom prst="rect">
            <a:avLst/>
          </a:prstGeom>
        </p:spPr>
      </p:pic>
      <p:pic>
        <p:nvPicPr>
          <p:cNvPr id="14" name="圖片 13" descr="一張含有 文字, 行, 繪圖, 字型 的圖片&#10;&#10;AI 產生的內容可能不正確。">
            <a:extLst>
              <a:ext uri="{FF2B5EF4-FFF2-40B4-BE49-F238E27FC236}">
                <a16:creationId xmlns:a16="http://schemas.microsoft.com/office/drawing/2014/main" id="{4B8E4146-AC5C-C281-4992-BCC4D9C806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3677" y="3497895"/>
            <a:ext cx="6112704" cy="3097740"/>
          </a:xfrm>
          <a:prstGeom prst="rect">
            <a:avLst/>
          </a:prstGeom>
        </p:spPr>
      </p:pic>
      <p:pic>
        <p:nvPicPr>
          <p:cNvPr id="16" name="圖片 15" descr="一張含有 螢幕擷取畫面, 鮮豔, 行, Rectangle 的圖片&#10;&#10;AI 產生的內容可能不正確。">
            <a:extLst>
              <a:ext uri="{FF2B5EF4-FFF2-40B4-BE49-F238E27FC236}">
                <a16:creationId xmlns:a16="http://schemas.microsoft.com/office/drawing/2014/main" id="{F54366D2-9415-9484-208B-8F26B4FBA1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9794" y="2091606"/>
            <a:ext cx="5625155" cy="1406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742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派工法則結果 </a:t>
            </a:r>
            <a:r>
              <a:rPr lang="en-US" altLang="zh-TW" dirty="0"/>
              <a:t>La15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17" name="內容版面配置區 4">
            <a:extLst>
              <a:ext uri="{FF2B5EF4-FFF2-40B4-BE49-F238E27FC236}">
                <a16:creationId xmlns:a16="http://schemas.microsoft.com/office/drawing/2014/main" id="{F269B73C-3AA9-D215-E770-2A8FBF63C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1005" y="2546626"/>
            <a:ext cx="11267637" cy="545671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dirty="0"/>
              <a:t>EST Dispatch Rule: </a:t>
            </a:r>
            <a:r>
              <a:rPr lang="zh-TW" altLang="en-US" dirty="0"/>
              <a:t>最早可加工的工件先排，若有相同則接著看最短加工時間</a:t>
            </a:r>
          </a:p>
          <a:p>
            <a:pPr>
              <a:lnSpc>
                <a:spcPct val="150000"/>
              </a:lnSpc>
            </a:pPr>
            <a:endParaRPr lang="zh-TW" altLang="en-US" dirty="0"/>
          </a:p>
        </p:txBody>
      </p:sp>
      <p:sp>
        <p:nvSpPr>
          <p:cNvPr id="18" name="內容版面配置區 4">
            <a:extLst>
              <a:ext uri="{FF2B5EF4-FFF2-40B4-BE49-F238E27FC236}">
                <a16:creationId xmlns:a16="http://schemas.microsoft.com/office/drawing/2014/main" id="{E9F54D7E-9CBB-5B10-ACDB-25E60252C3B5}"/>
              </a:ext>
            </a:extLst>
          </p:cNvPr>
          <p:cNvSpPr txBox="1">
            <a:spLocks/>
          </p:cNvSpPr>
          <p:nvPr/>
        </p:nvSpPr>
        <p:spPr>
          <a:xfrm>
            <a:off x="1151004" y="1922332"/>
            <a:ext cx="11267637" cy="545671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dirty="0"/>
              <a:t>La 15   Optimum : 1207</a:t>
            </a:r>
            <a:endParaRPr lang="zh-TW" altLang="en-US" dirty="0"/>
          </a:p>
        </p:txBody>
      </p:sp>
      <p:pic>
        <p:nvPicPr>
          <p:cNvPr id="20" name="圖片 19" descr="一張含有 螢幕擷取畫面, 鮮豔, Rectangle, 行 的圖片&#10;&#10;AI 產生的內容可能不正確。">
            <a:extLst>
              <a:ext uri="{FF2B5EF4-FFF2-40B4-BE49-F238E27FC236}">
                <a16:creationId xmlns:a16="http://schemas.microsoft.com/office/drawing/2014/main" id="{EED58CCD-B484-EB60-B5AA-757968A1EB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53" y="3460360"/>
            <a:ext cx="10971893" cy="274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229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PPO</a:t>
            </a:r>
            <a:r>
              <a:rPr lang="zh-TW" altLang="en-US" dirty="0"/>
              <a:t>結果 </a:t>
            </a:r>
            <a:r>
              <a:rPr lang="en-US" altLang="zh-TW" dirty="0"/>
              <a:t>La15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7" name="圖片 6" descr="一張含有 文字, 行, 筆跡, 字型 的圖片&#10;&#10;AI 產生的內容可能不正確。">
            <a:extLst>
              <a:ext uri="{FF2B5EF4-FFF2-40B4-BE49-F238E27FC236}">
                <a16:creationId xmlns:a16="http://schemas.microsoft.com/office/drawing/2014/main" id="{F332ADF8-122A-0AD0-2289-AF15B547A8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92289"/>
            <a:ext cx="5773783" cy="2925985"/>
          </a:xfrm>
          <a:prstGeom prst="rect">
            <a:avLst/>
          </a:prstGeom>
        </p:spPr>
      </p:pic>
      <p:pic>
        <p:nvPicPr>
          <p:cNvPr id="9" name="圖片 8" descr="一張含有 螢幕擷取畫面, 鮮豔, Rectangle, 行 的圖片&#10;&#10;AI 產生的內容可能不正確。">
            <a:extLst>
              <a:ext uri="{FF2B5EF4-FFF2-40B4-BE49-F238E27FC236}">
                <a16:creationId xmlns:a16="http://schemas.microsoft.com/office/drawing/2014/main" id="{00B8141B-3582-FBBC-1E0F-E08D66D89F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90" y="2103236"/>
            <a:ext cx="5633994" cy="1408499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AB00BB8C-2364-1CF6-7D6A-15074176EE99}"/>
              </a:ext>
            </a:extLst>
          </p:cNvPr>
          <p:cNvSpPr txBox="1"/>
          <p:nvPr/>
        </p:nvSpPr>
        <p:spPr>
          <a:xfrm>
            <a:off x="1345701" y="1744906"/>
            <a:ext cx="3222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Dense reward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CD09136-F145-94B4-6029-35D8458B4F38}"/>
              </a:ext>
            </a:extLst>
          </p:cNvPr>
          <p:cNvSpPr txBox="1"/>
          <p:nvPr/>
        </p:nvSpPr>
        <p:spPr>
          <a:xfrm>
            <a:off x="7049589" y="1749376"/>
            <a:ext cx="3222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Sparse reward</a:t>
            </a:r>
            <a:endParaRPr lang="zh-TW" altLang="en-US" dirty="0"/>
          </a:p>
        </p:txBody>
      </p:sp>
      <p:pic>
        <p:nvPicPr>
          <p:cNvPr id="6" name="圖片 5" descr="一張含有 螢幕擷取畫面, 鮮豔, Rectangle, 行 的圖片&#10;&#10;AI 產生的內容可能不正確。">
            <a:extLst>
              <a:ext uri="{FF2B5EF4-FFF2-40B4-BE49-F238E27FC236}">
                <a16:creationId xmlns:a16="http://schemas.microsoft.com/office/drawing/2014/main" id="{63A5268B-3227-30AB-5DF9-936978BDD8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783" y="2114238"/>
            <a:ext cx="5773783" cy="1443446"/>
          </a:xfrm>
          <a:prstGeom prst="rect">
            <a:avLst/>
          </a:prstGeom>
        </p:spPr>
      </p:pic>
      <p:pic>
        <p:nvPicPr>
          <p:cNvPr id="11" name="圖片 10" descr="一張含有 文字, 行, 字型, 筆跡 的圖片&#10;&#10;AI 產生的內容可能不正確。">
            <a:extLst>
              <a:ext uri="{FF2B5EF4-FFF2-40B4-BE49-F238E27FC236}">
                <a16:creationId xmlns:a16="http://schemas.microsoft.com/office/drawing/2014/main" id="{1A40F2C4-4249-5DE1-7B6B-DD5BCA64DE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783" y="3584201"/>
            <a:ext cx="5634446" cy="2855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96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接下來的問題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20" y="1844039"/>
            <a:ext cx="11534531" cy="436584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dirty="0"/>
              <a:t>PPO</a:t>
            </a:r>
            <a:r>
              <a:rPr lang="zh-TW" altLang="en-US" dirty="0"/>
              <a:t>在</a:t>
            </a:r>
            <a:r>
              <a:rPr lang="en-US" altLang="zh-TW" dirty="0"/>
              <a:t>Debug</a:t>
            </a:r>
            <a:r>
              <a:rPr lang="zh-TW" altLang="en-US" dirty="0"/>
              <a:t>時嘗試了許多方法，有些架構已大幅修改，要整合回去可能需要點時間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en-US" altLang="zh-TW" dirty="0"/>
              <a:t>PPO</a:t>
            </a:r>
            <a:r>
              <a:rPr lang="zh-TW" altLang="en-US" dirty="0"/>
              <a:t>目前僅嘗試了兩筆資料，且在超參數調整後才小幅優於派工法則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en-US" altLang="zh-TW" dirty="0"/>
              <a:t>Chat GPT</a:t>
            </a:r>
            <a:r>
              <a:rPr lang="zh-TW" altLang="en-US" dirty="0"/>
              <a:t>生成的</a:t>
            </a:r>
            <a:r>
              <a:rPr lang="en-US" altLang="zh-TW" dirty="0"/>
              <a:t>RL</a:t>
            </a:r>
            <a:r>
              <a:rPr lang="zh-TW" altLang="en-US" dirty="0"/>
              <a:t>並沒有想像中的可靠，整合後還需實驗高階</a:t>
            </a:r>
            <a:r>
              <a:rPr lang="en-US" altLang="zh-TW" dirty="0"/>
              <a:t>Agent</a:t>
            </a:r>
            <a:r>
              <a:rPr lang="zh-TW" altLang="en-US" dirty="0"/>
              <a:t>的結果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890277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1FDE61-E3D2-E6BC-0F9F-9A422FAE07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</a:t>
            </a:r>
            <a:r>
              <a:rPr lang="zh-TW" altLang="en-US" dirty="0"/>
              <a:t> </a:t>
            </a:r>
            <a:r>
              <a:rPr lang="en-US" altLang="zh-TW" dirty="0"/>
              <a:t>END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6F3F00-E9C9-CE25-63F7-48B11D198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11</a:t>
            </a:fld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01CA2B-8F20-5B3D-72AC-0153AA21F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33293835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自訂 2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789D89"/>
      </a:accent1>
      <a:accent2>
        <a:srgbClr val="789D89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rgbClr val="C00000"/>
        </a:solidFill>
      </a:spPr>
      <a:bodyPr rtlCol="0" anchor="ctr"/>
      <a:lstStyle>
        <a:defPPr algn="ctr">
          <a:defRPr sz="3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118771</TotalTime>
  <Words>436</Words>
  <Application>Microsoft Office PowerPoint</Application>
  <PresentationFormat>寬螢幕</PresentationFormat>
  <Paragraphs>61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7" baseType="lpstr">
      <vt:lpstr>微軟正黑體</vt:lpstr>
      <vt:lpstr>Abadi</vt:lpstr>
      <vt:lpstr>Arial</vt:lpstr>
      <vt:lpstr>Calibri</vt:lpstr>
      <vt:lpstr>Cascadia Code</vt:lpstr>
      <vt:lpstr>回顧</vt:lpstr>
      <vt:lpstr>搞定PPO</vt:lpstr>
      <vt:lpstr>真正的問題</vt:lpstr>
      <vt:lpstr>解決方法</vt:lpstr>
      <vt:lpstr>PPO目前現況</vt:lpstr>
      <vt:lpstr>PPO 超參數</vt:lpstr>
      <vt:lpstr>派工法則結果 La14</vt:lpstr>
      <vt:lpstr>PPO結果 La14</vt:lpstr>
      <vt:lpstr>派工法則結果 La15</vt:lpstr>
      <vt:lpstr>PPO結果 La15</vt:lpstr>
      <vt:lpstr>接下來的問題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電容錯誤偵測</dc:title>
  <dc:creator>陳佳伶</dc:creator>
  <cp:lastModifiedBy>lab643</cp:lastModifiedBy>
  <cp:revision>797</cp:revision>
  <dcterms:created xsi:type="dcterms:W3CDTF">2022-03-03T14:40:23Z</dcterms:created>
  <dcterms:modified xsi:type="dcterms:W3CDTF">2025-09-30T08:50:28Z</dcterms:modified>
</cp:coreProperties>
</file>