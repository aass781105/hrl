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7"/>
  </p:notesMasterIdLst>
  <p:sldIdLst>
    <p:sldId id="942" r:id="rId2"/>
    <p:sldId id="947" r:id="rId3"/>
    <p:sldId id="960" r:id="rId4"/>
    <p:sldId id="955" r:id="rId5"/>
    <p:sldId id="954" r:id="rId6"/>
    <p:sldId id="958" r:id="rId7"/>
    <p:sldId id="961" r:id="rId8"/>
    <p:sldId id="962" r:id="rId9"/>
    <p:sldId id="963" r:id="rId10"/>
    <p:sldId id="964" r:id="rId11"/>
    <p:sldId id="965" r:id="rId12"/>
    <p:sldId id="966" r:id="rId13"/>
    <p:sldId id="967" r:id="rId14"/>
    <p:sldId id="959" r:id="rId15"/>
    <p:sldId id="938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70AD47"/>
    <a:srgbClr val="3F6EC2"/>
    <a:srgbClr val="ED7D31"/>
    <a:srgbClr val="C00000"/>
    <a:srgbClr val="4E799B"/>
    <a:srgbClr val="FFAD39"/>
    <a:srgbClr val="FF9966"/>
    <a:srgbClr val="B0966A"/>
    <a:srgbClr val="CA6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佈景主題樣式 2 - 輔色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96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842FF-CB32-43DF-B9FE-65EF665875B2}" type="datetimeFigureOut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E097C-2611-49AA-93D4-A0110E9A53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6620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210733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spc="-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6218" y="4064624"/>
            <a:ext cx="10058400" cy="1143000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 dirty="0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F414A-AA3B-479F-9443-E87E6DB2D303}" type="datetime1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5064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2" descr="Taipei Tech logo">
            <a:extLst>
              <a:ext uri="{FF2B5EF4-FFF2-40B4-BE49-F238E27FC236}">
                <a16:creationId xmlns:a16="http://schemas.microsoft.com/office/drawing/2014/main" id="{C84FB869-60CA-1359-A1A9-972FEE00D5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573" y="82333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A8FE2F8E-0A2C-6F39-816C-42C1E173391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8328" y="180909"/>
            <a:ext cx="3740342" cy="55882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9E7AFDF-5951-D557-114F-9D59ED13850D}"/>
              </a:ext>
            </a:extLst>
          </p:cNvPr>
          <p:cNvSpPr/>
          <p:nvPr userDrawn="1"/>
        </p:nvSpPr>
        <p:spPr>
          <a:xfrm>
            <a:off x="1" y="1632361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F597C5-038F-02ED-F1C7-CE412689C651}"/>
              </a:ext>
            </a:extLst>
          </p:cNvPr>
          <p:cNvSpPr/>
          <p:nvPr userDrawn="1"/>
        </p:nvSpPr>
        <p:spPr>
          <a:xfrm>
            <a:off x="11337885" y="1632360"/>
            <a:ext cx="854110" cy="23352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5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1005" y="997522"/>
            <a:ext cx="9562253" cy="545671"/>
          </a:xfrm>
        </p:spPr>
        <p:txBody>
          <a:bodyPr>
            <a:noAutofit/>
          </a:bodyPr>
          <a:lstStyle>
            <a:lvl1pPr marL="0">
              <a:defRPr sz="40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64139-FB37-44CF-9649-84761977F7A6}" type="datetime1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14E0F19-E296-C08D-6CCC-3FFA4780209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224280" y="1844040"/>
            <a:ext cx="10012680" cy="4307840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8291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6B276-F255-4EEC-8D40-1223573FF8B6}" type="datetime1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ED32E87-AE6C-472D-9A09-3ECFE3A03479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F9B39C-AD5F-C429-CFBC-3A61DB623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880" y="33090"/>
            <a:ext cx="9562253" cy="545671"/>
          </a:xfrm>
        </p:spPr>
        <p:txBody>
          <a:bodyPr>
            <a:noAutofit/>
          </a:bodyPr>
          <a:lstStyle>
            <a:lvl1pPr marL="0">
              <a:defRPr sz="3200"/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BBEB8-4775-A21F-4CBB-D3B6B1972A8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8640" y="911014"/>
            <a:ext cx="11247120" cy="5240866"/>
          </a:xfrm>
        </p:spPr>
        <p:txBody>
          <a:bodyPr/>
          <a:lstStyle>
            <a:lvl1pPr marL="91440" indent="-9144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400"/>
            </a:lvl1pPr>
            <a:lvl2pPr marL="38404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/>
            </a:lvl2pPr>
            <a:lvl3pPr marL="56692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3pPr>
            <a:lvl4pPr marL="74980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4pPr>
            <a:lvl5pPr marL="932688" indent="-182880"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zh-TW" altLang="en-US" dirty="0"/>
              <a:t> 按一下以編輯母片文字樣式</a:t>
            </a:r>
          </a:p>
          <a:p>
            <a:pPr lvl="1"/>
            <a:r>
              <a:rPr lang="zh-TW" altLang="en-US" dirty="0"/>
              <a:t> 第二層</a:t>
            </a:r>
          </a:p>
          <a:p>
            <a:pPr lvl="2"/>
            <a:r>
              <a:rPr lang="zh-TW" altLang="en-US" dirty="0"/>
              <a:t> 第三層</a:t>
            </a:r>
          </a:p>
          <a:p>
            <a:pPr lvl="3"/>
            <a:r>
              <a:rPr lang="zh-TW" altLang="en-US" dirty="0"/>
              <a:t> 第四層</a:t>
            </a:r>
          </a:p>
          <a:p>
            <a:pPr lvl="4"/>
            <a:r>
              <a:rPr lang="zh-TW" altLang="en-US" dirty="0"/>
              <a:t> 第五層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9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F5CB97-E547-425F-B1EF-51E6D4EAC77F}" type="datetime1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  <a:latin typeface="Cascadia Code" panose="020B0609020000020004" pitchFamily="49" charset="0"/>
                <a:cs typeface="Cascadia Code" panose="020B0609020000020004" pitchFamily="49" charset="0"/>
              </a:defRPr>
            </a:lvl1pPr>
          </a:lstStyle>
          <a:p>
            <a:r>
              <a:rPr lang="en-US" altLang="zh-TW" dirty="0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3565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2BE65-6E56-49AE-80DA-7E1BCEC842BD}" type="datetime1">
              <a:rPr lang="zh-TW" altLang="en-US" smtClean="0"/>
              <a:t>2025/10/6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780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714" y="6515590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459D13DB-F681-4B20-BE28-C9CE0BB35DC9}" type="datetime1">
              <a:rPr lang="zh-TW" altLang="en-US" smtClean="0"/>
              <a:pPr/>
              <a:t>2025/10/6</a:t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571397"/>
            <a:ext cx="4822804" cy="253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none" baseline="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132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badi" panose="020B0604020104020204" pitchFamily="34" charset="0"/>
              </a:defRPr>
            </a:lvl1pPr>
          </a:lstStyle>
          <a:p>
            <a:fld id="{F61996F8-0416-4C00-B84C-381F9A6A2E93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296F0BE3-5357-4671-AC41-EE354106F685}"/>
              </a:ext>
            </a:extLst>
          </p:cNvPr>
          <p:cNvSpPr/>
          <p:nvPr userDrawn="1"/>
        </p:nvSpPr>
        <p:spPr>
          <a:xfrm>
            <a:off x="0" y="0"/>
            <a:ext cx="367200" cy="558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026" name="Picture 2" descr="Taipei Tech logo">
            <a:extLst>
              <a:ext uri="{FF2B5EF4-FFF2-40B4-BE49-F238E27FC236}">
                <a16:creationId xmlns:a16="http://schemas.microsoft.com/office/drawing/2014/main" id="{B93B3042-4014-4658-5163-E5664504D9C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687" y="76285"/>
            <a:ext cx="1109133" cy="654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9624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703" r:id="rId3"/>
    <p:sldLayoutId id="2147483704" r:id="rId4"/>
    <p:sldLayoutId id="2147483707" r:id="rId5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FFB725-A3BC-1735-E5D3-E841251F3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960880"/>
            <a:ext cx="10058400" cy="1556043"/>
          </a:xfrm>
        </p:spPr>
        <p:txBody>
          <a:bodyPr>
            <a:normAutofit/>
          </a:bodyPr>
          <a:lstStyle/>
          <a:p>
            <a:r>
              <a:rPr lang="en-US" altLang="zh-TW" dirty="0"/>
              <a:t>PPO on FJSP</a:t>
            </a:r>
            <a:endParaRPr lang="zh-TW" altLang="en-US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B61C99B-68D5-06B4-0619-45FF2CD5F2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李信翰</a:t>
            </a:r>
            <a:endParaRPr lang="en-US" altLang="zh-TW" dirty="0"/>
          </a:p>
          <a:p>
            <a:r>
              <a:rPr lang="en-US" altLang="zh-TW" dirty="0"/>
              <a:t>2025/10/07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829393D-EB17-0B9B-F7A1-7EBE72096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310FEA9-4B06-E7EE-E0A0-84370D4EC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67401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目前現況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1" y="1844039"/>
            <a:ext cx="5173166" cy="4365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State:[</a:t>
            </a:r>
            <a:r>
              <a:rPr lang="en-US" altLang="zh-TW" dirty="0" err="1"/>
              <a:t>Job_i</a:t>
            </a:r>
            <a:r>
              <a:rPr lang="en-US" altLang="zh-TW" dirty="0"/>
              <a:t> </a:t>
            </a:r>
            <a:r>
              <a:rPr lang="zh-TW" altLang="en-US" dirty="0"/>
              <a:t>剩餘的總加工時間</a:t>
            </a:r>
            <a:r>
              <a:rPr lang="en-US" altLang="zh-TW" dirty="0"/>
              <a:t>, </a:t>
            </a:r>
            <a:br>
              <a:rPr lang="en-US" altLang="zh-TW" dirty="0"/>
            </a:br>
            <a:r>
              <a:rPr lang="zh-TW" altLang="en-US" dirty="0"/>
              <a:t>           </a:t>
            </a:r>
            <a:r>
              <a:rPr lang="en-US" altLang="zh-TW" dirty="0" err="1"/>
              <a:t>Job_i</a:t>
            </a:r>
            <a:r>
              <a:rPr lang="en-US" altLang="zh-TW" dirty="0"/>
              <a:t> </a:t>
            </a:r>
            <a:r>
              <a:rPr lang="zh-TW" altLang="en-US" dirty="0"/>
              <a:t>剩餘的</a:t>
            </a:r>
            <a:r>
              <a:rPr lang="en-US" altLang="zh-TW" dirty="0"/>
              <a:t>Op</a:t>
            </a:r>
            <a:r>
              <a:rPr lang="zh-TW" altLang="en-US" dirty="0"/>
              <a:t>數</a:t>
            </a:r>
            <a:r>
              <a:rPr lang="en-US" altLang="zh-TW" dirty="0"/>
              <a:t>,</a:t>
            </a:r>
            <a:r>
              <a:rPr lang="zh-TW" altLang="en-US" dirty="0"/>
              <a:t> </a:t>
            </a:r>
            <a:br>
              <a:rPr lang="en-US" altLang="zh-TW" dirty="0"/>
            </a:br>
            <a:r>
              <a:rPr lang="en-US" altLang="zh-TW" dirty="0"/>
              <a:t>	Op</a:t>
            </a:r>
            <a:r>
              <a:rPr lang="zh-TW" altLang="en-US" dirty="0"/>
              <a:t>在</a:t>
            </a:r>
            <a:r>
              <a:rPr lang="en-US" altLang="zh-TW" dirty="0"/>
              <a:t>M</a:t>
            </a:r>
            <a:r>
              <a:rPr lang="zh-TW" altLang="en-US" dirty="0"/>
              <a:t>的加工時間</a:t>
            </a:r>
            <a:r>
              <a:rPr lang="en-US" altLang="zh-TW" dirty="0"/>
              <a:t>, </a:t>
            </a:r>
            <a:br>
              <a:rPr lang="en-US" altLang="zh-TW" dirty="0"/>
            </a:br>
            <a:r>
              <a:rPr lang="en-US" altLang="zh-TW" dirty="0"/>
              <a:t>	Op</a:t>
            </a:r>
            <a:r>
              <a:rPr lang="zh-TW" altLang="en-US" dirty="0"/>
              <a:t>在</a:t>
            </a:r>
            <a:r>
              <a:rPr lang="en-US" altLang="zh-TW" dirty="0"/>
              <a:t>M</a:t>
            </a:r>
            <a:r>
              <a:rPr lang="zh-TW" altLang="en-US" dirty="0"/>
              <a:t>的最快開始加工時間</a:t>
            </a:r>
            <a:r>
              <a:rPr lang="en-US" altLang="zh-TW" dirty="0"/>
              <a:t>, </a:t>
            </a:r>
            <a:br>
              <a:rPr lang="en-US" altLang="zh-TW" dirty="0"/>
            </a:br>
            <a:r>
              <a:rPr lang="en-US" altLang="zh-TW" dirty="0"/>
              <a:t>	Op</a:t>
            </a:r>
            <a:r>
              <a:rPr lang="zh-TW" altLang="en-US" dirty="0"/>
              <a:t>可加工機台數</a:t>
            </a:r>
            <a:br>
              <a:rPr lang="en-US" altLang="zh-TW" dirty="0"/>
            </a:br>
            <a:r>
              <a:rPr lang="en-US" altLang="zh-TW" dirty="0"/>
              <a:t>	M</a:t>
            </a:r>
            <a:r>
              <a:rPr lang="zh-TW" altLang="en-US" dirty="0"/>
              <a:t>的期望負載</a:t>
            </a:r>
            <a:r>
              <a:rPr lang="en-US" altLang="zh-TW" dirty="0"/>
              <a:t>(</a:t>
            </a:r>
            <a:r>
              <a:rPr lang="zh-TW" altLang="en-US" dirty="0"/>
              <a:t>扣此候選</a:t>
            </a:r>
            <a:r>
              <a:rPr lang="en-US" altLang="zh-TW" dirty="0"/>
              <a:t>)]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E2819D4-7567-1B3B-84FC-3DC3B4B30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564" y="2185655"/>
            <a:ext cx="5734850" cy="86689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084404F-0D6F-7222-84B6-84F048543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551" y="3227614"/>
            <a:ext cx="1896875" cy="706679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1C605CC1-CFAF-F1EA-7E54-52B3FE63FB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4510" y="4295810"/>
            <a:ext cx="5048955" cy="581106"/>
          </a:xfrm>
          <a:prstGeom prst="rect">
            <a:avLst/>
          </a:prstGeom>
        </p:spPr>
      </p:pic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143A5272-5AA1-4E59-4E5D-7FEA052A6BA8}"/>
              </a:ext>
            </a:extLst>
          </p:cNvPr>
          <p:cNvSpPr txBox="1">
            <a:spLocks/>
          </p:cNvSpPr>
          <p:nvPr/>
        </p:nvSpPr>
        <p:spPr>
          <a:xfrm>
            <a:off x="9457426" y="4849842"/>
            <a:ext cx="1633131" cy="545672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zh-TW" dirty="0"/>
              <a:t>(</a:t>
            </a:r>
            <a:r>
              <a:rPr lang="zh-TW" altLang="en-US" dirty="0"/>
              <a:t>減掉自己</a:t>
            </a:r>
            <a:r>
              <a:rPr lang="en-US" altLang="zh-TW" dirty="0"/>
              <a:t>)</a:t>
            </a:r>
          </a:p>
        </p:txBody>
      </p:sp>
      <p:sp>
        <p:nvSpPr>
          <p:cNvPr id="13" name="內容版面配置區 4">
            <a:extLst>
              <a:ext uri="{FF2B5EF4-FFF2-40B4-BE49-F238E27FC236}">
                <a16:creationId xmlns:a16="http://schemas.microsoft.com/office/drawing/2014/main" id="{5FF4B03D-99AE-84D9-932D-C4464C1F81D6}"/>
              </a:ext>
            </a:extLst>
          </p:cNvPr>
          <p:cNvSpPr txBox="1">
            <a:spLocks/>
          </p:cNvSpPr>
          <p:nvPr/>
        </p:nvSpPr>
        <p:spPr>
          <a:xfrm>
            <a:off x="509369" y="5395514"/>
            <a:ext cx="6831957" cy="545672"/>
          </a:xfrm>
          <a:prstGeom prst="rect">
            <a:avLst/>
          </a:prstGeom>
        </p:spPr>
        <p:txBody>
          <a:bodyPr vert="horz" lIns="0" tIns="45720" rIns="0" bIns="45720" rtlCol="0">
            <a:normAutofit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dirty="0"/>
              <a:t>states</a:t>
            </a:r>
            <a:r>
              <a:rPr lang="zh-TW" altLang="en-US" dirty="0"/>
              <a:t>中各項指標會在該</a:t>
            </a:r>
            <a:r>
              <a:rPr lang="en-US" altLang="zh-TW" dirty="0"/>
              <a:t>step</a:t>
            </a:r>
            <a:r>
              <a:rPr lang="zh-TW" altLang="en-US" dirty="0"/>
              <a:t>中做</a:t>
            </a:r>
            <a:r>
              <a:rPr lang="en-US" altLang="zh-TW" dirty="0"/>
              <a:t>min max</a:t>
            </a:r>
            <a:r>
              <a:rPr lang="zh-TW" altLang="en-US" dirty="0"/>
              <a:t>正規化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7448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目前現況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243039" cy="4365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Action: </a:t>
            </a:r>
            <a:r>
              <a:rPr lang="zh-TW" altLang="en-US" dirty="0"/>
              <a:t>將可選的</a:t>
            </a:r>
            <a:r>
              <a:rPr lang="en-US" altLang="zh-TW" dirty="0"/>
              <a:t>Op-M</a:t>
            </a:r>
            <a:r>
              <a:rPr lang="zh-TW" altLang="en-US" dirty="0"/>
              <a:t>選項放入集合，並使用和</a:t>
            </a:r>
            <a:r>
              <a:rPr lang="en-US" altLang="zh-TW" dirty="0"/>
              <a:t>states</a:t>
            </a:r>
            <a:r>
              <a:rPr lang="zh-TW" altLang="en-US" dirty="0"/>
              <a:t>對應位置的</a:t>
            </a:r>
            <a:r>
              <a:rPr lang="en-US" altLang="zh-TW" dirty="0"/>
              <a:t>index</a:t>
            </a:r>
            <a:r>
              <a:rPr lang="zh-TW" altLang="en-US" dirty="0"/>
              <a:t>作為動作。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/>
              <a:t>Reward: </a:t>
            </a:r>
            <a:r>
              <a:rPr lang="zh-TW" altLang="en-US" dirty="0"/>
              <a:t>負的</a:t>
            </a:r>
            <a:r>
              <a:rPr lang="en-US" altLang="zh-TW" dirty="0" err="1"/>
              <a:t>makespans</a:t>
            </a:r>
            <a:r>
              <a:rPr lang="zh-TW" altLang="en-US" dirty="0"/>
              <a:t>增加值，並除以平均加工時間。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資料集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 err="1"/>
              <a:t>Hurink</a:t>
            </a:r>
            <a:r>
              <a:rPr lang="en-US" altLang="zh-TW" dirty="0"/>
              <a:t>’</a:t>
            </a:r>
            <a:r>
              <a:rPr lang="zh-TW" altLang="en-US" dirty="0"/>
              <a:t> </a:t>
            </a:r>
            <a:r>
              <a:rPr lang="en-US" altLang="zh-TW" dirty="0"/>
              <a:t>instances.</a:t>
            </a:r>
            <a:r>
              <a:rPr lang="zh-TW" altLang="en-US" dirty="0"/>
              <a:t> </a:t>
            </a:r>
            <a:r>
              <a:rPr lang="en-US" altLang="zh-TW" dirty="0"/>
              <a:t>(</a:t>
            </a:r>
            <a:r>
              <a:rPr lang="en-US" altLang="zh-TW" dirty="0" err="1"/>
              <a:t>vData</a:t>
            </a:r>
            <a:r>
              <a:rPr lang="en-US" altLang="zh-TW" dirty="0"/>
              <a:t>)</a:t>
            </a:r>
          </a:p>
          <a:p>
            <a:pPr>
              <a:lnSpc>
                <a:spcPct val="150000"/>
              </a:lnSpc>
            </a:pPr>
            <a:r>
              <a:rPr lang="zh-TW" altLang="en-US" dirty="0"/>
              <a:t>訓練</a:t>
            </a:r>
            <a:r>
              <a:rPr lang="en-US" altLang="zh-TW" dirty="0"/>
              <a:t>:</a:t>
            </a:r>
            <a:r>
              <a:rPr lang="zh-TW" altLang="en-US" dirty="0"/>
              <a:t> 各尺寸實例各一個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測試</a:t>
            </a:r>
            <a:r>
              <a:rPr lang="en-US" altLang="zh-TW" dirty="0"/>
              <a:t>:</a:t>
            </a:r>
            <a:r>
              <a:rPr lang="zh-TW" altLang="en-US" dirty="0"/>
              <a:t> 各尺寸實例各一個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超參數無太大改動</a:t>
            </a:r>
            <a:endParaRPr lang="en-US" altLang="zh-TW" dirty="0"/>
          </a:p>
          <a:p>
            <a:pPr>
              <a:lnSpc>
                <a:spcPct val="150000"/>
              </a:lnSpc>
            </a:pPr>
            <a:endParaRPr lang="en-US" altLang="zh-TW" dirty="0"/>
          </a:p>
          <a:p>
            <a:pPr>
              <a:lnSpc>
                <a:spcPct val="150000"/>
              </a:lnSpc>
            </a:pPr>
            <a:endParaRPr lang="en-US" altLang="zh-TW" dirty="0"/>
          </a:p>
          <a:p>
            <a:pPr>
              <a:lnSpc>
                <a:spcPct val="150000"/>
              </a:lnSpc>
            </a:pPr>
            <a:endParaRPr lang="en-US" altLang="zh-TW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8F7CD97-EDC5-EE92-F0BC-7089A64E5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422" y="4371298"/>
            <a:ext cx="5744377" cy="1838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39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架構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4</a:t>
            </a:fld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0838B357-654B-F568-D515-56E53397B262}"/>
              </a:ext>
            </a:extLst>
          </p:cNvPr>
          <p:cNvGrpSpPr/>
          <p:nvPr/>
        </p:nvGrpSpPr>
        <p:grpSpPr>
          <a:xfrm>
            <a:off x="3736767" y="997522"/>
            <a:ext cx="2359233" cy="5317191"/>
            <a:chOff x="3736766" y="987424"/>
            <a:chExt cx="2359233" cy="5317191"/>
          </a:xfrm>
        </p:grpSpPr>
        <p:grpSp>
          <p:nvGrpSpPr>
            <p:cNvPr id="16" name="群組 15">
              <a:extLst>
                <a:ext uri="{FF2B5EF4-FFF2-40B4-BE49-F238E27FC236}">
                  <a16:creationId xmlns:a16="http://schemas.microsoft.com/office/drawing/2014/main" id="{80C09538-AD1F-1043-38FE-DF7CBE02F6A7}"/>
                </a:ext>
              </a:extLst>
            </p:cNvPr>
            <p:cNvGrpSpPr/>
            <p:nvPr/>
          </p:nvGrpSpPr>
          <p:grpSpPr>
            <a:xfrm rot="5400000">
              <a:off x="2603169" y="2121021"/>
              <a:ext cx="4626428" cy="2359233"/>
              <a:chOff x="1952899" y="2526274"/>
              <a:chExt cx="4626428" cy="2359233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EF96817-E9E0-E4F5-97C4-37EEA888B6BE}"/>
                  </a:ext>
                </a:extLst>
              </p:cNvPr>
              <p:cNvSpPr/>
              <p:nvPr/>
            </p:nvSpPr>
            <p:spPr>
              <a:xfrm>
                <a:off x="2647406" y="2526278"/>
                <a:ext cx="444136" cy="23592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Linear</a:t>
                </a:r>
              </a:p>
              <a:p>
                <a:pPr algn="ctr"/>
                <a:r>
                  <a:rPr lang="en-US" altLang="zh-TW" sz="1200" dirty="0">
                    <a:solidFill>
                      <a:schemeClr val="tx1"/>
                    </a:solidFill>
                  </a:rPr>
                  <a:t>[B,</a:t>
                </a:r>
                <a:r>
                  <a:rPr lang="zh-TW" alt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1200" dirty="0">
                    <a:solidFill>
                      <a:schemeClr val="tx1"/>
                    </a:solidFill>
                  </a:rPr>
                  <a:t>A,</a:t>
                </a:r>
                <a:r>
                  <a:rPr lang="zh-TW" alt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1200" dirty="0">
                    <a:solidFill>
                      <a:schemeClr val="tx1"/>
                    </a:solidFill>
                  </a:rPr>
                  <a:t>F]&gt;[B, A, 256]</a:t>
                </a:r>
              </a:p>
            </p:txBody>
          </p:sp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52389CC1-6509-B772-A294-A174ADAB91B5}"/>
                  </a:ext>
                </a:extLst>
              </p:cNvPr>
              <p:cNvSpPr/>
              <p:nvPr/>
            </p:nvSpPr>
            <p:spPr>
              <a:xfrm>
                <a:off x="3339737" y="2526278"/>
                <a:ext cx="444136" cy="23592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sz="1600" dirty="0" err="1">
                    <a:solidFill>
                      <a:schemeClr val="tx1"/>
                    </a:solidFill>
                  </a:rPr>
                  <a:t>LayerNorm</a:t>
                </a:r>
                <a:endParaRPr lang="zh-TW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B2071498-6395-FAFB-4DAB-8C9827E05D57}"/>
                  </a:ext>
                </a:extLst>
              </p:cNvPr>
              <p:cNvSpPr/>
              <p:nvPr/>
            </p:nvSpPr>
            <p:spPr>
              <a:xfrm>
                <a:off x="4045133" y="2526277"/>
                <a:ext cx="444136" cy="23592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sz="1600" dirty="0" err="1">
                    <a:solidFill>
                      <a:schemeClr val="tx1"/>
                    </a:solidFill>
                  </a:rPr>
                  <a:t>SiLU</a:t>
                </a:r>
                <a:endParaRPr lang="zh-TW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94E88A14-5CA8-1BA3-E8E9-97F43C879A44}"/>
                  </a:ext>
                </a:extLst>
              </p:cNvPr>
              <p:cNvSpPr/>
              <p:nvPr/>
            </p:nvSpPr>
            <p:spPr>
              <a:xfrm>
                <a:off x="4737464" y="2526276"/>
                <a:ext cx="444136" cy="23592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Linear</a:t>
                </a:r>
              </a:p>
              <a:p>
                <a:pPr algn="ctr"/>
                <a:r>
                  <a:rPr lang="en-US" altLang="zh-TW" sz="1200" dirty="0">
                    <a:solidFill>
                      <a:schemeClr val="tx1"/>
                    </a:solidFill>
                  </a:rPr>
                  <a:t>[B, A, 256]&gt;[B, A, 256]</a:t>
                </a:r>
                <a:endParaRPr lang="zh-TW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5F965842-EFD0-F9C4-F715-3B1E5DBAAE84}"/>
                  </a:ext>
                </a:extLst>
              </p:cNvPr>
              <p:cNvSpPr/>
              <p:nvPr/>
            </p:nvSpPr>
            <p:spPr>
              <a:xfrm>
                <a:off x="5442860" y="2526276"/>
                <a:ext cx="444136" cy="23592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sz="1600" dirty="0" err="1">
                    <a:solidFill>
                      <a:schemeClr val="tx1"/>
                    </a:solidFill>
                  </a:rPr>
                  <a:t>SiLU</a:t>
                </a:r>
                <a:endParaRPr lang="zh-TW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FA1FAC4-DB3C-C70D-AA62-07113E08485D}"/>
                  </a:ext>
                </a:extLst>
              </p:cNvPr>
              <p:cNvSpPr/>
              <p:nvPr/>
            </p:nvSpPr>
            <p:spPr>
              <a:xfrm>
                <a:off x="6135191" y="2526275"/>
                <a:ext cx="444136" cy="23592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Linear</a:t>
                </a:r>
              </a:p>
              <a:p>
                <a:pPr algn="ctr"/>
                <a:r>
                  <a:rPr lang="en-US" altLang="zh-TW" sz="1200" dirty="0">
                    <a:solidFill>
                      <a:schemeClr val="tx1"/>
                    </a:solidFill>
                  </a:rPr>
                  <a:t>[B, A, 256]&gt;[B, A, 1]</a:t>
                </a:r>
                <a:endParaRPr lang="zh-TW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B2A6696B-BBF2-764D-152C-A325C657427D}"/>
                  </a:ext>
                </a:extLst>
              </p:cNvPr>
              <p:cNvSpPr/>
              <p:nvPr/>
            </p:nvSpPr>
            <p:spPr>
              <a:xfrm>
                <a:off x="1952899" y="2526274"/>
                <a:ext cx="444136" cy="235922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TW" sz="1600" dirty="0">
                    <a:solidFill>
                      <a:schemeClr val="tx1"/>
                    </a:solidFill>
                  </a:rPr>
                  <a:t>Reshape</a:t>
                </a:r>
              </a:p>
              <a:p>
                <a:pPr algn="ctr"/>
                <a:r>
                  <a:rPr lang="en-US" altLang="zh-TW" sz="1200" dirty="0">
                    <a:solidFill>
                      <a:schemeClr val="tx1"/>
                    </a:solidFill>
                  </a:rPr>
                  <a:t>[B,</a:t>
                </a:r>
                <a:r>
                  <a:rPr lang="zh-TW" altLang="en-US" sz="12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zh-TW" sz="1200" dirty="0">
                    <a:solidFill>
                      <a:schemeClr val="tx1"/>
                    </a:solidFill>
                  </a:rPr>
                  <a:t>A*F]&gt;[B, A, F]</a:t>
                </a:r>
              </a:p>
            </p:txBody>
          </p:sp>
        </p:grp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DE06BF6-ACA0-26B5-52A7-3FA70AD1B396}"/>
                </a:ext>
              </a:extLst>
            </p:cNvPr>
            <p:cNvSpPr/>
            <p:nvPr/>
          </p:nvSpPr>
          <p:spPr>
            <a:xfrm rot="5400000">
              <a:off x="4694313" y="4902932"/>
              <a:ext cx="444136" cy="235922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TW" sz="1600" dirty="0">
                  <a:solidFill>
                    <a:schemeClr val="tx1"/>
                  </a:solidFill>
                </a:rPr>
                <a:t>squeeze</a:t>
              </a:r>
              <a:endParaRPr lang="en-US" altLang="zh-TW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zh-TW" sz="1200" dirty="0">
                  <a:solidFill>
                    <a:schemeClr val="tx1"/>
                  </a:solidFill>
                </a:rPr>
                <a:t>[B, A, 1]&gt;[B, A]</a:t>
              </a:r>
              <a:endParaRPr lang="zh-TW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19" name="箭號: 向下 18">
            <a:extLst>
              <a:ext uri="{FF2B5EF4-FFF2-40B4-BE49-F238E27FC236}">
                <a16:creationId xmlns:a16="http://schemas.microsoft.com/office/drawing/2014/main" id="{1B7B3553-6B29-F78E-B195-9897C0EF7126}"/>
              </a:ext>
            </a:extLst>
          </p:cNvPr>
          <p:cNvSpPr/>
          <p:nvPr/>
        </p:nvSpPr>
        <p:spPr>
          <a:xfrm>
            <a:off x="4768336" y="1447972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0" name="箭號: 向下 19">
            <a:extLst>
              <a:ext uri="{FF2B5EF4-FFF2-40B4-BE49-F238E27FC236}">
                <a16:creationId xmlns:a16="http://schemas.microsoft.com/office/drawing/2014/main" id="{22C536DF-C2B6-4CBB-4DAC-3FECE42108A5}"/>
              </a:ext>
            </a:extLst>
          </p:cNvPr>
          <p:cNvSpPr/>
          <p:nvPr/>
        </p:nvSpPr>
        <p:spPr>
          <a:xfrm>
            <a:off x="4762001" y="2140303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1" name="箭號: 向下 20">
            <a:extLst>
              <a:ext uri="{FF2B5EF4-FFF2-40B4-BE49-F238E27FC236}">
                <a16:creationId xmlns:a16="http://schemas.microsoft.com/office/drawing/2014/main" id="{46401DB5-C726-6C67-37A0-F9FDF9CF217A}"/>
              </a:ext>
            </a:extLst>
          </p:cNvPr>
          <p:cNvSpPr/>
          <p:nvPr/>
        </p:nvSpPr>
        <p:spPr>
          <a:xfrm>
            <a:off x="4762001" y="2843129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2" name="箭號: 向下 21">
            <a:extLst>
              <a:ext uri="{FF2B5EF4-FFF2-40B4-BE49-F238E27FC236}">
                <a16:creationId xmlns:a16="http://schemas.microsoft.com/office/drawing/2014/main" id="{0E859BE4-9BD1-DA33-7DAB-A46E319F90E7}"/>
              </a:ext>
            </a:extLst>
          </p:cNvPr>
          <p:cNvSpPr/>
          <p:nvPr/>
        </p:nvSpPr>
        <p:spPr>
          <a:xfrm>
            <a:off x="4768336" y="3538201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3" name="箭號: 向下 22">
            <a:extLst>
              <a:ext uri="{FF2B5EF4-FFF2-40B4-BE49-F238E27FC236}">
                <a16:creationId xmlns:a16="http://schemas.microsoft.com/office/drawing/2014/main" id="{0801B0DB-6597-92E8-E738-AFBFECD58C8A}"/>
              </a:ext>
            </a:extLst>
          </p:cNvPr>
          <p:cNvSpPr/>
          <p:nvPr/>
        </p:nvSpPr>
        <p:spPr>
          <a:xfrm>
            <a:off x="4762001" y="4230532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4" name="箭號: 向下 23">
            <a:extLst>
              <a:ext uri="{FF2B5EF4-FFF2-40B4-BE49-F238E27FC236}">
                <a16:creationId xmlns:a16="http://schemas.microsoft.com/office/drawing/2014/main" id="{8C32E8D4-9F11-9E45-B59F-533C6C03101E}"/>
              </a:ext>
            </a:extLst>
          </p:cNvPr>
          <p:cNvSpPr/>
          <p:nvPr/>
        </p:nvSpPr>
        <p:spPr>
          <a:xfrm>
            <a:off x="4762001" y="4933358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5" name="箭號: 向下 24">
            <a:extLst>
              <a:ext uri="{FF2B5EF4-FFF2-40B4-BE49-F238E27FC236}">
                <a16:creationId xmlns:a16="http://schemas.microsoft.com/office/drawing/2014/main" id="{53A053F8-D3CE-DAE0-0567-AE39D74A9111}"/>
              </a:ext>
            </a:extLst>
          </p:cNvPr>
          <p:cNvSpPr/>
          <p:nvPr/>
        </p:nvSpPr>
        <p:spPr>
          <a:xfrm>
            <a:off x="4768336" y="5622382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7A0A82DB-4581-EBA8-1BE1-906330B87982}"/>
              </a:ext>
            </a:extLst>
          </p:cNvPr>
          <p:cNvSpPr txBox="1"/>
          <p:nvPr/>
        </p:nvSpPr>
        <p:spPr>
          <a:xfrm>
            <a:off x="4271947" y="372962"/>
            <a:ext cx="12888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/>
              <a:t>Actor</a:t>
            </a:r>
            <a:endParaRPr lang="zh-TW" altLang="en-US" sz="32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9AEF19B-F5D4-F25F-B383-120AD2F417C9}"/>
              </a:ext>
            </a:extLst>
          </p:cNvPr>
          <p:cNvSpPr/>
          <p:nvPr/>
        </p:nvSpPr>
        <p:spPr>
          <a:xfrm rot="5400000">
            <a:off x="8085108" y="734483"/>
            <a:ext cx="444136" cy="23592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[B,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A,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F]&gt;[B, A, 256]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02EB06A-9EEA-28B2-F92B-84422D2390F7}"/>
              </a:ext>
            </a:extLst>
          </p:cNvPr>
          <p:cNvSpPr/>
          <p:nvPr/>
        </p:nvSpPr>
        <p:spPr>
          <a:xfrm rot="5400000">
            <a:off x="8072450" y="1423069"/>
            <a:ext cx="444136" cy="23592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SiLU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48B10EFA-0583-11C1-3575-8A398BF07A1F}"/>
              </a:ext>
            </a:extLst>
          </p:cNvPr>
          <p:cNvSpPr/>
          <p:nvPr/>
        </p:nvSpPr>
        <p:spPr>
          <a:xfrm rot="5400000">
            <a:off x="8072451" y="2115400"/>
            <a:ext cx="444136" cy="23592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[B, A, 256]&gt;[B, A, 256]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3077FEA-F2FD-2191-5965-055E6E37651D}"/>
              </a:ext>
            </a:extLst>
          </p:cNvPr>
          <p:cNvSpPr/>
          <p:nvPr/>
        </p:nvSpPr>
        <p:spPr>
          <a:xfrm rot="5400000">
            <a:off x="8072451" y="2820796"/>
            <a:ext cx="444136" cy="23592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SiLU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3A0A161-0C45-F8E5-33F1-1956A509C17E}"/>
              </a:ext>
            </a:extLst>
          </p:cNvPr>
          <p:cNvSpPr/>
          <p:nvPr/>
        </p:nvSpPr>
        <p:spPr>
          <a:xfrm rot="5400000">
            <a:off x="8085112" y="39976"/>
            <a:ext cx="444136" cy="23592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Reshape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[B,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A*F]&gt;[B, A, F]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78D87BE-E90E-A2AE-52D1-D8A3F21501C6}"/>
              </a:ext>
            </a:extLst>
          </p:cNvPr>
          <p:cNvSpPr/>
          <p:nvPr/>
        </p:nvSpPr>
        <p:spPr>
          <a:xfrm rot="5400000">
            <a:off x="8072449" y="3522057"/>
            <a:ext cx="444136" cy="23592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Critic pool(</a:t>
            </a:r>
            <a:r>
              <a:rPr lang="zh-TW" altLang="en-US" sz="1200" dirty="0">
                <a:solidFill>
                  <a:schemeClr val="tx1"/>
                </a:solidFill>
              </a:rPr>
              <a:t>算</a:t>
            </a:r>
            <a:r>
              <a:rPr lang="en-US" altLang="zh-TW" sz="1200" dirty="0">
                <a:solidFill>
                  <a:schemeClr val="tx1"/>
                </a:solidFill>
              </a:rPr>
              <a:t>mean, var, max, n</a:t>
            </a:r>
            <a:r>
              <a:rPr lang="en-US" altLang="zh-TW" sz="16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[B, A, 256]&gt;[B, 256*3 + 1]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8DF572F-BB36-B7D6-C1EE-33E7E4DB0006}"/>
              </a:ext>
            </a:extLst>
          </p:cNvPr>
          <p:cNvSpPr/>
          <p:nvPr/>
        </p:nvSpPr>
        <p:spPr>
          <a:xfrm rot="5400000">
            <a:off x="8085108" y="4207194"/>
            <a:ext cx="444136" cy="23592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[B, 256</a:t>
            </a:r>
            <a:r>
              <a:rPr lang="zh-TW" altLang="en-US" sz="1200" dirty="0">
                <a:solidFill>
                  <a:schemeClr val="tx1"/>
                </a:solidFill>
              </a:rPr>
              <a:t>*</a:t>
            </a:r>
            <a:r>
              <a:rPr lang="en-US" altLang="zh-TW" sz="1200" dirty="0">
                <a:solidFill>
                  <a:schemeClr val="tx1"/>
                </a:solidFill>
              </a:rPr>
              <a:t>3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+</a:t>
            </a:r>
            <a:r>
              <a:rPr lang="zh-TW" altLang="en-US" sz="1200" dirty="0">
                <a:solidFill>
                  <a:schemeClr val="tx1"/>
                </a:solidFill>
              </a:rPr>
              <a:t> </a:t>
            </a:r>
            <a:r>
              <a:rPr lang="en-US" altLang="zh-TW" sz="1200" dirty="0">
                <a:solidFill>
                  <a:schemeClr val="tx1"/>
                </a:solidFill>
              </a:rPr>
              <a:t>1]&gt;[B, 256]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EC8F9B3E-90BF-8538-4128-5B69076C3241}"/>
              </a:ext>
            </a:extLst>
          </p:cNvPr>
          <p:cNvSpPr/>
          <p:nvPr/>
        </p:nvSpPr>
        <p:spPr>
          <a:xfrm>
            <a:off x="8152085" y="5865561"/>
            <a:ext cx="296806" cy="25351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37" name="橢圓 36">
            <a:extLst>
              <a:ext uri="{FF2B5EF4-FFF2-40B4-BE49-F238E27FC236}">
                <a16:creationId xmlns:a16="http://schemas.microsoft.com/office/drawing/2014/main" id="{09B87CEB-47AD-1FBB-C675-53E0054B47A1}"/>
              </a:ext>
            </a:extLst>
          </p:cNvPr>
          <p:cNvSpPr/>
          <p:nvPr/>
        </p:nvSpPr>
        <p:spPr>
          <a:xfrm>
            <a:off x="10695690" y="1182438"/>
            <a:ext cx="296806" cy="253513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38" name="箭號: 向下 37">
            <a:extLst>
              <a:ext uri="{FF2B5EF4-FFF2-40B4-BE49-F238E27FC236}">
                <a16:creationId xmlns:a16="http://schemas.microsoft.com/office/drawing/2014/main" id="{FCCC2FED-F24C-94B2-0B87-7C59C9C0A531}"/>
              </a:ext>
            </a:extLst>
          </p:cNvPr>
          <p:cNvSpPr/>
          <p:nvPr/>
        </p:nvSpPr>
        <p:spPr>
          <a:xfrm>
            <a:off x="8146464" y="1445756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39" name="箭號: 向下 38">
            <a:extLst>
              <a:ext uri="{FF2B5EF4-FFF2-40B4-BE49-F238E27FC236}">
                <a16:creationId xmlns:a16="http://schemas.microsoft.com/office/drawing/2014/main" id="{E5AF2072-1412-D823-3AA7-1ADE6A0AC859}"/>
              </a:ext>
            </a:extLst>
          </p:cNvPr>
          <p:cNvSpPr/>
          <p:nvPr/>
        </p:nvSpPr>
        <p:spPr>
          <a:xfrm>
            <a:off x="8140129" y="2138087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40" name="箭號: 向下 39">
            <a:extLst>
              <a:ext uri="{FF2B5EF4-FFF2-40B4-BE49-F238E27FC236}">
                <a16:creationId xmlns:a16="http://schemas.microsoft.com/office/drawing/2014/main" id="{CA34B262-FC09-CBC4-577A-BB67A368C8F4}"/>
              </a:ext>
            </a:extLst>
          </p:cNvPr>
          <p:cNvSpPr/>
          <p:nvPr/>
        </p:nvSpPr>
        <p:spPr>
          <a:xfrm>
            <a:off x="8140129" y="2840913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41" name="箭號: 向下 40">
            <a:extLst>
              <a:ext uri="{FF2B5EF4-FFF2-40B4-BE49-F238E27FC236}">
                <a16:creationId xmlns:a16="http://schemas.microsoft.com/office/drawing/2014/main" id="{75062DE3-EA69-CE5B-F408-00ED47FBE3AD}"/>
              </a:ext>
            </a:extLst>
          </p:cNvPr>
          <p:cNvSpPr/>
          <p:nvPr/>
        </p:nvSpPr>
        <p:spPr>
          <a:xfrm>
            <a:off x="8146464" y="3535985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42" name="箭號: 向下 41">
            <a:extLst>
              <a:ext uri="{FF2B5EF4-FFF2-40B4-BE49-F238E27FC236}">
                <a16:creationId xmlns:a16="http://schemas.microsoft.com/office/drawing/2014/main" id="{FF0A1A11-C179-8B55-DFF3-EA00198E3233}"/>
              </a:ext>
            </a:extLst>
          </p:cNvPr>
          <p:cNvSpPr/>
          <p:nvPr/>
        </p:nvSpPr>
        <p:spPr>
          <a:xfrm>
            <a:off x="8140129" y="4228316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43" name="箭號: 向下 42">
            <a:extLst>
              <a:ext uri="{FF2B5EF4-FFF2-40B4-BE49-F238E27FC236}">
                <a16:creationId xmlns:a16="http://schemas.microsoft.com/office/drawing/2014/main" id="{9BB0DD7E-B7A3-E3FA-2ECE-93AFD3C44939}"/>
              </a:ext>
            </a:extLst>
          </p:cNvPr>
          <p:cNvSpPr/>
          <p:nvPr/>
        </p:nvSpPr>
        <p:spPr>
          <a:xfrm>
            <a:off x="8140129" y="4931142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44" name="箭號: 向下 43">
            <a:extLst>
              <a:ext uri="{FF2B5EF4-FFF2-40B4-BE49-F238E27FC236}">
                <a16:creationId xmlns:a16="http://schemas.microsoft.com/office/drawing/2014/main" id="{F485468A-A2E2-3234-973D-B510F3E13D75}"/>
              </a:ext>
            </a:extLst>
          </p:cNvPr>
          <p:cNvSpPr/>
          <p:nvPr/>
        </p:nvSpPr>
        <p:spPr>
          <a:xfrm>
            <a:off x="8146464" y="5620166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1D252BD8-D42D-5E2F-CF88-EB8DA66B880D}"/>
              </a:ext>
            </a:extLst>
          </p:cNvPr>
          <p:cNvSpPr/>
          <p:nvPr/>
        </p:nvSpPr>
        <p:spPr>
          <a:xfrm rot="5400000">
            <a:off x="10623600" y="734483"/>
            <a:ext cx="444136" cy="23592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altLang="zh-TW" sz="1600" dirty="0" err="1">
                <a:solidFill>
                  <a:schemeClr val="tx1"/>
                </a:solidFill>
              </a:rPr>
              <a:t>SiLU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4238076-C261-99E3-4AF3-83840CB4EEC5}"/>
              </a:ext>
            </a:extLst>
          </p:cNvPr>
          <p:cNvSpPr/>
          <p:nvPr/>
        </p:nvSpPr>
        <p:spPr>
          <a:xfrm rot="5400000">
            <a:off x="10623599" y="1423070"/>
            <a:ext cx="444136" cy="23592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vert270" rtlCol="0" anchor="ctr"/>
          <a:lstStyle/>
          <a:p>
            <a:pPr algn="ctr"/>
            <a:r>
              <a:rPr lang="en-US" altLang="zh-TW" sz="1600" dirty="0">
                <a:solidFill>
                  <a:schemeClr val="tx1"/>
                </a:solidFill>
              </a:rPr>
              <a:t>Linear</a:t>
            </a:r>
          </a:p>
          <a:p>
            <a:pPr algn="ctr"/>
            <a:r>
              <a:rPr lang="en-US" altLang="zh-TW" sz="1200" dirty="0">
                <a:solidFill>
                  <a:schemeClr val="tx1"/>
                </a:solidFill>
              </a:rPr>
              <a:t>[B, 256]&gt;[B, 1]</a:t>
            </a:r>
            <a:endParaRPr lang="zh-TW" altLang="en-US" sz="1200" dirty="0">
              <a:solidFill>
                <a:schemeClr val="tx1"/>
              </a:solidFill>
            </a:endParaRPr>
          </a:p>
        </p:txBody>
      </p:sp>
      <p:sp>
        <p:nvSpPr>
          <p:cNvPr id="47" name="箭號: 向下 46">
            <a:extLst>
              <a:ext uri="{FF2B5EF4-FFF2-40B4-BE49-F238E27FC236}">
                <a16:creationId xmlns:a16="http://schemas.microsoft.com/office/drawing/2014/main" id="{885F3455-0705-F644-7B3B-4BE905D6F719}"/>
              </a:ext>
            </a:extLst>
          </p:cNvPr>
          <p:cNvSpPr/>
          <p:nvPr/>
        </p:nvSpPr>
        <p:spPr>
          <a:xfrm>
            <a:off x="10702025" y="1443834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  <p:sp>
        <p:nvSpPr>
          <p:cNvPr id="48" name="箭號: 向下 47">
            <a:extLst>
              <a:ext uri="{FF2B5EF4-FFF2-40B4-BE49-F238E27FC236}">
                <a16:creationId xmlns:a16="http://schemas.microsoft.com/office/drawing/2014/main" id="{5310E884-13B6-8D0F-3733-01DB735DFE2E}"/>
              </a:ext>
            </a:extLst>
          </p:cNvPr>
          <p:cNvSpPr/>
          <p:nvPr/>
        </p:nvSpPr>
        <p:spPr>
          <a:xfrm>
            <a:off x="10695690" y="2136165"/>
            <a:ext cx="308762" cy="240312"/>
          </a:xfrm>
          <a:prstGeom prst="down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21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 訓練結果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62D4DC3-550F-9D2B-24BD-DA869DCFDB90}"/>
              </a:ext>
            </a:extLst>
          </p:cNvPr>
          <p:cNvSpPr txBox="1">
            <a:spLocks/>
          </p:cNvSpPr>
          <p:nvPr/>
        </p:nvSpPr>
        <p:spPr>
          <a:xfrm>
            <a:off x="1151005" y="1720616"/>
            <a:ext cx="5947112" cy="5077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TW" altLang="en-US" sz="1800" dirty="0"/>
              <a:t>訓練</a:t>
            </a:r>
            <a:r>
              <a:rPr lang="en-US" altLang="zh-TW" sz="1800" dirty="0"/>
              <a:t>Episode = 300</a:t>
            </a:r>
            <a:r>
              <a:rPr lang="zh-TW" altLang="en-US" sz="1800" dirty="0"/>
              <a:t>   總訓練時長約</a:t>
            </a:r>
            <a:r>
              <a:rPr lang="en-US" altLang="zh-TW" sz="1800" dirty="0"/>
              <a:t>2530s</a:t>
            </a:r>
          </a:p>
        </p:txBody>
      </p:sp>
      <p:pic>
        <p:nvPicPr>
          <p:cNvPr id="13" name="圖片 12" descr="一張含有 文字, 字型, 螢幕擷取畫面, 筆跡 的圖片&#10;&#10;AI 產生的內容可能不正確。">
            <a:extLst>
              <a:ext uri="{FF2B5EF4-FFF2-40B4-BE49-F238E27FC236}">
                <a16:creationId xmlns:a16="http://schemas.microsoft.com/office/drawing/2014/main" id="{680FEA96-F83D-E052-8C31-83FF1617F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3632" y="-5426"/>
            <a:ext cx="5400277" cy="648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315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6</a:t>
            </a:fld>
            <a:endParaRPr lang="zh-TW" altLang="en-US"/>
          </a:p>
        </p:txBody>
      </p:sp>
      <p:pic>
        <p:nvPicPr>
          <p:cNvPr id="9" name="圖片 8" descr="一張含有 螢幕擷取畫面, 鮮豔, 行, Rectangle 的圖片&#10;&#10;AI 產生的內容可能不正確。">
            <a:extLst>
              <a:ext uri="{FF2B5EF4-FFF2-40B4-BE49-F238E27FC236}">
                <a16:creationId xmlns:a16="http://schemas.microsoft.com/office/drawing/2014/main" id="{7232FB9B-4293-9E63-E578-8BE3022F45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27" y="2996636"/>
            <a:ext cx="11874945" cy="296873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145798"/>
            <a:ext cx="12192000" cy="36759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936BF40-A32C-2E3F-094D-DE6169C63C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35" y="2524609"/>
            <a:ext cx="10876162" cy="185258"/>
          </a:xfrm>
          <a:prstGeom prst="rect">
            <a:avLst/>
          </a:prstGeom>
        </p:spPr>
      </p:pic>
      <p:sp>
        <p:nvSpPr>
          <p:cNvPr id="14" name="內容版面配置區 4">
            <a:extLst>
              <a:ext uri="{FF2B5EF4-FFF2-40B4-BE49-F238E27FC236}">
                <a16:creationId xmlns:a16="http://schemas.microsoft.com/office/drawing/2014/main" id="{E914A304-15C5-694F-845E-0872B9278ED5}"/>
              </a:ext>
            </a:extLst>
          </p:cNvPr>
          <p:cNvSpPr txBox="1">
            <a:spLocks/>
          </p:cNvSpPr>
          <p:nvPr/>
        </p:nvSpPr>
        <p:spPr>
          <a:xfrm>
            <a:off x="8508989" y="2939236"/>
            <a:ext cx="769442" cy="5077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21.2%</a:t>
            </a:r>
          </a:p>
        </p:txBody>
      </p:sp>
    </p:spTree>
    <p:extLst>
      <p:ext uri="{BB962C8B-B14F-4D97-AF65-F5344CB8AC3E}">
        <p14:creationId xmlns:p14="http://schemas.microsoft.com/office/powerpoint/2010/main" val="8017454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7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45798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F7617DE-DDA3-1CA4-EEBF-A87B97F86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617" y="2566207"/>
            <a:ext cx="10788666" cy="160911"/>
          </a:xfrm>
          <a:prstGeom prst="rect">
            <a:avLst/>
          </a:prstGeom>
        </p:spPr>
      </p:pic>
      <p:pic>
        <p:nvPicPr>
          <p:cNvPr id="8" name="圖片 7" descr="一張含有 螢幕擷取畫面, 鮮豔, 行, Rectangle 的圖片&#10;&#10;AI 產生的內容可能不正確。">
            <a:extLst>
              <a:ext uri="{FF2B5EF4-FFF2-40B4-BE49-F238E27FC236}">
                <a16:creationId xmlns:a16="http://schemas.microsoft.com/office/drawing/2014/main" id="{0F955350-F2F8-9BF8-F83F-E8304C68CC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2" y="2973118"/>
            <a:ext cx="10971893" cy="2742973"/>
          </a:xfrm>
          <a:prstGeom prst="rect">
            <a:avLst/>
          </a:prstGeom>
        </p:spPr>
      </p:pic>
      <p:sp>
        <p:nvSpPr>
          <p:cNvPr id="10" name="內容版面配置區 4">
            <a:extLst>
              <a:ext uri="{FF2B5EF4-FFF2-40B4-BE49-F238E27FC236}">
                <a16:creationId xmlns:a16="http://schemas.microsoft.com/office/drawing/2014/main" id="{F776D0C3-6680-5301-3FA6-F7588B4BA197}"/>
              </a:ext>
            </a:extLst>
          </p:cNvPr>
          <p:cNvSpPr txBox="1">
            <a:spLocks/>
          </p:cNvSpPr>
          <p:nvPr/>
        </p:nvSpPr>
        <p:spPr>
          <a:xfrm>
            <a:off x="8413195" y="2901785"/>
            <a:ext cx="769442" cy="5077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32.2%</a:t>
            </a:r>
          </a:p>
        </p:txBody>
      </p:sp>
    </p:spTree>
    <p:extLst>
      <p:ext uri="{BB962C8B-B14F-4D97-AF65-F5344CB8AC3E}">
        <p14:creationId xmlns:p14="http://schemas.microsoft.com/office/powerpoint/2010/main" val="360771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8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45798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B946E992-D31B-C175-3BB6-CA9D079F4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005" y="2575899"/>
            <a:ext cx="10751118" cy="189413"/>
          </a:xfrm>
          <a:prstGeom prst="rect">
            <a:avLst/>
          </a:prstGeom>
        </p:spPr>
      </p:pic>
      <p:pic>
        <p:nvPicPr>
          <p:cNvPr id="8" name="圖片 7" descr="一張含有 螢幕擷取畫面, 鮮豔, Rectangle, 設計 的圖片&#10;&#10;AI 產生的內容可能不正確。">
            <a:extLst>
              <a:ext uri="{FF2B5EF4-FFF2-40B4-BE49-F238E27FC236}">
                <a16:creationId xmlns:a16="http://schemas.microsoft.com/office/drawing/2014/main" id="{21B881D1-A9A4-DAC6-4A5E-17A9AC016D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2" y="2999232"/>
            <a:ext cx="10971893" cy="2742973"/>
          </a:xfrm>
          <a:prstGeom prst="rect">
            <a:avLst/>
          </a:prstGeom>
        </p:spPr>
      </p:pic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07BA0C6E-402D-402E-662F-3539BD0EF006}"/>
              </a:ext>
            </a:extLst>
          </p:cNvPr>
          <p:cNvSpPr txBox="1">
            <a:spLocks/>
          </p:cNvSpPr>
          <p:nvPr/>
        </p:nvSpPr>
        <p:spPr>
          <a:xfrm>
            <a:off x="8413195" y="2901785"/>
            <a:ext cx="769442" cy="5077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17.9%</a:t>
            </a:r>
          </a:p>
        </p:txBody>
      </p:sp>
    </p:spTree>
    <p:extLst>
      <p:ext uri="{BB962C8B-B14F-4D97-AF65-F5344CB8AC3E}">
        <p14:creationId xmlns:p14="http://schemas.microsoft.com/office/powerpoint/2010/main" val="6760858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45798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A58AC81-406C-FBE5-1B4B-8C0ECA23D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164" y="2623671"/>
            <a:ext cx="11040995" cy="181000"/>
          </a:xfrm>
          <a:prstGeom prst="rect">
            <a:avLst/>
          </a:prstGeom>
        </p:spPr>
      </p:pic>
      <p:pic>
        <p:nvPicPr>
          <p:cNvPr id="8" name="圖片 7" descr="一張含有 螢幕擷取畫面, 鮮豔, Rectangle, 圖表 的圖片&#10;&#10;AI 產生的內容可能不正確。">
            <a:extLst>
              <a:ext uri="{FF2B5EF4-FFF2-40B4-BE49-F238E27FC236}">
                <a16:creationId xmlns:a16="http://schemas.microsoft.com/office/drawing/2014/main" id="{BAC34896-5D90-1DA8-4BEB-28EBD06B1C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117" y="2910221"/>
            <a:ext cx="6888027" cy="3444013"/>
          </a:xfrm>
          <a:prstGeom prst="rect">
            <a:avLst/>
          </a:prstGeom>
        </p:spPr>
      </p:pic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9D1AB20C-41B0-15C8-7288-18820A5C1B6C}"/>
              </a:ext>
            </a:extLst>
          </p:cNvPr>
          <p:cNvSpPr txBox="1">
            <a:spLocks/>
          </p:cNvSpPr>
          <p:nvPr/>
        </p:nvSpPr>
        <p:spPr>
          <a:xfrm>
            <a:off x="7429126" y="2746828"/>
            <a:ext cx="769442" cy="5077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8.6%</a:t>
            </a:r>
          </a:p>
        </p:txBody>
      </p:sp>
    </p:spTree>
    <p:extLst>
      <p:ext uri="{BB962C8B-B14F-4D97-AF65-F5344CB8AC3E}">
        <p14:creationId xmlns:p14="http://schemas.microsoft.com/office/powerpoint/2010/main" val="42001171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45798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5309F024-A6D2-DF49-FA7D-8650E4D5A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918" y="2589318"/>
            <a:ext cx="11206578" cy="198839"/>
          </a:xfrm>
          <a:prstGeom prst="rect">
            <a:avLst/>
          </a:prstGeom>
        </p:spPr>
      </p:pic>
      <p:pic>
        <p:nvPicPr>
          <p:cNvPr id="8" name="圖片 7" descr="一張含有 螢幕擷取畫面, 鮮豔, Rectangle, 正方形 的圖片&#10;&#10;AI 產生的內容可能不正確。">
            <a:extLst>
              <a:ext uri="{FF2B5EF4-FFF2-40B4-BE49-F238E27FC236}">
                <a16:creationId xmlns:a16="http://schemas.microsoft.com/office/drawing/2014/main" id="{D477213C-BA93-29A9-A1F7-10993886CA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6826" y="2906318"/>
            <a:ext cx="6870610" cy="3435305"/>
          </a:xfrm>
          <a:prstGeom prst="rect">
            <a:avLst/>
          </a:prstGeom>
        </p:spPr>
      </p:pic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5E255677-0C67-9A0A-6C46-A6B81864D80A}"/>
              </a:ext>
            </a:extLst>
          </p:cNvPr>
          <p:cNvSpPr txBox="1">
            <a:spLocks/>
          </p:cNvSpPr>
          <p:nvPr/>
        </p:nvSpPr>
        <p:spPr>
          <a:xfrm>
            <a:off x="7429126" y="2746828"/>
            <a:ext cx="769442" cy="5077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33.6%</a:t>
            </a:r>
          </a:p>
        </p:txBody>
      </p:sp>
    </p:spTree>
    <p:extLst>
      <p:ext uri="{BB962C8B-B14F-4D97-AF65-F5344CB8AC3E}">
        <p14:creationId xmlns:p14="http://schemas.microsoft.com/office/powerpoint/2010/main" val="12035187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45798"/>
            <a:ext cx="12192000" cy="36759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2FFE063-ED0D-9238-F5F1-9EAA30134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44" y="2565300"/>
            <a:ext cx="11216639" cy="222743"/>
          </a:xfrm>
          <a:prstGeom prst="rect">
            <a:avLst/>
          </a:prstGeom>
        </p:spPr>
      </p:pic>
      <p:pic>
        <p:nvPicPr>
          <p:cNvPr id="10" name="圖片 9" descr="一張含有 螢幕擷取畫面, 鮮豔, 正方形, Rectangle 的圖片&#10;&#10;AI 產生的內容可能不正確。">
            <a:extLst>
              <a:ext uri="{FF2B5EF4-FFF2-40B4-BE49-F238E27FC236}">
                <a16:creationId xmlns:a16="http://schemas.microsoft.com/office/drawing/2014/main" id="{55FB719E-EB08-081C-F60C-5198D59F8F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409" y="2953359"/>
            <a:ext cx="6905444" cy="3452722"/>
          </a:xfrm>
          <a:prstGeom prst="rect">
            <a:avLst/>
          </a:prstGeom>
        </p:spPr>
      </p:pic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A011192B-0A87-00BD-D1CD-2C4FD22F70AC}"/>
              </a:ext>
            </a:extLst>
          </p:cNvPr>
          <p:cNvSpPr txBox="1">
            <a:spLocks/>
          </p:cNvSpPr>
          <p:nvPr/>
        </p:nvSpPr>
        <p:spPr>
          <a:xfrm>
            <a:off x="7429126" y="2746828"/>
            <a:ext cx="769442" cy="5077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18.8%</a:t>
            </a:r>
          </a:p>
        </p:txBody>
      </p:sp>
    </p:spTree>
    <p:extLst>
      <p:ext uri="{BB962C8B-B14F-4D97-AF65-F5344CB8AC3E}">
        <p14:creationId xmlns:p14="http://schemas.microsoft.com/office/powerpoint/2010/main" val="1539437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45798"/>
            <a:ext cx="12192000" cy="3675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E63A3A8-BA9A-F86B-B8B5-25546E48B3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930" y="2513396"/>
            <a:ext cx="10894976" cy="191948"/>
          </a:xfrm>
          <a:prstGeom prst="rect">
            <a:avLst/>
          </a:prstGeom>
        </p:spPr>
      </p:pic>
      <p:pic>
        <p:nvPicPr>
          <p:cNvPr id="8" name="圖片 7" descr="一張含有 螢幕擷取畫面, 鮮豔, Rectangle, 正方形 的圖片&#10;&#10;AI 產生的內容可能不正確。">
            <a:extLst>
              <a:ext uri="{FF2B5EF4-FFF2-40B4-BE49-F238E27FC236}">
                <a16:creationId xmlns:a16="http://schemas.microsoft.com/office/drawing/2014/main" id="{5330E885-C82E-83FB-E441-CB432EC19C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843" y="2805490"/>
            <a:ext cx="7147917" cy="3573959"/>
          </a:xfrm>
          <a:prstGeom prst="rect">
            <a:avLst/>
          </a:prstGeom>
        </p:spPr>
      </p:pic>
      <p:sp>
        <p:nvSpPr>
          <p:cNvPr id="9" name="內容版面配置區 4">
            <a:extLst>
              <a:ext uri="{FF2B5EF4-FFF2-40B4-BE49-F238E27FC236}">
                <a16:creationId xmlns:a16="http://schemas.microsoft.com/office/drawing/2014/main" id="{7C23D875-7745-8FD3-1BF6-3F88852F8458}"/>
              </a:ext>
            </a:extLst>
          </p:cNvPr>
          <p:cNvSpPr txBox="1">
            <a:spLocks/>
          </p:cNvSpPr>
          <p:nvPr/>
        </p:nvSpPr>
        <p:spPr>
          <a:xfrm>
            <a:off x="7490086" y="2627123"/>
            <a:ext cx="769442" cy="5077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8.6%</a:t>
            </a:r>
          </a:p>
        </p:txBody>
      </p:sp>
    </p:spTree>
    <p:extLst>
      <p:ext uri="{BB962C8B-B14F-4D97-AF65-F5344CB8AC3E}">
        <p14:creationId xmlns:p14="http://schemas.microsoft.com/office/powerpoint/2010/main" val="40685055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PPO</a:t>
            </a:r>
            <a:r>
              <a:rPr lang="zh-TW" altLang="en-US" dirty="0"/>
              <a:t>結果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0A73C8F-F0DE-E455-8A43-AB570217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145798"/>
            <a:ext cx="12192000" cy="367598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4A417A8-8A36-CC95-CC54-36424C26F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375" y="2513396"/>
            <a:ext cx="10953908" cy="186847"/>
          </a:xfrm>
          <a:prstGeom prst="rect">
            <a:avLst/>
          </a:prstGeom>
        </p:spPr>
      </p:pic>
      <p:pic>
        <p:nvPicPr>
          <p:cNvPr id="10" name="圖片 9" descr="一張含有 螢幕擷取畫面, 鮮豔, 正方形 的圖片&#10;&#10;AI 產生的內容可能不正確。">
            <a:extLst>
              <a:ext uri="{FF2B5EF4-FFF2-40B4-BE49-F238E27FC236}">
                <a16:creationId xmlns:a16="http://schemas.microsoft.com/office/drawing/2014/main" id="{C755EB0E-01DC-C6A5-781A-0D96FC4E38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7125" y="2828888"/>
            <a:ext cx="4990012" cy="3742509"/>
          </a:xfrm>
          <a:prstGeom prst="rect">
            <a:avLst/>
          </a:prstGeom>
        </p:spPr>
      </p:pic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C9C6FF72-F6EC-F2C8-9551-BD942C51CE56}"/>
              </a:ext>
            </a:extLst>
          </p:cNvPr>
          <p:cNvSpPr txBox="1">
            <a:spLocks/>
          </p:cNvSpPr>
          <p:nvPr/>
        </p:nvSpPr>
        <p:spPr>
          <a:xfrm>
            <a:off x="7080783" y="2575017"/>
            <a:ext cx="769442" cy="50774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tx1">
                  <a:lumMod val="75000"/>
                  <a:lumOff val="25000"/>
                </a:schemeClr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TW" sz="1800" dirty="0"/>
              <a:t>2.8%</a:t>
            </a:r>
          </a:p>
        </p:txBody>
      </p:sp>
    </p:spTree>
    <p:extLst>
      <p:ext uri="{BB962C8B-B14F-4D97-AF65-F5344CB8AC3E}">
        <p14:creationId xmlns:p14="http://schemas.microsoft.com/office/powerpoint/2010/main" val="2794051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9FD4FE-5C03-423D-8D96-AE6523A51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接下來的問題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03F1DA-90BC-4AE7-B88E-1FB50D3D1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>
                <a:ea typeface="Cascadia Code" panose="020B0609020000020004" pitchFamily="49" charset="0"/>
              </a:rPr>
              <a:t>Smart Production and System Simulation Lab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5F63131-ABC7-46C1-AFA1-82001E690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46CB4645-8B4E-4C68-869F-D9F48FECF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320" y="1844039"/>
            <a:ext cx="11534531" cy="43658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dirty="0"/>
              <a:t>PPO</a:t>
            </a:r>
            <a:r>
              <a:rPr lang="zh-TW" altLang="en-US" dirty="0"/>
              <a:t>在各問題上表現非常不一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en-US" altLang="zh-TW" dirty="0"/>
              <a:t>PPO</a:t>
            </a:r>
            <a:r>
              <a:rPr lang="zh-TW" altLang="en-US" dirty="0"/>
              <a:t>訓練收斂結果看起來不穩定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目前在小問題上普遍看起來不佳，可能會影響高階</a:t>
            </a:r>
            <a:r>
              <a:rPr lang="en-US" altLang="zh-TW" dirty="0"/>
              <a:t>Agent</a:t>
            </a:r>
            <a:r>
              <a:rPr lang="zh-TW" altLang="en-US" dirty="0"/>
              <a:t>偏好更久才釋放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須將</a:t>
            </a:r>
            <a:r>
              <a:rPr lang="en-US" altLang="zh-TW" dirty="0"/>
              <a:t>FJSP</a:t>
            </a:r>
            <a:r>
              <a:rPr lang="zh-TW" altLang="en-US" dirty="0"/>
              <a:t>整合上動態環境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890277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1FDE61-E3D2-E6BC-0F9F-9A422FAE07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THE</a:t>
            </a:r>
            <a:r>
              <a:rPr lang="zh-TW" altLang="en-US" dirty="0"/>
              <a:t> </a:t>
            </a:r>
            <a:r>
              <a:rPr lang="en-US" altLang="zh-TW" dirty="0"/>
              <a:t>END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6F3F00-E9C9-CE25-63F7-48B11D198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996F8-0416-4C00-B84C-381F9A6A2E93}" type="slidenum">
              <a:rPr lang="zh-TW" altLang="en-US" smtClean="0"/>
              <a:pPr/>
              <a:t>15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01CA2B-8F20-5B3D-72AC-0153AA21F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Smart Production and System Simulation Lab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33293835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自訂 2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789D89"/>
      </a:accent1>
      <a:accent2>
        <a:srgbClr val="789D89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solidFill>
          <a:srgbClr val="C00000"/>
        </a:solidFill>
      </a:spPr>
      <a:bodyPr rtlCol="0" anchor="ctr"/>
      <a:lstStyle>
        <a:defPPr algn="ctr">
          <a:defRPr sz="3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120332</TotalTime>
  <Words>522</Words>
  <Application>Microsoft Office PowerPoint</Application>
  <PresentationFormat>寬螢幕</PresentationFormat>
  <Paragraphs>99</Paragraphs>
  <Slides>15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微軟正黑體</vt:lpstr>
      <vt:lpstr>Abadi</vt:lpstr>
      <vt:lpstr>Arial</vt:lpstr>
      <vt:lpstr>Calibri</vt:lpstr>
      <vt:lpstr>Cascadia Code</vt:lpstr>
      <vt:lpstr>回顧</vt:lpstr>
      <vt:lpstr>PPO on FJSP</vt:lpstr>
      <vt:lpstr>PPO目前現況</vt:lpstr>
      <vt:lpstr>PPO目前現況</vt:lpstr>
      <vt:lpstr>PPO架構</vt:lpstr>
      <vt:lpstr>PPO 訓練結果</vt:lpstr>
      <vt:lpstr>PPO結果</vt:lpstr>
      <vt:lpstr>PPO結果</vt:lpstr>
      <vt:lpstr>PPO結果</vt:lpstr>
      <vt:lpstr>PPO結果</vt:lpstr>
      <vt:lpstr>PPO結果</vt:lpstr>
      <vt:lpstr>PPO結果</vt:lpstr>
      <vt:lpstr>PPO結果</vt:lpstr>
      <vt:lpstr>PPO結果</vt:lpstr>
      <vt:lpstr>接下來的問題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電容錯誤偵測</dc:title>
  <dc:creator>陳佳伶</dc:creator>
  <cp:lastModifiedBy>lab643</cp:lastModifiedBy>
  <cp:revision>801</cp:revision>
  <dcterms:created xsi:type="dcterms:W3CDTF">2022-03-03T14:40:23Z</dcterms:created>
  <dcterms:modified xsi:type="dcterms:W3CDTF">2025-10-07T08:54:33Z</dcterms:modified>
</cp:coreProperties>
</file>