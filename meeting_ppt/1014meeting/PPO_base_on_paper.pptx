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3"/>
  </p:notesMasterIdLst>
  <p:sldIdLst>
    <p:sldId id="942" r:id="rId2"/>
    <p:sldId id="947" r:id="rId3"/>
    <p:sldId id="968" r:id="rId4"/>
    <p:sldId id="970" r:id="rId5"/>
    <p:sldId id="969" r:id="rId6"/>
    <p:sldId id="971" r:id="rId7"/>
    <p:sldId id="954" r:id="rId8"/>
    <p:sldId id="958" r:id="rId9"/>
    <p:sldId id="961" r:id="rId10"/>
    <p:sldId id="962" r:id="rId11"/>
    <p:sldId id="963" r:id="rId12"/>
    <p:sldId id="964" r:id="rId13"/>
    <p:sldId id="965" r:id="rId14"/>
    <p:sldId id="966" r:id="rId15"/>
    <p:sldId id="972" r:id="rId16"/>
    <p:sldId id="973" r:id="rId17"/>
    <p:sldId id="975" r:id="rId18"/>
    <p:sldId id="976" r:id="rId19"/>
    <p:sldId id="977" r:id="rId20"/>
    <p:sldId id="959" r:id="rId21"/>
    <p:sldId id="93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70AD47"/>
    <a:srgbClr val="3F6EC2"/>
    <a:srgbClr val="ED7D31"/>
    <a:srgbClr val="C00000"/>
    <a:srgbClr val="4E799B"/>
    <a:srgbClr val="FFAD39"/>
    <a:srgbClr val="FF9966"/>
    <a:srgbClr val="B0966A"/>
    <a:srgbClr val="CA6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796" autoAdjust="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842FF-CB32-43DF-B9FE-65EF665875B2}" type="datetimeFigureOut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E097C-2611-49AA-93D4-A0110E9A53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6620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960880"/>
            <a:ext cx="10058400" cy="1210733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spc="-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6218" y="4064624"/>
            <a:ext cx="10058400" cy="1143000"/>
          </a:xfrm>
        </p:spPr>
        <p:txBody>
          <a:bodyPr lIns="91440" rIns="9144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dirty="0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414A-AA3B-479F-9443-E87E6DB2D303}" type="datetime1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385064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Taipei Tech logo">
            <a:extLst>
              <a:ext uri="{FF2B5EF4-FFF2-40B4-BE49-F238E27FC236}">
                <a16:creationId xmlns:a16="http://schemas.microsoft.com/office/drawing/2014/main" id="{C84FB869-60CA-1359-A1A9-972FEE00D5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573" y="82333"/>
            <a:ext cx="1109133" cy="6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A8FE2F8E-0A2C-6F39-816C-42C1E1733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328" y="180909"/>
            <a:ext cx="3740342" cy="55882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9E7AFDF-5951-D557-114F-9D59ED13850D}"/>
              </a:ext>
            </a:extLst>
          </p:cNvPr>
          <p:cNvSpPr/>
          <p:nvPr userDrawn="1"/>
        </p:nvSpPr>
        <p:spPr>
          <a:xfrm>
            <a:off x="1" y="1632361"/>
            <a:ext cx="854110" cy="2335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F597C5-038F-02ED-F1C7-CE412689C651}"/>
              </a:ext>
            </a:extLst>
          </p:cNvPr>
          <p:cNvSpPr/>
          <p:nvPr userDrawn="1"/>
        </p:nvSpPr>
        <p:spPr>
          <a:xfrm>
            <a:off x="11337885" y="1632360"/>
            <a:ext cx="854110" cy="2335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54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1005" y="997522"/>
            <a:ext cx="9562253" cy="545671"/>
          </a:xfrm>
        </p:spPr>
        <p:txBody>
          <a:bodyPr>
            <a:noAutofit/>
          </a:bodyPr>
          <a:lstStyle>
            <a:lvl1pPr marL="0">
              <a:defRPr sz="40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64139-FB37-44CF-9649-84761977F7A6}" type="datetime1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14E0F19-E296-C08D-6CCC-3FFA478020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24280" y="1844040"/>
            <a:ext cx="10012680" cy="4307840"/>
          </a:xfrm>
        </p:spPr>
        <p:txBody>
          <a:bodyPr/>
          <a:lstStyle>
            <a:lvl1pPr marL="91440" indent="-9144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400"/>
            </a:lvl1pPr>
            <a:lvl2pPr marL="38404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/>
            </a:lvl2pPr>
            <a:lvl3pPr marL="56692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3pPr>
            <a:lvl4pPr marL="74980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93268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zh-TW" altLang="en-US" dirty="0"/>
              <a:t> 按一下以編輯母片文字樣式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 第三層</a:t>
            </a:r>
          </a:p>
          <a:p>
            <a:pPr lvl="3"/>
            <a:r>
              <a:rPr lang="zh-TW" altLang="en-US" dirty="0"/>
              <a:t> 第四層</a:t>
            </a:r>
          </a:p>
          <a:p>
            <a:pPr lvl="4"/>
            <a:r>
              <a:rPr lang="zh-TW" altLang="en-US" dirty="0"/>
              <a:t> 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291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6B276-F255-4EEC-8D40-1223573FF8B6}" type="datetime1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D32E87-AE6C-472D-9A09-3ECFE3A03479}"/>
              </a:ext>
            </a:extLst>
          </p:cNvPr>
          <p:cNvSpPr/>
          <p:nvPr userDrawn="1"/>
        </p:nvSpPr>
        <p:spPr>
          <a:xfrm>
            <a:off x="0" y="0"/>
            <a:ext cx="367200" cy="55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F9B39C-AD5F-C429-CFBC-3A61DB623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880" y="33090"/>
            <a:ext cx="9562253" cy="545671"/>
          </a:xfrm>
        </p:spPr>
        <p:txBody>
          <a:bodyPr>
            <a:noAutofit/>
          </a:bodyPr>
          <a:lstStyle>
            <a:lvl1pPr marL="0">
              <a:defRPr sz="32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BBEB8-4775-A21F-4CBB-D3B6B1972A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8640" y="911014"/>
            <a:ext cx="11247120" cy="5240866"/>
          </a:xfrm>
        </p:spPr>
        <p:txBody>
          <a:bodyPr/>
          <a:lstStyle>
            <a:lvl1pPr marL="91440" indent="-9144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400"/>
            </a:lvl1pPr>
            <a:lvl2pPr marL="38404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/>
            </a:lvl2pPr>
            <a:lvl3pPr marL="56692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3pPr>
            <a:lvl4pPr marL="74980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93268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zh-TW" altLang="en-US" dirty="0"/>
              <a:t> 按一下以編輯母片文字樣式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 第三層</a:t>
            </a:r>
          </a:p>
          <a:p>
            <a:pPr lvl="3"/>
            <a:r>
              <a:rPr lang="zh-TW" altLang="en-US" dirty="0"/>
              <a:t> 第四層</a:t>
            </a:r>
          </a:p>
          <a:p>
            <a:pPr lvl="4"/>
            <a:r>
              <a:rPr lang="zh-TW" altLang="en-US" dirty="0"/>
              <a:t> 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997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9F5CB97-E547-425F-B1EF-51E6D4EAC77F}" type="datetime1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356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BE65-6E56-49AE-80DA-7E1BCEC842BD}" type="datetime1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780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714" y="6515590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459D13DB-F681-4B20-BE28-C9CE0BB35DC9}" type="datetime1">
              <a:rPr lang="zh-TW" altLang="en-US" smtClean="0"/>
              <a:pPr/>
              <a:t>2025/10/9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571397"/>
            <a:ext cx="4822804" cy="2535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baseline="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132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296F0BE3-5357-4671-AC41-EE354106F685}"/>
              </a:ext>
            </a:extLst>
          </p:cNvPr>
          <p:cNvSpPr/>
          <p:nvPr userDrawn="1"/>
        </p:nvSpPr>
        <p:spPr>
          <a:xfrm>
            <a:off x="0" y="0"/>
            <a:ext cx="367200" cy="55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6" name="Picture 2" descr="Taipei Tech logo">
            <a:extLst>
              <a:ext uri="{FF2B5EF4-FFF2-40B4-BE49-F238E27FC236}">
                <a16:creationId xmlns:a16="http://schemas.microsoft.com/office/drawing/2014/main" id="{B93B3042-4014-4658-5163-E5664504D9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687" y="76285"/>
            <a:ext cx="1109133" cy="6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962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3" r:id="rId3"/>
    <p:sldLayoutId id="2147483704" r:id="rId4"/>
    <p:sldLayoutId id="2147483707" r:id="rId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Dynamic%20scheduling%20for%20multi-objective%20flexible%20job%20shop%20via%20deep%20reinforcement%20learning.pd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Deep%20reinforcement%20learning%20for%20dynamic%20flexible%20job%20shop%20scheduling%20problem%20considering%20variable%20processing%20times.pdf" TargetMode="External"/><Relationship Id="rId2" Type="http://schemas.openxmlformats.org/officeDocument/2006/relationships/hyperlink" Target="Preference%20learning%20based%20deep%20reinforcement%20learning%20for%20flexible%20job%20shop%20scheduling%20problem.pdf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FB725-A3BC-1735-E5D3-E841251F3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960880"/>
            <a:ext cx="10058400" cy="1556043"/>
          </a:xfrm>
        </p:spPr>
        <p:txBody>
          <a:bodyPr>
            <a:normAutofit/>
          </a:bodyPr>
          <a:lstStyle/>
          <a:p>
            <a:r>
              <a:rPr lang="en-US" altLang="zh-TW" dirty="0"/>
              <a:t>PPO Base On Paper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B61C99B-68D5-06B4-0619-45FF2CD5F2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李信翰</a:t>
            </a:r>
            <a:endParaRPr lang="en-US" altLang="zh-TW" dirty="0"/>
          </a:p>
          <a:p>
            <a:r>
              <a:rPr lang="en-US" altLang="zh-TW" dirty="0"/>
              <a:t>2025/10/14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829393D-EB17-0B9B-F7A1-7EBE7209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310FEA9-4B06-E7EE-E0A0-84370D4E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67401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文獻選擇、</a:t>
            </a:r>
            <a:r>
              <a:rPr lang="en-US" altLang="zh-TW" dirty="0"/>
              <a:t>Reward</a:t>
            </a:r>
            <a:r>
              <a:rPr lang="zh-TW" altLang="en-US" dirty="0"/>
              <a:t>、</a:t>
            </a:r>
            <a:r>
              <a:rPr lang="en-US" altLang="zh-TW" dirty="0"/>
              <a:t>Action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392103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hlinkClick r:id="rId2" action="ppaction://hlinkfile"/>
              </a:rPr>
              <a:t>Yuan, E., Wang, L., Song, S., Cheng, S., &amp; Fan, W. (2025). Dynamic scheduling for multi-objective flexible job shop via deep reinforcement learning. </a:t>
            </a:r>
            <a:r>
              <a:rPr lang="en-US" altLang="zh-TW" sz="2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  <a:hlinkClick r:id="rId2" action="ppaction://hlinkfile"/>
              </a:rPr>
              <a:t>Applied Soft Computing</a:t>
            </a:r>
            <a:r>
              <a:rPr lang="en-US" altLang="zh-TW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hlinkClick r:id="rId2" action="ppaction://hlinkfile"/>
              </a:rPr>
              <a:t>, </a:t>
            </a:r>
            <a:r>
              <a:rPr lang="en-US" altLang="zh-TW" sz="2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  <a:hlinkClick r:id="rId2" action="ppaction://hlinkfile"/>
              </a:rPr>
              <a:t>171</a:t>
            </a:r>
            <a:r>
              <a:rPr lang="en-US" altLang="zh-TW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hlinkClick r:id="rId2" action="ppaction://hlinkfile"/>
              </a:rPr>
              <a:t>, 112787.</a:t>
            </a: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論文目標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b="0" i="0" dirty="0" err="1">
                <a:effectLst/>
                <a:latin typeface="Arial" panose="020B0604020202020204" pitchFamily="34" charset="0"/>
              </a:rPr>
              <a:t>makespan</a:t>
            </a:r>
            <a:r>
              <a:rPr lang="zh-TW" altLang="en-US" sz="2000" b="0" i="0" dirty="0">
                <a:effectLst/>
                <a:latin typeface="Arial" panose="020B0604020202020204" pitchFamily="34" charset="0"/>
              </a:rPr>
              <a:t>、</a:t>
            </a:r>
            <a:r>
              <a:rPr lang="en-US" altLang="zh-TW" sz="2000" b="0" i="0" dirty="0">
                <a:effectLst/>
                <a:latin typeface="Arial" panose="020B0604020202020204" pitchFamily="34" charset="0"/>
              </a:rPr>
              <a:t>mean lateness</a:t>
            </a:r>
            <a:r>
              <a:rPr lang="zh-TW" altLang="en-US" sz="2000" b="0" i="0" dirty="0">
                <a:effectLst/>
                <a:latin typeface="Arial" panose="020B0604020202020204" pitchFamily="34" charset="0"/>
              </a:rPr>
              <a:t>、</a:t>
            </a:r>
            <a:r>
              <a:rPr lang="en-US" altLang="zh-TW" sz="2000" b="0" i="0" dirty="0">
                <a:effectLst/>
                <a:latin typeface="Arial" panose="020B0604020202020204" pitchFamily="34" charset="0"/>
              </a:rPr>
              <a:t>mean flow time</a:t>
            </a: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原論文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Reward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使用於多目標，故不列入考慮，繼續使用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makespans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增加值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Action: These sub-action pairs form a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𝑛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×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𝑚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matrix</a:t>
            </a:r>
            <a:b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</a:b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	 and invalid sub-action pairs need to be masked</a:t>
            </a:r>
          </a:p>
          <a:p>
            <a:pPr>
              <a:lnSpc>
                <a:spcPct val="150000"/>
              </a:lnSpc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F7197552-CE07-B08D-42E4-F36BC68FD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9756" y="4134645"/>
            <a:ext cx="3052244" cy="204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481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文獻</a:t>
            </a:r>
            <a:r>
              <a:rPr lang="en-US" altLang="zh-TW" dirty="0"/>
              <a:t>State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40"/>
            <a:ext cx="11364959" cy="433904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          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    在    上的加工時間，不可加工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=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-1</a:t>
            </a: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               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    在該狀態的完工時間下界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                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若排     該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Job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剩餘的完工時間下界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         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機台的可用時間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        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Job_i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在目前狀態已排的完工時間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dirty="0">
                <a:solidFill>
                  <a:srgbClr val="222222"/>
                </a:solidFill>
                <a:latin typeface="Arial" panose="020B0604020202020204" pitchFamily="34" charset="0"/>
              </a:rPr>
              <a:t>         </a:t>
            </a:r>
            <a:r>
              <a:rPr lang="en-US" altLang="zh-TW" dirty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與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Due Date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的距離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(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不適用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)</a:t>
            </a:r>
            <a:endParaRPr lang="en-US" altLang="zh-TW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925B1CA-7832-FADB-96A1-4382917A3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8989" y="1775675"/>
            <a:ext cx="3282691" cy="461383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2AD3F825-DA06-EF49-AE9F-6459F6A31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94" y="1963862"/>
            <a:ext cx="780609" cy="346119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1151E04A-AE0F-0779-20C9-634F887ED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0874" y="2004950"/>
            <a:ext cx="352407" cy="311966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55DFB74D-1DE2-A8F7-3F73-6B051B6E92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3787" y="2002633"/>
            <a:ext cx="352407" cy="291647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0A07208A-A1B4-5CDA-99FF-DE15E93353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592" y="2668676"/>
            <a:ext cx="1010130" cy="253883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5D4BD227-93A3-2763-9B44-104D79230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287" y="2660842"/>
            <a:ext cx="329452" cy="291646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295F2A59-3051-A8CC-59F7-632E0D7C85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592" y="3272142"/>
            <a:ext cx="1148842" cy="266047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4528EC6B-A48E-E361-12D3-0D1B3A4A8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6453" y="3298797"/>
            <a:ext cx="329452" cy="291646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2155305D-C3E5-6119-3A96-9F465885B4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592" y="3877785"/>
            <a:ext cx="697035" cy="299660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B6847153-0589-50E5-6700-94DDC55A61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694" y="4516629"/>
            <a:ext cx="653010" cy="346118"/>
          </a:xfrm>
          <a:prstGeom prst="rect">
            <a:avLst/>
          </a:prstGeom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F02AE337-F8F5-877C-2A7B-8C7BAD81C4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3231" y="5206657"/>
            <a:ext cx="704396" cy="31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893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文獻</a:t>
            </a:r>
            <a:r>
              <a:rPr lang="en-US" altLang="zh-TW" dirty="0"/>
              <a:t>State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40"/>
            <a:ext cx="11364959" cy="4339046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zh-TW" altLang="en-US" dirty="0">
                <a:solidFill>
                  <a:srgbClr val="222222"/>
                </a:solidFill>
                <a:latin typeface="Arial" panose="020B0604020202020204" pitchFamily="34" charset="0"/>
              </a:rPr>
              <a:t>在   </a:t>
            </a:r>
            <a:r>
              <a:rPr lang="en-US" altLang="zh-TW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hlinkClick r:id="rId2" action="ppaction://hlinkfile"/>
              </a:rPr>
              <a:t>Liu, X., Han, L., Kang, L., Liu, J., &amp; Miao, H. (2025). Preference learning based deep reinforcement learning for flexible job shop scheduling problem. </a:t>
            </a:r>
            <a:r>
              <a:rPr lang="en-US" altLang="zh-TW" b="0" i="1" dirty="0">
                <a:solidFill>
                  <a:srgbClr val="222222"/>
                </a:solidFill>
                <a:effectLst/>
                <a:latin typeface="Arial" panose="020B0604020202020204" pitchFamily="34" charset="0"/>
                <a:hlinkClick r:id="rId2" action="ppaction://hlinkfile"/>
              </a:rPr>
              <a:t>Complex &amp; Intelligent Systems</a:t>
            </a:r>
            <a:r>
              <a:rPr lang="en-US" altLang="zh-TW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hlinkClick r:id="rId2" action="ppaction://hlinkfile"/>
              </a:rPr>
              <a:t>, </a:t>
            </a:r>
            <a:r>
              <a:rPr lang="en-US" altLang="zh-TW" b="0" i="1" dirty="0">
                <a:solidFill>
                  <a:srgbClr val="222222"/>
                </a:solidFill>
                <a:effectLst/>
                <a:latin typeface="Arial" panose="020B0604020202020204" pitchFamily="34" charset="0"/>
                <a:hlinkClick r:id="rId2" action="ppaction://hlinkfile"/>
              </a:rPr>
              <a:t>11</a:t>
            </a:r>
            <a:r>
              <a:rPr lang="en-US" altLang="zh-TW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hlinkClick r:id="rId2" action="ppaction://hlinkfile"/>
              </a:rPr>
              <a:t>(2), 144.</a:t>
            </a:r>
            <a:r>
              <a:rPr lang="zh-TW" alt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  <a:hlinkClick r:id="rId2" action="ppaction://hlinkfile"/>
              </a:rPr>
              <a:t>   </a:t>
            </a:r>
            <a:br>
              <a:rPr lang="en-US" altLang="zh-TW" b="1" dirty="0">
                <a:solidFill>
                  <a:srgbClr val="222222"/>
                </a:solidFill>
                <a:latin typeface="Arial" panose="020B0604020202020204" pitchFamily="34" charset="0"/>
              </a:rPr>
            </a:br>
            <a:r>
              <a:rPr lang="zh-TW" altLang="en-US" dirty="0">
                <a:solidFill>
                  <a:srgbClr val="222222"/>
                </a:solidFill>
                <a:latin typeface="Arial" panose="020B0604020202020204" pitchFamily="34" charset="0"/>
              </a:rPr>
              <a:t>和  </a:t>
            </a:r>
            <a:r>
              <a:rPr lang="en-US" altLang="zh-TW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hlinkClick r:id="rId3" action="ppaction://hlinkfile"/>
              </a:rPr>
              <a:t>Zhang, L., Feng, Y., Xiao, Q., Xu, Y., Li, D., Yang, D., &amp; Yang, Z. (2023). Deep reinforcement learning for dynamic flexible job shop scheduling problem considering variable processing times. </a:t>
            </a:r>
            <a:r>
              <a:rPr lang="en-US" altLang="zh-TW" b="0" i="1" dirty="0">
                <a:solidFill>
                  <a:srgbClr val="222222"/>
                </a:solidFill>
                <a:effectLst/>
                <a:latin typeface="Arial" panose="020B0604020202020204" pitchFamily="34" charset="0"/>
                <a:hlinkClick r:id="rId3" action="ppaction://hlinkfile"/>
              </a:rPr>
              <a:t>Journal of Manufacturing systems</a:t>
            </a:r>
            <a:r>
              <a:rPr lang="en-US" altLang="zh-TW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hlinkClick r:id="rId3" action="ppaction://hlinkfile"/>
              </a:rPr>
              <a:t>, </a:t>
            </a:r>
            <a:r>
              <a:rPr lang="en-US" altLang="zh-TW" b="0" i="1" dirty="0">
                <a:solidFill>
                  <a:srgbClr val="222222"/>
                </a:solidFill>
                <a:effectLst/>
                <a:latin typeface="Arial" panose="020B0604020202020204" pitchFamily="34" charset="0"/>
                <a:hlinkClick r:id="rId3" action="ppaction://hlinkfile"/>
              </a:rPr>
              <a:t>71</a:t>
            </a:r>
            <a:r>
              <a:rPr lang="en-US" altLang="zh-TW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hlinkClick r:id="rId3" action="ppaction://hlinkfile"/>
              </a:rPr>
              <a:t>, 257-273.</a:t>
            </a:r>
            <a:endParaRPr lang="en-US" altLang="zh-TW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dirty="0">
                <a:solidFill>
                  <a:srgbClr val="222222"/>
                </a:solidFill>
                <a:latin typeface="Arial" panose="020B0604020202020204" pitchFamily="34" charset="0"/>
              </a:rPr>
              <a:t>皆有使用類似的</a:t>
            </a:r>
            <a:r>
              <a:rPr lang="en-US" altLang="zh-TW" dirty="0">
                <a:solidFill>
                  <a:srgbClr val="222222"/>
                </a:solidFill>
                <a:latin typeface="Arial" panose="020B0604020202020204" pitchFamily="34" charset="0"/>
              </a:rPr>
              <a:t>state</a:t>
            </a:r>
          </a:p>
          <a:p>
            <a:pPr>
              <a:lnSpc>
                <a:spcPct val="150000"/>
              </a:lnSpc>
            </a:pPr>
            <a:endParaRPr lang="en-US" altLang="zh-TW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696429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563DB7CC-6AEB-2503-C344-54CB492DF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993" y="0"/>
            <a:ext cx="3689097" cy="6864208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文獻架構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40"/>
            <a:ext cx="6758125" cy="451321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訓練使用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PPO</a:t>
            </a: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輸入為以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Job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為單位，每個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Job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中有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個長度為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6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的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vector</a:t>
            </a: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之後在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reshape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成以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Op-M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pair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為單位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而論文解的是動態問題，故工單數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N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是可以變動的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869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文獻架構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1" y="1844040"/>
            <a:ext cx="5878560" cy="451321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在網路中計算是以長度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6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的向量維單位數入，網路中權重只對向量做計算，在將輸出值放到矩陣中。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所以即使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Job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數量增加，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state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和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action space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的矩陣變大，網路依然可以運行。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就此邏輯來說，機台數應該也是可以變得，但可能實際運用上沒有需求，故沒有使用。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8634E447-B501-742E-A426-5B79A1141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5128" y="1080363"/>
            <a:ext cx="5068007" cy="53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655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 訓練設置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62D4DC3-550F-9D2B-24BD-DA869DCFDB90}"/>
              </a:ext>
            </a:extLst>
          </p:cNvPr>
          <p:cNvSpPr txBox="1">
            <a:spLocks/>
          </p:cNvSpPr>
          <p:nvPr/>
        </p:nvSpPr>
        <p:spPr>
          <a:xfrm>
            <a:off x="1151004" y="1720616"/>
            <a:ext cx="7749155" cy="373965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1800" dirty="0"/>
              <a:t>測試集和上次相同</a:t>
            </a:r>
            <a:endParaRPr lang="en-US" altLang="zh-TW" sz="1800" dirty="0"/>
          </a:p>
          <a:p>
            <a:pPr>
              <a:lnSpc>
                <a:spcPct val="150000"/>
              </a:lnSpc>
            </a:pPr>
            <a:r>
              <a:rPr lang="zh-TW" altLang="en-US" sz="1800" dirty="0"/>
              <a:t>訓練集在文獻中使用的是生成的資料</a:t>
            </a:r>
            <a:endParaRPr lang="en-US" altLang="zh-TW" sz="1800" dirty="0"/>
          </a:p>
          <a:p>
            <a:pPr>
              <a:lnSpc>
                <a:spcPct val="150000"/>
              </a:lnSpc>
            </a:pPr>
            <a:r>
              <a:rPr lang="zh-TW" altLang="en-US" sz="1800" dirty="0"/>
              <a:t>先使用與測試集相同尺寸的實例訓練</a:t>
            </a:r>
            <a:endParaRPr lang="en-US" altLang="zh-TW" sz="1800" dirty="0"/>
          </a:p>
          <a:p>
            <a:pPr>
              <a:lnSpc>
                <a:spcPct val="150000"/>
              </a:lnSpc>
            </a:pPr>
            <a:r>
              <a:rPr lang="zh-TW" altLang="en-US" sz="1800" dirty="0"/>
              <a:t>超參數設置如右表</a:t>
            </a:r>
            <a:endParaRPr lang="en-US" altLang="zh-TW" sz="1800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3CC80C2-E258-D99D-C88E-F56BA2A8F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8683" y="3429000"/>
            <a:ext cx="5820587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315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0A73C8F-F0DE-E455-8A43-AB570217A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45200"/>
            <a:ext cx="12192000" cy="36759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8936BF40-A32C-2E3F-094D-DE6169C63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835" y="2124011"/>
            <a:ext cx="10876162" cy="185258"/>
          </a:xfrm>
          <a:prstGeom prst="rect">
            <a:avLst/>
          </a:prstGeom>
        </p:spPr>
      </p:pic>
      <p:pic>
        <p:nvPicPr>
          <p:cNvPr id="6" name="圖片 5" descr="一張含有 文字, 圖表, 行, 繪圖 的圖片&#10;&#10;AI 產生的內容可能不正確。">
            <a:extLst>
              <a:ext uri="{FF2B5EF4-FFF2-40B4-BE49-F238E27FC236}">
                <a16:creationId xmlns:a16="http://schemas.microsoft.com/office/drawing/2014/main" id="{F4B13FCD-F33F-3E1B-F037-A43D3E577C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066" y="2386007"/>
            <a:ext cx="3743214" cy="4494377"/>
          </a:xfrm>
          <a:prstGeom prst="rect">
            <a:avLst/>
          </a:prstGeom>
        </p:spPr>
      </p:pic>
      <p:pic>
        <p:nvPicPr>
          <p:cNvPr id="8" name="圖片 7" descr="一張含有 螢幕擷取畫面, 鮮豔, 行, Rectangle 的圖片&#10;&#10;AI 產生的內容可能不正確。">
            <a:extLst>
              <a:ext uri="{FF2B5EF4-FFF2-40B4-BE49-F238E27FC236}">
                <a16:creationId xmlns:a16="http://schemas.microsoft.com/office/drawing/2014/main" id="{2C002EB5-DBFB-AA9F-01CE-A18BAE8E64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7560"/>
            <a:ext cx="8045077" cy="201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745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0A73C8F-F0DE-E455-8A43-AB570217A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684245"/>
            <a:ext cx="12192000" cy="36759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F7617DE-DDA3-1CA4-EEBF-A87B97F86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617" y="2104654"/>
            <a:ext cx="10788666" cy="160911"/>
          </a:xfrm>
          <a:prstGeom prst="rect">
            <a:avLst/>
          </a:prstGeom>
        </p:spPr>
      </p:pic>
      <p:pic>
        <p:nvPicPr>
          <p:cNvPr id="7" name="圖片 6" descr="一張含有 文字, 行, 筆跡, 圖表 的圖片&#10;&#10;AI 產生的內容可能不正確。">
            <a:extLst>
              <a:ext uri="{FF2B5EF4-FFF2-40B4-BE49-F238E27FC236}">
                <a16:creationId xmlns:a16="http://schemas.microsoft.com/office/drawing/2014/main" id="{4DF34964-80FD-D9B1-47BD-584610CC7F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6849" y="2288419"/>
            <a:ext cx="3805848" cy="4569581"/>
          </a:xfrm>
          <a:prstGeom prst="rect">
            <a:avLst/>
          </a:prstGeom>
        </p:spPr>
      </p:pic>
      <p:pic>
        <p:nvPicPr>
          <p:cNvPr id="12" name="圖片 11" descr="一張含有 螢幕擷取畫面, 鮮豔, 行, Rectangle 的圖片&#10;&#10;AI 產生的內容可能不正確。">
            <a:extLst>
              <a:ext uri="{FF2B5EF4-FFF2-40B4-BE49-F238E27FC236}">
                <a16:creationId xmlns:a16="http://schemas.microsoft.com/office/drawing/2014/main" id="{F9DA58CF-F76C-1DC4-2DF2-C4DF30EB37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500123"/>
            <a:ext cx="7945115" cy="198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718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0A73C8F-F0DE-E455-8A43-AB570217A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45195"/>
            <a:ext cx="12192000" cy="36759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946E992-D31B-C175-3BB6-CA9D079F4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005" y="2175296"/>
            <a:ext cx="10751118" cy="189413"/>
          </a:xfrm>
          <a:prstGeom prst="rect">
            <a:avLst/>
          </a:prstGeom>
        </p:spPr>
      </p:pic>
      <p:pic>
        <p:nvPicPr>
          <p:cNvPr id="7" name="圖片 6" descr="一張含有 鮮豔, 圖表, 行, 繪圖 的圖片&#10;&#10;AI 產生的內容可能不正確。">
            <a:extLst>
              <a:ext uri="{FF2B5EF4-FFF2-40B4-BE49-F238E27FC236}">
                <a16:creationId xmlns:a16="http://schemas.microsoft.com/office/drawing/2014/main" id="{0C343919-A17F-2AD8-23CA-B238B78689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71821"/>
            <a:ext cx="7812104" cy="1953026"/>
          </a:xfrm>
          <a:prstGeom prst="rect">
            <a:avLst/>
          </a:prstGeom>
        </p:spPr>
      </p:pic>
      <p:pic>
        <p:nvPicPr>
          <p:cNvPr id="12" name="圖片 11" descr="一張含有 文字, 筆跡, 行, 圖表 的圖片&#10;&#10;AI 產生的內容可能不正確。">
            <a:extLst>
              <a:ext uri="{FF2B5EF4-FFF2-40B4-BE49-F238E27FC236}">
                <a16:creationId xmlns:a16="http://schemas.microsoft.com/office/drawing/2014/main" id="{FCDBB135-D9B7-FDA1-0289-DBF3302A3B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103" y="2435667"/>
            <a:ext cx="3683211" cy="442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085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 descr="一張含有 螢幕擷取畫面, 鮮豔, 圖表, Rectangle 的圖片&#10;&#10;AI 產生的內容可能不正確。">
            <a:extLst>
              <a:ext uri="{FF2B5EF4-FFF2-40B4-BE49-F238E27FC236}">
                <a16:creationId xmlns:a16="http://schemas.microsoft.com/office/drawing/2014/main" id="{03ACA25C-6A59-95FC-42CD-FBF2EC1166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5" y="2445848"/>
            <a:ext cx="7926910" cy="396345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0A73C8F-F0DE-E455-8A43-AB570217A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736493"/>
            <a:ext cx="12192000" cy="36759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A58AC81-406C-FBE5-1B4B-8C0ECA23D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164" y="2214366"/>
            <a:ext cx="11040995" cy="181000"/>
          </a:xfrm>
          <a:prstGeom prst="rect">
            <a:avLst/>
          </a:prstGeom>
        </p:spPr>
      </p:pic>
      <p:pic>
        <p:nvPicPr>
          <p:cNvPr id="7" name="圖片 6" descr="一張含有 文字, 圖表, 行, 繪圖 的圖片&#10;&#10;AI 產生的內容可能不正確。">
            <a:extLst>
              <a:ext uri="{FF2B5EF4-FFF2-40B4-BE49-F238E27FC236}">
                <a16:creationId xmlns:a16="http://schemas.microsoft.com/office/drawing/2014/main" id="{8DB387BD-E6A2-1493-E6BC-A850712253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475" y="2505641"/>
            <a:ext cx="3620507" cy="434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117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螢幕擷取畫面, 鮮豔, 正方形, Rectangle 的圖片&#10;&#10;AI 產生的內容可能不正確。">
            <a:extLst>
              <a:ext uri="{FF2B5EF4-FFF2-40B4-BE49-F238E27FC236}">
                <a16:creationId xmlns:a16="http://schemas.microsoft.com/office/drawing/2014/main" id="{F6A03A5B-BD9D-B64A-CCA2-4AB0177FC8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16627"/>
            <a:ext cx="7950927" cy="3975464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0A73C8F-F0DE-E455-8A43-AB570217A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745197"/>
            <a:ext cx="12192000" cy="36759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309F024-A6D2-DF49-FA7D-8650E4D5A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918" y="2188717"/>
            <a:ext cx="11206578" cy="198839"/>
          </a:xfrm>
          <a:prstGeom prst="rect">
            <a:avLst/>
          </a:prstGeom>
        </p:spPr>
      </p:pic>
      <p:pic>
        <p:nvPicPr>
          <p:cNvPr id="12" name="圖片 11" descr="一張含有 文字, 筆跡, 行, 圖表 的圖片&#10;&#10;AI 產生的內容可能不正確。">
            <a:extLst>
              <a:ext uri="{FF2B5EF4-FFF2-40B4-BE49-F238E27FC236}">
                <a16:creationId xmlns:a16="http://schemas.microsoft.com/office/drawing/2014/main" id="{6DE8827F-2C22-82F9-8EE1-1931F0FEDC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26" y="2357355"/>
            <a:ext cx="3720875" cy="446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18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 descr="一張含有 螢幕擷取畫面, 鮮豔, 圖表, 行 的圖片&#10;&#10;AI 產生的內容可能不正確。">
            <a:extLst>
              <a:ext uri="{FF2B5EF4-FFF2-40B4-BE49-F238E27FC236}">
                <a16:creationId xmlns:a16="http://schemas.microsoft.com/office/drawing/2014/main" id="{8AA5491B-9F86-EF29-FFB1-3023FC4ADA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91472"/>
            <a:ext cx="7813848" cy="3906923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0A73C8F-F0DE-E455-8A43-AB570217A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649409"/>
            <a:ext cx="12192000" cy="36759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2FFE063-ED0D-9238-F5F1-9EAA30134D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44" y="2068911"/>
            <a:ext cx="11216639" cy="222743"/>
          </a:xfrm>
          <a:prstGeom prst="rect">
            <a:avLst/>
          </a:prstGeom>
        </p:spPr>
      </p:pic>
      <p:pic>
        <p:nvPicPr>
          <p:cNvPr id="6" name="圖片 5" descr="一張含有 文字, 筆跡, 字型, 行 的圖片&#10;&#10;AI 產生的內容可能不正確。">
            <a:extLst>
              <a:ext uri="{FF2B5EF4-FFF2-40B4-BE49-F238E27FC236}">
                <a16:creationId xmlns:a16="http://schemas.microsoft.com/office/drawing/2014/main" id="{6B68DBDF-19B8-FFCC-0891-1BF166CCC7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3847" y="2343558"/>
            <a:ext cx="3761191" cy="451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437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0A73C8F-F0DE-E455-8A43-AB570217A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692951"/>
            <a:ext cx="12192000" cy="36759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CE63A3A8-BA9A-F86B-B8B5-25546E48B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30" y="2060549"/>
            <a:ext cx="10894976" cy="191948"/>
          </a:xfrm>
          <a:prstGeom prst="rect">
            <a:avLst/>
          </a:prstGeom>
        </p:spPr>
      </p:pic>
      <p:pic>
        <p:nvPicPr>
          <p:cNvPr id="7" name="圖片 6" descr="一張含有 螢幕擷取畫面, 鮮豔, 圖表, 正方形 的圖片&#10;&#10;AI 產生的內容可能不正確。">
            <a:extLst>
              <a:ext uri="{FF2B5EF4-FFF2-40B4-BE49-F238E27FC236}">
                <a16:creationId xmlns:a16="http://schemas.microsoft.com/office/drawing/2014/main" id="{5F69EFF8-C65A-8C84-C8D7-34F94575B8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16902"/>
            <a:ext cx="8508990" cy="4254495"/>
          </a:xfrm>
          <a:prstGeom prst="rect">
            <a:avLst/>
          </a:prstGeom>
        </p:spPr>
      </p:pic>
      <p:pic>
        <p:nvPicPr>
          <p:cNvPr id="12" name="圖片 11" descr="一張含有 文字, 行, 字型, 圖表 的圖片&#10;&#10;AI 產生的內容可能不正確。">
            <a:extLst>
              <a:ext uri="{FF2B5EF4-FFF2-40B4-BE49-F238E27FC236}">
                <a16:creationId xmlns:a16="http://schemas.microsoft.com/office/drawing/2014/main" id="{27425B3E-CE5E-492E-11E1-B92453BFA8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8989" y="2410332"/>
            <a:ext cx="3465610" cy="416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505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可能原因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39"/>
            <a:ext cx="11534531" cy="436584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/>
              <a:t>生成的</a:t>
            </a:r>
            <a:r>
              <a:rPr lang="en-US" altLang="zh-TW" dirty="0"/>
              <a:t>Data</a:t>
            </a:r>
            <a:r>
              <a:rPr lang="zh-TW" altLang="en-US" dirty="0"/>
              <a:t>太爛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單目標與論文的多目標差異的影響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論文中還有其他方法沒注意到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超參數不適用於此狀況</a:t>
            </a:r>
            <a:endParaRPr lang="en-US" altLang="zh-TW" dirty="0"/>
          </a:p>
          <a:p>
            <a:pPr marL="0" indent="0">
              <a:lnSpc>
                <a:spcPct val="150000"/>
              </a:lnSpc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425988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換資料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39"/>
            <a:ext cx="11534531" cy="436584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/>
              <a:t>使用</a:t>
            </a:r>
            <a:r>
              <a:rPr lang="en-US" altLang="zh-TW" dirty="0" err="1"/>
              <a:t>Hurink</a:t>
            </a:r>
            <a:r>
              <a:rPr lang="zh-TW" altLang="en-US" dirty="0"/>
              <a:t> </a:t>
            </a:r>
            <a:r>
              <a:rPr lang="en-US" altLang="zh-TW" dirty="0" err="1"/>
              <a:t>eData</a:t>
            </a:r>
            <a:r>
              <a:rPr lang="en-US" altLang="zh-TW" dirty="0"/>
              <a:t>, </a:t>
            </a:r>
            <a:r>
              <a:rPr lang="en-US" altLang="zh-TW" dirty="0" err="1"/>
              <a:t>vData</a:t>
            </a:r>
            <a:r>
              <a:rPr lang="zh-TW" altLang="en-US" dirty="0"/>
              <a:t> 和 </a:t>
            </a:r>
            <a:r>
              <a:rPr lang="en-US" altLang="zh-TW" dirty="0" err="1"/>
              <a:t>rData</a:t>
            </a:r>
            <a:r>
              <a:rPr lang="zh-TW" altLang="en-US" dirty="0"/>
              <a:t>當作訓練資料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共</a:t>
            </a:r>
            <a:r>
              <a:rPr lang="en-US" altLang="zh-TW" dirty="0"/>
              <a:t>14</a:t>
            </a:r>
            <a:r>
              <a:rPr lang="zh-TW" altLang="en-US" dirty="0"/>
              <a:t>個實例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057895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17</a:t>
            </a:fld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0A73C8F-F0DE-E455-8A43-AB570217A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45200"/>
            <a:ext cx="12192000" cy="36759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8936BF40-A32C-2E3F-094D-DE6169C63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835" y="2124011"/>
            <a:ext cx="10876162" cy="18525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8CECEBD-C14C-32EB-35AD-2DEB06C273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0810" y="2310192"/>
            <a:ext cx="3787715" cy="454780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9D0EBA7-2C99-A1CB-FA37-5B2344A615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21876"/>
            <a:ext cx="7820810" cy="1955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144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18</a:t>
            </a:fld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0A73C8F-F0DE-E455-8A43-AB570217A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684245"/>
            <a:ext cx="12192000" cy="36759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F7617DE-DDA3-1CA4-EEBF-A87B97F86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617" y="2104654"/>
            <a:ext cx="10788666" cy="16091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21B119DD-507D-7B39-E186-71B473BC66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0005" y="2365264"/>
            <a:ext cx="3743685" cy="449494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E63FDCD-01FA-55A8-AA36-C1A9D548B3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4003834"/>
            <a:ext cx="7830005" cy="1957501"/>
          </a:xfrm>
          <a:prstGeom prst="rect">
            <a:avLst/>
          </a:prstGeom>
        </p:spPr>
      </p:pic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D8D7B94B-7355-1264-9F48-381023227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046" y="2389433"/>
            <a:ext cx="7420964" cy="19887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/>
              <a:t>除了</a:t>
            </a:r>
            <a:r>
              <a:rPr lang="en-US" altLang="zh-TW" dirty="0"/>
              <a:t>10*5</a:t>
            </a:r>
            <a:r>
              <a:rPr lang="zh-TW" altLang="en-US" dirty="0"/>
              <a:t>外，其他結果依就很差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進行超參數調整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88958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19</a:t>
            </a:fld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0A73C8F-F0DE-E455-8A43-AB570217A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684245"/>
            <a:ext cx="12192000" cy="36759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F7617DE-DDA3-1CA4-EEBF-A87B97F86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617" y="2104654"/>
            <a:ext cx="10788666" cy="160911"/>
          </a:xfrm>
          <a:prstGeom prst="rect">
            <a:avLst/>
          </a:prstGeom>
        </p:spPr>
      </p:pic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D8D7B94B-7355-1264-9F48-381023227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046" y="2389433"/>
            <a:ext cx="7420964" cy="19887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/>
              <a:t>調整後並無變好</a:t>
            </a:r>
            <a:endParaRPr lang="en-US" altLang="zh-TW" dirty="0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327F9B1B-D811-69DA-A6CD-3F6F83FB1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4838" y="2362472"/>
            <a:ext cx="3744172" cy="449552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E2D12A5-34AD-98B3-2BCF-DA9E863D7E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510861"/>
            <a:ext cx="7929520" cy="198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363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基於上次可能的改進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39"/>
            <a:ext cx="11791680" cy="436584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/>
              <a:t>將</a:t>
            </a:r>
            <a:r>
              <a:rPr lang="en-US" altLang="zh-TW" dirty="0"/>
              <a:t>state</a:t>
            </a:r>
            <a:r>
              <a:rPr lang="zh-TW" altLang="en-US" dirty="0"/>
              <a:t>的值保留，並將動態</a:t>
            </a:r>
            <a:r>
              <a:rPr lang="en-US" altLang="zh-TW" dirty="0"/>
              <a:t>state</a:t>
            </a:r>
            <a:r>
              <a:rPr lang="zh-TW" altLang="en-US" dirty="0"/>
              <a:t>改為和論文一樣的大矩陣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除了論文中的動態工單數</a:t>
            </a:r>
            <a:r>
              <a:rPr lang="en-US" altLang="zh-TW" dirty="0"/>
              <a:t>N</a:t>
            </a:r>
          </a:p>
          <a:p>
            <a:pPr>
              <a:lnSpc>
                <a:spcPct val="150000"/>
              </a:lnSpc>
            </a:pPr>
            <a:r>
              <a:rPr lang="zh-TW" altLang="en-US" dirty="0"/>
              <a:t>還可設定一個較大的工單數與機台數，並用較大的實例訓練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雖然</a:t>
            </a:r>
            <a:r>
              <a:rPr lang="en-US" altLang="zh-TW" dirty="0"/>
              <a:t>PPO</a:t>
            </a:r>
            <a:r>
              <a:rPr lang="zh-TW" altLang="en-US" dirty="0"/>
              <a:t>網路的輸入尺寸需為固定值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但如果在</a:t>
            </a:r>
            <a:r>
              <a:rPr lang="en-US" altLang="zh-TW" dirty="0"/>
              <a:t>Job = 20, M = 10</a:t>
            </a:r>
            <a:r>
              <a:rPr lang="zh-TW" altLang="en-US" dirty="0"/>
              <a:t>的網路上，將</a:t>
            </a:r>
            <a:r>
              <a:rPr lang="en-US" altLang="zh-TW" dirty="0"/>
              <a:t>state</a:t>
            </a:r>
            <a:r>
              <a:rPr lang="zh-TW" altLang="en-US" dirty="0"/>
              <a:t>中</a:t>
            </a:r>
            <a:r>
              <a:rPr lang="en-US" altLang="zh-TW" dirty="0"/>
              <a:t>Job11~20, M6~10</a:t>
            </a:r>
            <a:r>
              <a:rPr lang="zh-TW" altLang="en-US" dirty="0"/>
              <a:t>當作初始時間就完工的工單和所有工單都不能加工的機台，或許就可以實現排程</a:t>
            </a:r>
            <a:r>
              <a:rPr lang="en-US" altLang="zh-TW" dirty="0"/>
              <a:t>Job = 10 M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5</a:t>
            </a:r>
            <a:r>
              <a:rPr lang="zh-TW" altLang="en-US" dirty="0"/>
              <a:t>的問題。</a:t>
            </a:r>
            <a:endParaRPr lang="en-US" altLang="zh-TW" dirty="0"/>
          </a:p>
          <a:p>
            <a:pPr>
              <a:lnSpc>
                <a:spcPct val="150000"/>
              </a:lnSpc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90277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1FDE61-E3D2-E6BC-0F9F-9A422FAE07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</a:t>
            </a:r>
            <a:r>
              <a:rPr lang="zh-TW" altLang="en-US" dirty="0"/>
              <a:t> </a:t>
            </a:r>
            <a:r>
              <a:rPr lang="en-US" altLang="zh-TW" dirty="0"/>
              <a:t>END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6F3F00-E9C9-CE25-63F7-48B11D19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21</a:t>
            </a:fld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01CA2B-8F20-5B3D-72AC-0153AA21F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3293835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自訂 2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789D89"/>
      </a:accent1>
      <a:accent2>
        <a:srgbClr val="789D89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rgbClr val="C00000"/>
        </a:solidFill>
      </a:spPr>
      <a:bodyPr rtlCol="0" anchor="ctr"/>
      <a:lstStyle>
        <a:defPPr algn="ctr">
          <a:defRPr sz="3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126206</TotalTime>
  <Words>801</Words>
  <Application>Microsoft Office PowerPoint</Application>
  <PresentationFormat>寬螢幕</PresentationFormat>
  <Paragraphs>109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7" baseType="lpstr">
      <vt:lpstr>微軟正黑體</vt:lpstr>
      <vt:lpstr>Abadi</vt:lpstr>
      <vt:lpstr>Arial</vt:lpstr>
      <vt:lpstr>Calibri</vt:lpstr>
      <vt:lpstr>Cascadia Code</vt:lpstr>
      <vt:lpstr>回顧</vt:lpstr>
      <vt:lpstr>PPO Base On Paper</vt:lpstr>
      <vt:lpstr>文獻選擇、Reward、Action</vt:lpstr>
      <vt:lpstr>文獻State</vt:lpstr>
      <vt:lpstr>文獻State</vt:lpstr>
      <vt:lpstr>文獻架構</vt:lpstr>
      <vt:lpstr>文獻架構</vt:lpstr>
      <vt:lpstr>PPO 訓練設置</vt:lpstr>
      <vt:lpstr>PPO結果</vt:lpstr>
      <vt:lpstr>PPO結果</vt:lpstr>
      <vt:lpstr>PPO結果</vt:lpstr>
      <vt:lpstr>PPO結果</vt:lpstr>
      <vt:lpstr>PPO結果</vt:lpstr>
      <vt:lpstr>PPO結果</vt:lpstr>
      <vt:lpstr>PPO結果</vt:lpstr>
      <vt:lpstr>可能原因</vt:lpstr>
      <vt:lpstr>換資料</vt:lpstr>
      <vt:lpstr>PPO結果</vt:lpstr>
      <vt:lpstr>PPO結果</vt:lpstr>
      <vt:lpstr>PPO結果</vt:lpstr>
      <vt:lpstr>基於上次可能的改進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電容錯誤偵測</dc:title>
  <dc:creator>陳佳伶</dc:creator>
  <cp:lastModifiedBy>lab643</cp:lastModifiedBy>
  <cp:revision>803</cp:revision>
  <dcterms:created xsi:type="dcterms:W3CDTF">2022-03-03T14:40:23Z</dcterms:created>
  <dcterms:modified xsi:type="dcterms:W3CDTF">2025-10-13T05:18:01Z</dcterms:modified>
</cp:coreProperties>
</file>