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1"/>
  </p:notesMasterIdLst>
  <p:sldIdLst>
    <p:sldId id="942" r:id="rId2"/>
    <p:sldId id="947" r:id="rId3"/>
    <p:sldId id="968" r:id="rId4"/>
    <p:sldId id="978" r:id="rId5"/>
    <p:sldId id="979" r:id="rId6"/>
    <p:sldId id="981" r:id="rId7"/>
    <p:sldId id="980" r:id="rId8"/>
    <p:sldId id="982" r:id="rId9"/>
    <p:sldId id="985" r:id="rId10"/>
    <p:sldId id="986" r:id="rId11"/>
    <p:sldId id="971" r:id="rId12"/>
    <p:sldId id="983" r:id="rId13"/>
    <p:sldId id="984" r:id="rId14"/>
    <p:sldId id="969" r:id="rId15"/>
    <p:sldId id="954" r:id="rId16"/>
    <p:sldId id="987" r:id="rId17"/>
    <p:sldId id="989" r:id="rId18"/>
    <p:sldId id="988" r:id="rId19"/>
    <p:sldId id="93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70AD47"/>
    <a:srgbClr val="3F6EC2"/>
    <a:srgbClr val="ED7D31"/>
    <a:srgbClr val="C00000"/>
    <a:srgbClr val="4E799B"/>
    <a:srgbClr val="FFAD39"/>
    <a:srgbClr val="FF9966"/>
    <a:srgbClr val="B0966A"/>
    <a:srgbClr val="CA62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佈景主題樣式 2 - 輔色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796" autoAdjust="0"/>
  </p:normalViewPr>
  <p:slideViewPr>
    <p:cSldViewPr snapToGrid="0">
      <p:cViewPr varScale="1">
        <p:scale>
          <a:sx n="107" d="100"/>
          <a:sy n="107" d="100"/>
        </p:scale>
        <p:origin x="672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1842FF-CB32-43DF-B9FE-65EF665875B2}" type="datetimeFigureOut">
              <a:rPr lang="zh-TW" altLang="en-US" smtClean="0"/>
              <a:t>2025/10/18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6E097C-2611-49AA-93D4-A0110E9A53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6620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1960880"/>
            <a:ext cx="10058400" cy="1210733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5400" spc="-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6218" y="4064624"/>
            <a:ext cx="10058400" cy="1143000"/>
          </a:xfrm>
        </p:spPr>
        <p:txBody>
          <a:bodyPr lIns="91440" rIns="9144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 dirty="0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414A-AA3B-479F-9443-E87E6DB2D303}" type="datetime1">
              <a:rPr lang="zh-TW" altLang="en-US" smtClean="0"/>
              <a:t>2025/10/18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385064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Taipei Tech logo">
            <a:extLst>
              <a:ext uri="{FF2B5EF4-FFF2-40B4-BE49-F238E27FC236}">
                <a16:creationId xmlns:a16="http://schemas.microsoft.com/office/drawing/2014/main" id="{C84FB869-60CA-1359-A1A9-972FEE00D5E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573" y="82333"/>
            <a:ext cx="1109133" cy="65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A8FE2F8E-0A2C-6F39-816C-42C1E17339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328" y="180909"/>
            <a:ext cx="3740342" cy="558829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59E7AFDF-5951-D557-114F-9D59ED13850D}"/>
              </a:ext>
            </a:extLst>
          </p:cNvPr>
          <p:cNvSpPr/>
          <p:nvPr userDrawn="1"/>
        </p:nvSpPr>
        <p:spPr>
          <a:xfrm>
            <a:off x="1" y="1632361"/>
            <a:ext cx="854110" cy="233526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7F597C5-038F-02ED-F1C7-CE412689C651}"/>
              </a:ext>
            </a:extLst>
          </p:cNvPr>
          <p:cNvSpPr/>
          <p:nvPr userDrawn="1"/>
        </p:nvSpPr>
        <p:spPr>
          <a:xfrm>
            <a:off x="11337885" y="1632360"/>
            <a:ext cx="854110" cy="233526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154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1005" y="997522"/>
            <a:ext cx="9562253" cy="545671"/>
          </a:xfrm>
        </p:spPr>
        <p:txBody>
          <a:bodyPr>
            <a:noAutofit/>
          </a:bodyPr>
          <a:lstStyle>
            <a:lvl1pPr marL="0">
              <a:defRPr sz="400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64139-FB37-44CF-9649-84761977F7A6}" type="datetime1">
              <a:rPr lang="zh-TW" altLang="en-US" smtClean="0"/>
              <a:t>2025/10/18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14E0F19-E296-C08D-6CCC-3FFA4780209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24280" y="1844040"/>
            <a:ext cx="10012680" cy="4307840"/>
          </a:xfrm>
        </p:spPr>
        <p:txBody>
          <a:bodyPr/>
          <a:lstStyle>
            <a:lvl1pPr marL="91440" indent="-9144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400"/>
            </a:lvl1pPr>
            <a:lvl2pPr marL="38404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/>
            </a:lvl2pPr>
            <a:lvl3pPr marL="56692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3pPr>
            <a:lvl4pPr marL="74980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4pPr>
            <a:lvl5pPr marL="93268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zh-TW" altLang="en-US" dirty="0"/>
              <a:t> 按一下以編輯母片文字樣式</a:t>
            </a:r>
          </a:p>
          <a:p>
            <a:pPr lvl="1"/>
            <a:r>
              <a:rPr lang="zh-TW" altLang="en-US" dirty="0"/>
              <a:t> 第二層</a:t>
            </a:r>
          </a:p>
          <a:p>
            <a:pPr lvl="2"/>
            <a:r>
              <a:rPr lang="zh-TW" altLang="en-US" dirty="0"/>
              <a:t> 第三層</a:t>
            </a:r>
          </a:p>
          <a:p>
            <a:pPr lvl="3"/>
            <a:r>
              <a:rPr lang="zh-TW" altLang="en-US" dirty="0"/>
              <a:t> 第四層</a:t>
            </a:r>
          </a:p>
          <a:p>
            <a:pPr lvl="4"/>
            <a:r>
              <a:rPr lang="zh-TW" altLang="en-US" dirty="0"/>
              <a:t> 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291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6B276-F255-4EEC-8D40-1223573FF8B6}" type="datetime1">
              <a:rPr lang="zh-TW" altLang="en-US" smtClean="0"/>
              <a:t>2025/10/18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ED32E87-AE6C-472D-9A09-3ECFE3A03479}"/>
              </a:ext>
            </a:extLst>
          </p:cNvPr>
          <p:cNvSpPr/>
          <p:nvPr userDrawn="1"/>
        </p:nvSpPr>
        <p:spPr>
          <a:xfrm>
            <a:off x="0" y="0"/>
            <a:ext cx="367200" cy="558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F9B39C-AD5F-C429-CFBC-3A61DB623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880" y="33090"/>
            <a:ext cx="9562253" cy="545671"/>
          </a:xfrm>
        </p:spPr>
        <p:txBody>
          <a:bodyPr>
            <a:noAutofit/>
          </a:bodyPr>
          <a:lstStyle>
            <a:lvl1pPr marL="0">
              <a:defRPr sz="320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BBEB8-4775-A21F-4CBB-D3B6B1972A8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8640" y="911014"/>
            <a:ext cx="11247120" cy="5240866"/>
          </a:xfrm>
        </p:spPr>
        <p:txBody>
          <a:bodyPr/>
          <a:lstStyle>
            <a:lvl1pPr marL="91440" indent="-9144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400"/>
            </a:lvl1pPr>
            <a:lvl2pPr marL="38404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/>
            </a:lvl2pPr>
            <a:lvl3pPr marL="56692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3pPr>
            <a:lvl4pPr marL="74980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4pPr>
            <a:lvl5pPr marL="93268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zh-TW" altLang="en-US" dirty="0"/>
              <a:t> 按一下以編輯母片文字樣式</a:t>
            </a:r>
          </a:p>
          <a:p>
            <a:pPr lvl="1"/>
            <a:r>
              <a:rPr lang="zh-TW" altLang="en-US" dirty="0"/>
              <a:t> 第二層</a:t>
            </a:r>
          </a:p>
          <a:p>
            <a:pPr lvl="2"/>
            <a:r>
              <a:rPr lang="zh-TW" altLang="en-US" dirty="0"/>
              <a:t> 第三層</a:t>
            </a:r>
          </a:p>
          <a:p>
            <a:pPr lvl="3"/>
            <a:r>
              <a:rPr lang="zh-TW" altLang="en-US" dirty="0"/>
              <a:t> 第四層</a:t>
            </a:r>
          </a:p>
          <a:p>
            <a:pPr lvl="4"/>
            <a:r>
              <a:rPr lang="zh-TW" altLang="en-US" dirty="0"/>
              <a:t> 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997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9F5CB97-E547-425F-B1EF-51E6D4EAC77F}" type="datetime1">
              <a:rPr lang="zh-TW" altLang="en-US" smtClean="0"/>
              <a:t>2025/10/18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1996F8-0416-4C00-B84C-381F9A6A2E9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23565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2BE65-6E56-49AE-80DA-7E1BCEC842BD}" type="datetime1">
              <a:rPr lang="zh-TW" altLang="en-US" smtClean="0"/>
              <a:t>2025/10/18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Smart Production and System Simulation Lab</a:t>
            </a: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7800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714" y="6515590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fld id="{459D13DB-F681-4B20-BE28-C9CE0BB35DC9}" type="datetime1">
              <a:rPr lang="zh-TW" altLang="en-US" smtClean="0"/>
              <a:pPr/>
              <a:t>2025/10/18</a:t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571397"/>
            <a:ext cx="4822804" cy="2535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none" baseline="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r>
              <a:rPr lang="en-US" altLang="zh-TW"/>
              <a:t>Smart Production and System Simulation Lab</a:t>
            </a:r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132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fld id="{F61996F8-0416-4C00-B84C-381F9A6A2E9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296F0BE3-5357-4671-AC41-EE354106F685}"/>
              </a:ext>
            </a:extLst>
          </p:cNvPr>
          <p:cNvSpPr/>
          <p:nvPr userDrawn="1"/>
        </p:nvSpPr>
        <p:spPr>
          <a:xfrm>
            <a:off x="0" y="0"/>
            <a:ext cx="367200" cy="558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26" name="Picture 2" descr="Taipei Tech logo">
            <a:extLst>
              <a:ext uri="{FF2B5EF4-FFF2-40B4-BE49-F238E27FC236}">
                <a16:creationId xmlns:a16="http://schemas.microsoft.com/office/drawing/2014/main" id="{B93B3042-4014-4658-5163-E5664504D9C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687" y="76285"/>
            <a:ext cx="1109133" cy="65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9624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703" r:id="rId3"/>
    <p:sldLayoutId id="2147483704" r:id="rId4"/>
    <p:sldLayoutId id="2147483707" r:id="rId5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FFB725-A3BC-1735-E5D3-E841251F3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1960880"/>
            <a:ext cx="10058400" cy="1556043"/>
          </a:xfrm>
        </p:spPr>
        <p:txBody>
          <a:bodyPr>
            <a:normAutofit/>
          </a:bodyPr>
          <a:lstStyle/>
          <a:p>
            <a:r>
              <a:rPr lang="en-US" altLang="zh-TW" dirty="0"/>
              <a:t>PPO Base On Paper</a:t>
            </a:r>
            <a:r>
              <a:rPr lang="zh-TW" altLang="en-US" dirty="0"/>
              <a:t> </a:t>
            </a:r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B61C99B-68D5-06B4-0619-45FF2CD5F2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李信翰</a:t>
            </a:r>
            <a:endParaRPr lang="en-US" altLang="zh-TW" dirty="0"/>
          </a:p>
          <a:p>
            <a:r>
              <a:rPr lang="en-US" altLang="zh-TW" dirty="0"/>
              <a:t>2025/10/14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829393D-EB17-0B9B-F7A1-7EBE72096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Smart Production and System Simulation Lab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310FEA9-4B06-E7EE-E0A0-84370D4EC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pPr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67401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Ep</a:t>
            </a:r>
            <a:r>
              <a:rPr lang="zh-TW" altLang="en-US" dirty="0"/>
              <a:t>內多個</a:t>
            </a:r>
            <a:r>
              <a:rPr lang="en-US" altLang="zh-TW" dirty="0"/>
              <a:t>instance vs </a:t>
            </a:r>
            <a:r>
              <a:rPr lang="zh-TW" altLang="en-US" dirty="0"/>
              <a:t>一個</a:t>
            </a:r>
            <a:r>
              <a:rPr lang="en-US" altLang="zh-TW" dirty="0"/>
              <a:t>instance</a:t>
            </a:r>
            <a:r>
              <a:rPr lang="zh-TW" altLang="en-US" dirty="0"/>
              <a:t>多個</a:t>
            </a:r>
            <a:r>
              <a:rPr lang="en-US" altLang="zh-TW" dirty="0"/>
              <a:t>Ep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329850" cy="545671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主要改動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: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TW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C87984A-ACF9-5811-4565-2C8BE3FEE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660" y="2629621"/>
            <a:ext cx="5298576" cy="3590254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3A9058FF-EE13-980C-E25C-A3ADAE267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764" y="2629621"/>
            <a:ext cx="4822804" cy="3660283"/>
          </a:xfrm>
          <a:prstGeom prst="rect">
            <a:avLst/>
          </a:prstGeom>
        </p:spPr>
      </p:pic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01AEEF4A-2AB1-D121-464C-034AD613B119}"/>
              </a:ext>
            </a:extLst>
          </p:cNvPr>
          <p:cNvSpPr/>
          <p:nvPr/>
        </p:nvSpPr>
        <p:spPr>
          <a:xfrm>
            <a:off x="5486296" y="4231341"/>
            <a:ext cx="743635" cy="545671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481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比較</a:t>
            </a:r>
            <a:r>
              <a:rPr lang="en-US" altLang="zh-TW" dirty="0"/>
              <a:t>1-</a:t>
            </a:r>
            <a:r>
              <a:rPr lang="zh-TW" altLang="en-US" dirty="0"/>
              <a:t> </a:t>
            </a:r>
            <a:r>
              <a:rPr lang="en-US" altLang="zh-TW" dirty="0"/>
              <a:t>15</a:t>
            </a:r>
            <a:r>
              <a:rPr lang="zh-TW" altLang="en-US" dirty="0"/>
              <a:t>*</a:t>
            </a:r>
            <a:r>
              <a:rPr lang="en-US" altLang="zh-TW" dirty="0"/>
              <a:t>5 (</a:t>
            </a:r>
            <a:r>
              <a:rPr lang="zh-TW" altLang="en-US" dirty="0"/>
              <a:t>訓練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3</a:t>
            </a:fld>
            <a:endParaRPr lang="zh-TW" altLang="en-US"/>
          </a:p>
        </p:txBody>
      </p:sp>
      <p:pic>
        <p:nvPicPr>
          <p:cNvPr id="11" name="圖片 10" descr="一張含有 文字, 筆跡, 圖表, 行 的圖片&#10;&#10;AI 產生的內容可能不正確。">
            <a:extLst>
              <a:ext uri="{FF2B5EF4-FFF2-40B4-BE49-F238E27FC236}">
                <a16:creationId xmlns:a16="http://schemas.microsoft.com/office/drawing/2014/main" id="{167D7573-A365-34A3-7606-34B4302D8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8573" y="2185638"/>
            <a:ext cx="3532574" cy="4241469"/>
          </a:xfrm>
          <a:prstGeom prst="rect">
            <a:avLst/>
          </a:prstGeom>
        </p:spPr>
      </p:pic>
      <p:pic>
        <p:nvPicPr>
          <p:cNvPr id="17" name="圖片 16" descr="一張含有 文字, 繪圖, 行, 圖表 的圖片&#10;&#10;AI 產生的內容可能不正確。">
            <a:extLst>
              <a:ext uri="{FF2B5EF4-FFF2-40B4-BE49-F238E27FC236}">
                <a16:creationId xmlns:a16="http://schemas.microsoft.com/office/drawing/2014/main" id="{F5958516-4429-4C81-77C5-21E9C986F2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856" y="2185637"/>
            <a:ext cx="3532576" cy="4241470"/>
          </a:xfrm>
          <a:prstGeom prst="rect">
            <a:avLst/>
          </a:prstGeom>
        </p:spPr>
      </p:pic>
      <p:sp>
        <p:nvSpPr>
          <p:cNvPr id="20" name="內容版面配置區 4">
            <a:extLst>
              <a:ext uri="{FF2B5EF4-FFF2-40B4-BE49-F238E27FC236}">
                <a16:creationId xmlns:a16="http://schemas.microsoft.com/office/drawing/2014/main" id="{7DFB7691-30BA-A4DB-A8CC-995C0E16A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329850" cy="545671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TW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/>
          </a:p>
        </p:txBody>
      </p:sp>
      <p:sp>
        <p:nvSpPr>
          <p:cNvPr id="22" name="內容版面配置區 4">
            <a:extLst>
              <a:ext uri="{FF2B5EF4-FFF2-40B4-BE49-F238E27FC236}">
                <a16:creationId xmlns:a16="http://schemas.microsoft.com/office/drawing/2014/main" id="{19CC9541-5A4E-53C3-34CF-5E2781699DE1}"/>
              </a:ext>
            </a:extLst>
          </p:cNvPr>
          <p:cNvSpPr txBox="1">
            <a:spLocks/>
          </p:cNvSpPr>
          <p:nvPr/>
        </p:nvSpPr>
        <p:spPr>
          <a:xfrm>
            <a:off x="1524218" y="1687483"/>
            <a:ext cx="3641283" cy="545671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Before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/>
          </a:p>
        </p:txBody>
      </p:sp>
      <p:sp>
        <p:nvSpPr>
          <p:cNvPr id="23" name="內容版面配置區 4">
            <a:extLst>
              <a:ext uri="{FF2B5EF4-FFF2-40B4-BE49-F238E27FC236}">
                <a16:creationId xmlns:a16="http://schemas.microsoft.com/office/drawing/2014/main" id="{58107AF5-EF95-F3A9-83B4-CF51D1E5C5B0}"/>
              </a:ext>
            </a:extLst>
          </p:cNvPr>
          <p:cNvSpPr txBox="1">
            <a:spLocks/>
          </p:cNvSpPr>
          <p:nvPr/>
        </p:nvSpPr>
        <p:spPr>
          <a:xfrm>
            <a:off x="7026502" y="1687482"/>
            <a:ext cx="3641283" cy="545671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After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2830893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比較</a:t>
            </a:r>
            <a:r>
              <a:rPr lang="en-US" altLang="zh-TW" dirty="0"/>
              <a:t>1-</a:t>
            </a:r>
            <a:r>
              <a:rPr lang="zh-TW" altLang="en-US" dirty="0"/>
              <a:t> </a:t>
            </a:r>
            <a:r>
              <a:rPr lang="en-US" altLang="zh-TW" dirty="0"/>
              <a:t>10</a:t>
            </a:r>
            <a:r>
              <a:rPr lang="zh-TW" altLang="en-US" dirty="0"/>
              <a:t>*</a:t>
            </a:r>
            <a:r>
              <a:rPr lang="en-US" altLang="zh-TW" dirty="0"/>
              <a:t>10 (</a:t>
            </a:r>
            <a:r>
              <a:rPr lang="zh-TW" altLang="en-US" dirty="0"/>
              <a:t>結果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6" name="圖片 5" descr="一張含有 螢幕擷取畫面, 鮮豔, 行 的圖片&#10;&#10;AI 產生的內容可能不正確。">
            <a:extLst>
              <a:ext uri="{FF2B5EF4-FFF2-40B4-BE49-F238E27FC236}">
                <a16:creationId xmlns:a16="http://schemas.microsoft.com/office/drawing/2014/main" id="{A9F19B83-6F8D-DB95-D260-A81AF95AF2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8324" y="4098241"/>
            <a:ext cx="9026959" cy="2256740"/>
          </a:xfrm>
          <a:prstGeom prst="rect">
            <a:avLst/>
          </a:prstGeom>
        </p:spPr>
      </p:pic>
      <p:pic>
        <p:nvPicPr>
          <p:cNvPr id="8" name="圖片 7" descr="一張含有 螢幕擷取畫面, 鮮豔, 行, 文字 的圖片&#10;&#10;AI 產生的內容可能不正確。">
            <a:extLst>
              <a:ext uri="{FF2B5EF4-FFF2-40B4-BE49-F238E27FC236}">
                <a16:creationId xmlns:a16="http://schemas.microsoft.com/office/drawing/2014/main" id="{7925B56B-1C3E-A84B-AB7B-C2FB2844FB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7724" y="1856403"/>
            <a:ext cx="9076583" cy="2269146"/>
          </a:xfrm>
          <a:prstGeom prst="rect">
            <a:avLst/>
          </a:prstGeom>
        </p:spPr>
      </p:pic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B90DBF7A-9493-AE9E-80AA-AD323AFCB0E0}"/>
              </a:ext>
            </a:extLst>
          </p:cNvPr>
          <p:cNvSpPr txBox="1">
            <a:spLocks/>
          </p:cNvSpPr>
          <p:nvPr/>
        </p:nvSpPr>
        <p:spPr>
          <a:xfrm>
            <a:off x="597420" y="2724344"/>
            <a:ext cx="3641283" cy="545671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Before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/>
          </a:p>
        </p:txBody>
      </p:sp>
      <p:sp>
        <p:nvSpPr>
          <p:cNvPr id="13" name="內容版面配置區 4">
            <a:extLst>
              <a:ext uri="{FF2B5EF4-FFF2-40B4-BE49-F238E27FC236}">
                <a16:creationId xmlns:a16="http://schemas.microsoft.com/office/drawing/2014/main" id="{6E9F9253-AEE3-2358-9BB4-61F94D38B113}"/>
              </a:ext>
            </a:extLst>
          </p:cNvPr>
          <p:cNvSpPr txBox="1">
            <a:spLocks/>
          </p:cNvSpPr>
          <p:nvPr/>
        </p:nvSpPr>
        <p:spPr>
          <a:xfrm>
            <a:off x="597421" y="4953775"/>
            <a:ext cx="3641283" cy="545671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After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2444709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比較</a:t>
            </a:r>
            <a:r>
              <a:rPr lang="en-US" altLang="zh-TW" dirty="0"/>
              <a:t>2-</a:t>
            </a:r>
            <a:r>
              <a:rPr lang="zh-TW" altLang="en-US" dirty="0"/>
              <a:t> </a:t>
            </a:r>
            <a:r>
              <a:rPr lang="en-US" altLang="zh-TW" dirty="0"/>
              <a:t>15</a:t>
            </a:r>
            <a:r>
              <a:rPr lang="zh-TW" altLang="en-US" dirty="0"/>
              <a:t>*</a:t>
            </a:r>
            <a:r>
              <a:rPr lang="en-US" altLang="zh-TW" dirty="0"/>
              <a:t>5 (</a:t>
            </a:r>
            <a:r>
              <a:rPr lang="zh-TW" altLang="en-US" dirty="0"/>
              <a:t>訓練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20" name="內容版面配置區 4">
            <a:extLst>
              <a:ext uri="{FF2B5EF4-FFF2-40B4-BE49-F238E27FC236}">
                <a16:creationId xmlns:a16="http://schemas.microsoft.com/office/drawing/2014/main" id="{7DFB7691-30BA-A4DB-A8CC-995C0E16A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329850" cy="545671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TW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/>
          </a:p>
        </p:txBody>
      </p:sp>
      <p:sp>
        <p:nvSpPr>
          <p:cNvPr id="22" name="內容版面配置區 4">
            <a:extLst>
              <a:ext uri="{FF2B5EF4-FFF2-40B4-BE49-F238E27FC236}">
                <a16:creationId xmlns:a16="http://schemas.microsoft.com/office/drawing/2014/main" id="{19CC9541-5A4E-53C3-34CF-5E2781699DE1}"/>
              </a:ext>
            </a:extLst>
          </p:cNvPr>
          <p:cNvSpPr txBox="1">
            <a:spLocks/>
          </p:cNvSpPr>
          <p:nvPr/>
        </p:nvSpPr>
        <p:spPr>
          <a:xfrm>
            <a:off x="1524218" y="1687483"/>
            <a:ext cx="3641283" cy="54567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Before</a:t>
            </a:r>
          </a:p>
        </p:txBody>
      </p:sp>
      <p:sp>
        <p:nvSpPr>
          <p:cNvPr id="23" name="內容版面配置區 4">
            <a:extLst>
              <a:ext uri="{FF2B5EF4-FFF2-40B4-BE49-F238E27FC236}">
                <a16:creationId xmlns:a16="http://schemas.microsoft.com/office/drawing/2014/main" id="{58107AF5-EF95-F3A9-83B4-CF51D1E5C5B0}"/>
              </a:ext>
            </a:extLst>
          </p:cNvPr>
          <p:cNvSpPr txBox="1">
            <a:spLocks/>
          </p:cNvSpPr>
          <p:nvPr/>
        </p:nvSpPr>
        <p:spPr>
          <a:xfrm>
            <a:off x="7026502" y="1687482"/>
            <a:ext cx="3641283" cy="545671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After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/>
          </a:p>
        </p:txBody>
      </p:sp>
      <p:pic>
        <p:nvPicPr>
          <p:cNvPr id="8" name="圖片 7" descr="一張含有 文字, 行, 圖表, 筆跡 的圖片&#10;&#10;AI 產生的內容可能不正確。">
            <a:extLst>
              <a:ext uri="{FF2B5EF4-FFF2-40B4-BE49-F238E27FC236}">
                <a16:creationId xmlns:a16="http://schemas.microsoft.com/office/drawing/2014/main" id="{0943719D-CA1D-B2DE-EB13-37213B981E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145" y="2208645"/>
            <a:ext cx="3495427" cy="4195453"/>
          </a:xfrm>
          <a:prstGeom prst="rect">
            <a:avLst/>
          </a:prstGeom>
        </p:spPr>
      </p:pic>
      <p:pic>
        <p:nvPicPr>
          <p:cNvPr id="10" name="圖片 9" descr="一張含有 文字, 行, 繪圖, 圖表 的圖片&#10;&#10;AI 產生的內容可能不正確。">
            <a:extLst>
              <a:ext uri="{FF2B5EF4-FFF2-40B4-BE49-F238E27FC236}">
                <a16:creationId xmlns:a16="http://schemas.microsoft.com/office/drawing/2014/main" id="{D3653F36-89E2-A943-9B75-0A96836A53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9430" y="2207232"/>
            <a:ext cx="3495427" cy="419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937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比較</a:t>
            </a:r>
            <a:r>
              <a:rPr lang="en-US" altLang="zh-TW" dirty="0"/>
              <a:t>2-</a:t>
            </a:r>
            <a:r>
              <a:rPr lang="zh-TW" altLang="en-US" dirty="0"/>
              <a:t> </a:t>
            </a:r>
            <a:r>
              <a:rPr lang="en-US" altLang="zh-TW" dirty="0"/>
              <a:t>10</a:t>
            </a:r>
            <a:r>
              <a:rPr lang="zh-TW" altLang="en-US" dirty="0"/>
              <a:t>*</a:t>
            </a:r>
            <a:r>
              <a:rPr lang="en-US" altLang="zh-TW" dirty="0"/>
              <a:t>10 (</a:t>
            </a:r>
            <a:r>
              <a:rPr lang="zh-TW" altLang="en-US" dirty="0"/>
              <a:t>結果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B90DBF7A-9493-AE9E-80AA-AD323AFCB0E0}"/>
              </a:ext>
            </a:extLst>
          </p:cNvPr>
          <p:cNvSpPr txBox="1">
            <a:spLocks/>
          </p:cNvSpPr>
          <p:nvPr/>
        </p:nvSpPr>
        <p:spPr>
          <a:xfrm>
            <a:off x="1308618" y="2720352"/>
            <a:ext cx="3641283" cy="545671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Before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/>
          </a:p>
        </p:txBody>
      </p:sp>
      <p:sp>
        <p:nvSpPr>
          <p:cNvPr id="13" name="內容版面配置區 4">
            <a:extLst>
              <a:ext uri="{FF2B5EF4-FFF2-40B4-BE49-F238E27FC236}">
                <a16:creationId xmlns:a16="http://schemas.microsoft.com/office/drawing/2014/main" id="{6E9F9253-AEE3-2358-9BB4-61F94D38B113}"/>
              </a:ext>
            </a:extLst>
          </p:cNvPr>
          <p:cNvSpPr txBox="1">
            <a:spLocks/>
          </p:cNvSpPr>
          <p:nvPr/>
        </p:nvSpPr>
        <p:spPr>
          <a:xfrm>
            <a:off x="7348546" y="2870111"/>
            <a:ext cx="3641283" cy="545671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After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/>
          </a:p>
        </p:txBody>
      </p:sp>
      <p:pic>
        <p:nvPicPr>
          <p:cNvPr id="7" name="圖片 6" descr="一張含有 螢幕擷取畫面, 鮮豔, 正方形, 圖表 的圖片&#10;&#10;AI 產生的內容可能不正確。">
            <a:extLst>
              <a:ext uri="{FF2B5EF4-FFF2-40B4-BE49-F238E27FC236}">
                <a16:creationId xmlns:a16="http://schemas.microsoft.com/office/drawing/2014/main" id="{8B87AA00-AC26-1E87-1B4F-F31BE0A71C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3093" y="3415782"/>
            <a:ext cx="5712190" cy="2856095"/>
          </a:xfrm>
          <a:prstGeom prst="rect">
            <a:avLst/>
          </a:prstGeom>
        </p:spPr>
      </p:pic>
      <p:pic>
        <p:nvPicPr>
          <p:cNvPr id="10" name="圖片 9" descr="一張含有 螢幕擷取畫面, 鮮豔, Rectangle, 正方形 的圖片&#10;&#10;AI 產生的內容可能不正確。">
            <a:extLst>
              <a:ext uri="{FF2B5EF4-FFF2-40B4-BE49-F238E27FC236}">
                <a16:creationId xmlns:a16="http://schemas.microsoft.com/office/drawing/2014/main" id="{79EF73E8-0A92-AD61-D709-EA38DEB2F6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165" y="3415783"/>
            <a:ext cx="5712190" cy="2856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610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比較</a:t>
            </a:r>
            <a:r>
              <a:rPr lang="en-US" altLang="zh-TW" dirty="0"/>
              <a:t>3-</a:t>
            </a:r>
            <a:r>
              <a:rPr lang="zh-TW" altLang="en-US" dirty="0"/>
              <a:t> </a:t>
            </a:r>
            <a:r>
              <a:rPr lang="en-US" altLang="zh-TW" dirty="0"/>
              <a:t>20</a:t>
            </a:r>
            <a:r>
              <a:rPr lang="zh-TW" altLang="en-US" dirty="0"/>
              <a:t>*</a:t>
            </a:r>
            <a:r>
              <a:rPr lang="en-US" altLang="zh-TW" dirty="0"/>
              <a:t>10 (</a:t>
            </a:r>
            <a:r>
              <a:rPr lang="zh-TW" altLang="en-US" dirty="0"/>
              <a:t>訓練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20" name="內容版面配置區 4">
            <a:extLst>
              <a:ext uri="{FF2B5EF4-FFF2-40B4-BE49-F238E27FC236}">
                <a16:creationId xmlns:a16="http://schemas.microsoft.com/office/drawing/2014/main" id="{7DFB7691-30BA-A4DB-A8CC-995C0E16A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329850" cy="545671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TW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/>
          </a:p>
        </p:txBody>
      </p:sp>
      <p:sp>
        <p:nvSpPr>
          <p:cNvPr id="22" name="內容版面配置區 4">
            <a:extLst>
              <a:ext uri="{FF2B5EF4-FFF2-40B4-BE49-F238E27FC236}">
                <a16:creationId xmlns:a16="http://schemas.microsoft.com/office/drawing/2014/main" id="{19CC9541-5A4E-53C3-34CF-5E2781699DE1}"/>
              </a:ext>
            </a:extLst>
          </p:cNvPr>
          <p:cNvSpPr txBox="1">
            <a:spLocks/>
          </p:cNvSpPr>
          <p:nvPr/>
        </p:nvSpPr>
        <p:spPr>
          <a:xfrm>
            <a:off x="1524218" y="1687483"/>
            <a:ext cx="3641283" cy="545671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Before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/>
          </a:p>
        </p:txBody>
      </p:sp>
      <p:sp>
        <p:nvSpPr>
          <p:cNvPr id="23" name="內容版面配置區 4">
            <a:extLst>
              <a:ext uri="{FF2B5EF4-FFF2-40B4-BE49-F238E27FC236}">
                <a16:creationId xmlns:a16="http://schemas.microsoft.com/office/drawing/2014/main" id="{58107AF5-EF95-F3A9-83B4-CF51D1E5C5B0}"/>
              </a:ext>
            </a:extLst>
          </p:cNvPr>
          <p:cNvSpPr txBox="1">
            <a:spLocks/>
          </p:cNvSpPr>
          <p:nvPr/>
        </p:nvSpPr>
        <p:spPr>
          <a:xfrm>
            <a:off x="7026502" y="1687482"/>
            <a:ext cx="3641283" cy="545671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After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/>
          </a:p>
        </p:txBody>
      </p:sp>
      <p:pic>
        <p:nvPicPr>
          <p:cNvPr id="6" name="圖片 5" descr="一張含有 文字, 行, 圖表, 字型 的圖片&#10;&#10;AI 產生的內容可能不正確。">
            <a:extLst>
              <a:ext uri="{FF2B5EF4-FFF2-40B4-BE49-F238E27FC236}">
                <a16:creationId xmlns:a16="http://schemas.microsoft.com/office/drawing/2014/main" id="{D8EE7660-8963-B834-756D-B426445F19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8568" y="2185637"/>
            <a:ext cx="3533766" cy="4241470"/>
          </a:xfrm>
          <a:prstGeom prst="rect">
            <a:avLst/>
          </a:prstGeom>
        </p:spPr>
      </p:pic>
      <p:pic>
        <p:nvPicPr>
          <p:cNvPr id="8" name="圖片 7" descr="一張含有 文字, 繪圖, 圖表, 行 的圖片&#10;&#10;AI 產生的內容可能不正確。">
            <a:extLst>
              <a:ext uri="{FF2B5EF4-FFF2-40B4-BE49-F238E27FC236}">
                <a16:creationId xmlns:a16="http://schemas.microsoft.com/office/drawing/2014/main" id="{4C354D09-C9D5-C48D-76B7-4B8CBFD124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9666" y="2233153"/>
            <a:ext cx="3533766" cy="424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931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比較</a:t>
            </a:r>
            <a:r>
              <a:rPr lang="en-US" altLang="zh-TW" dirty="0"/>
              <a:t>3-</a:t>
            </a:r>
            <a:r>
              <a:rPr lang="zh-TW" altLang="en-US" dirty="0"/>
              <a:t> </a:t>
            </a:r>
            <a:r>
              <a:rPr lang="en-US" altLang="zh-TW" dirty="0"/>
              <a:t>20</a:t>
            </a:r>
            <a:r>
              <a:rPr lang="zh-TW" altLang="en-US" dirty="0"/>
              <a:t>*</a:t>
            </a:r>
            <a:r>
              <a:rPr lang="en-US" altLang="zh-TW" dirty="0"/>
              <a:t>10 (</a:t>
            </a:r>
            <a:r>
              <a:rPr lang="zh-TW" altLang="en-US" dirty="0"/>
              <a:t>結果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B90DBF7A-9493-AE9E-80AA-AD323AFCB0E0}"/>
              </a:ext>
            </a:extLst>
          </p:cNvPr>
          <p:cNvSpPr txBox="1">
            <a:spLocks/>
          </p:cNvSpPr>
          <p:nvPr/>
        </p:nvSpPr>
        <p:spPr>
          <a:xfrm>
            <a:off x="1096927" y="3042315"/>
            <a:ext cx="3641283" cy="545671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Before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/>
          </a:p>
        </p:txBody>
      </p:sp>
      <p:sp>
        <p:nvSpPr>
          <p:cNvPr id="13" name="內容版面配置區 4">
            <a:extLst>
              <a:ext uri="{FF2B5EF4-FFF2-40B4-BE49-F238E27FC236}">
                <a16:creationId xmlns:a16="http://schemas.microsoft.com/office/drawing/2014/main" id="{6E9F9253-AEE3-2358-9BB4-61F94D38B113}"/>
              </a:ext>
            </a:extLst>
          </p:cNvPr>
          <p:cNvSpPr txBox="1">
            <a:spLocks/>
          </p:cNvSpPr>
          <p:nvPr/>
        </p:nvSpPr>
        <p:spPr>
          <a:xfrm>
            <a:off x="7529177" y="3042315"/>
            <a:ext cx="3641283" cy="545671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After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/>
          </a:p>
        </p:txBody>
      </p:sp>
      <p:pic>
        <p:nvPicPr>
          <p:cNvPr id="7" name="圖片 6" descr="一張含有 螢幕擷取畫面, 鮮豔, 圖表, 正方形 的圖片&#10;&#10;AI 產生的內容可能不正確。">
            <a:extLst>
              <a:ext uri="{FF2B5EF4-FFF2-40B4-BE49-F238E27FC236}">
                <a16:creationId xmlns:a16="http://schemas.microsoft.com/office/drawing/2014/main" id="{58452A52-4FCF-F066-080B-27902A9B95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371" y="3587986"/>
            <a:ext cx="5508396" cy="2754198"/>
          </a:xfrm>
          <a:prstGeom prst="rect">
            <a:avLst/>
          </a:prstGeom>
        </p:spPr>
      </p:pic>
      <p:pic>
        <p:nvPicPr>
          <p:cNvPr id="10" name="圖片 9" descr="一張含有 螢幕擷取畫面, 鮮豔, 圖表, 文字 的圖片&#10;&#10;AI 產生的內容可能不正確。">
            <a:extLst>
              <a:ext uri="{FF2B5EF4-FFF2-40B4-BE49-F238E27FC236}">
                <a16:creationId xmlns:a16="http://schemas.microsoft.com/office/drawing/2014/main" id="{5DF9B5CE-AC37-7D09-2057-21C23959A8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5621" y="3587986"/>
            <a:ext cx="5508396" cy="275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827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文獻架構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320" y="1844040"/>
            <a:ext cx="11728927" cy="451321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Op state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會進入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Op attention block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得到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Op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特徵和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polling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全局特徵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M state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會搭配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Machine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的競爭關係進入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Machine attention block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得到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Machine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特徵和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polling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全局特徵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Actor 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會將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Op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特徵、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Op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全局特徵、</a:t>
            </a: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Mch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特徵、</a:t>
            </a: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Mch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全局特徵和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pair 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特徵串接丟入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3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層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MLP</a:t>
            </a: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Critic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將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Op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全局特徵和</a:t>
            </a: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Mch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全局特徵串接丟入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3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層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MLP</a:t>
            </a:r>
          </a:p>
          <a:p>
            <a:pPr>
              <a:lnSpc>
                <a:spcPct val="150000"/>
              </a:lnSpc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4328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更改架構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320" y="1844040"/>
            <a:ext cx="11728927" cy="451321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Op state: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將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attention block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改成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3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層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MLP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得到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Op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特徵和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polling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全局特徵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M state: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一樣將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attention block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改成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3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層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MLP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，刪除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Machine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的競爭關係，得到</a:t>
            </a: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Mch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特徵和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polling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全局特徵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MLP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input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一樣是節點特徵，以節點為單位，故保留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instance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尺寸彈性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Actor 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會將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Op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特徵、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Op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全局特徵、</a:t>
            </a: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Mch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特徵、</a:t>
            </a: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Mch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全局特徵和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pair 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特徵串接丟入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3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層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MLP</a:t>
            </a: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Critic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將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Op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全局特徵和</a:t>
            </a: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Mch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全局特徵串接丟入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3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層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MLP</a:t>
            </a:r>
          </a:p>
          <a:p>
            <a:pPr>
              <a:lnSpc>
                <a:spcPct val="150000"/>
              </a:lnSpc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1056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Operation state</a:t>
            </a:r>
            <a:r>
              <a:rPr lang="zh-TW" altLang="en-US" dirty="0"/>
              <a:t> </a:t>
            </a:r>
            <a:r>
              <a:rPr lang="en-US" altLang="zh-TW" dirty="0"/>
              <a:t>[E, N, 10]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321" y="1844040"/>
            <a:ext cx="4126855" cy="451321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1: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該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Op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是否已被排程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2:Op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在所有機台上的最短處理時間。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3:Op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在所有機台上的平均處理時間。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4:Op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的時間離散度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(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最長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-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最短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)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。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5:Op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完工時間下界。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8" name="內容版面配置區 4">
            <a:extLst>
              <a:ext uri="{FF2B5EF4-FFF2-40B4-BE49-F238E27FC236}">
                <a16:creationId xmlns:a16="http://schemas.microsoft.com/office/drawing/2014/main" id="{8F7C39B6-C930-5D8D-E7D4-20E79FCCFF43}"/>
              </a:ext>
            </a:extLst>
          </p:cNvPr>
          <p:cNvSpPr txBox="1">
            <a:spLocks/>
          </p:cNvSpPr>
          <p:nvPr/>
        </p:nvSpPr>
        <p:spPr>
          <a:xfrm>
            <a:off x="5671568" y="1844039"/>
            <a:ext cx="4126855" cy="45132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6:Op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所屬的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job 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還剩幾道未完成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7:Op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所屬的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job 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還剩的總加工時間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8:Op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在所有機台上的平均處理時間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9:Op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等待了多久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10:Op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的可加工的機台數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655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Machine state</a:t>
            </a:r>
            <a:r>
              <a:rPr lang="zh-TW" altLang="en-US" dirty="0"/>
              <a:t> </a:t>
            </a:r>
            <a:r>
              <a:rPr lang="en-US" altLang="zh-TW" dirty="0"/>
              <a:t>[E, M, 8]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321" y="1844040"/>
            <a:ext cx="4126855" cy="451321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1: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目前機台可以加工的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Op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數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2: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可加工的所有未完成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Op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數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3: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可加工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Op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的最短處理時間。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4: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可加工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Op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的平均處理時間。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5: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閒置時間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8" name="內容版面配置區 4">
            <a:extLst>
              <a:ext uri="{FF2B5EF4-FFF2-40B4-BE49-F238E27FC236}">
                <a16:creationId xmlns:a16="http://schemas.microsoft.com/office/drawing/2014/main" id="{8F7C39B6-C930-5D8D-E7D4-20E79FCCFF43}"/>
              </a:ext>
            </a:extLst>
          </p:cNvPr>
          <p:cNvSpPr txBox="1">
            <a:spLocks/>
          </p:cNvSpPr>
          <p:nvPr/>
        </p:nvSpPr>
        <p:spPr>
          <a:xfrm>
            <a:off x="5671568" y="1844039"/>
            <a:ext cx="4126855" cy="45132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6: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最早可加工時間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7: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預估為加工總加工時間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8: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是否正在加工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2887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pair state [E, </a:t>
            </a:r>
            <a:r>
              <a:rPr lang="zh-TW" altLang="en-US" dirty="0"/>
              <a:t>可選</a:t>
            </a:r>
            <a:r>
              <a:rPr lang="en-US" altLang="zh-TW" dirty="0"/>
              <a:t>N, M, 8]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13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321" y="1844040"/>
            <a:ext cx="5372950" cy="451321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1: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可選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Op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在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M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上的標準化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PT</a:t>
            </a: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2: (1) /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可選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Op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在所有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M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上的最大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PT</a:t>
            </a: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3: (1) /M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在所有可選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Op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上的最大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PT</a:t>
            </a: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4: (1) / 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可選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pair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中最大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PT</a:t>
            </a: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5: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(1) / 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剩餘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pair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中最大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PT</a:t>
            </a:r>
          </a:p>
        </p:txBody>
      </p:sp>
      <p:sp>
        <p:nvSpPr>
          <p:cNvPr id="8" name="內容版面配置區 4">
            <a:extLst>
              <a:ext uri="{FF2B5EF4-FFF2-40B4-BE49-F238E27FC236}">
                <a16:creationId xmlns:a16="http://schemas.microsoft.com/office/drawing/2014/main" id="{8F7C39B6-C930-5D8D-E7D4-20E79FCCFF43}"/>
              </a:ext>
            </a:extLst>
          </p:cNvPr>
          <p:cNvSpPr txBox="1">
            <a:spLocks/>
          </p:cNvSpPr>
          <p:nvPr/>
        </p:nvSpPr>
        <p:spPr>
          <a:xfrm>
            <a:off x="5671568" y="1844039"/>
            <a:ext cx="5489491" cy="45132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6: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(1)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/M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在剩餘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Op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上的最大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PT</a:t>
            </a: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7: (1)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/Op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所屬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job 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的剩餘總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PT</a:t>
            </a: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8: pair 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的等待時間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1790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文獻資料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14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320" y="1844040"/>
            <a:ext cx="11728927" cy="451321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論文中有使用一個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Job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一定有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5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個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Op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與一個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Job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會有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1~5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個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Op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兩種情況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本次只採第一種，符合目前公開資料集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訓練資料採生成資料，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20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個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instance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會被同時訓練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(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同個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step)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，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20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個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Ep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換一次資料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論文訓練時會使用同一尺寸訓練，並在不同尺寸上驗證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本次使用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10*5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訓練，並在 </a:t>
            </a: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Hurink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vdata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上測試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869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PPO</a:t>
            </a:r>
            <a:r>
              <a:rPr lang="zh-TW" altLang="en-US" dirty="0"/>
              <a:t> 訓練過程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62D4DC3-550F-9D2B-24BD-DA869DCFDB90}"/>
              </a:ext>
            </a:extLst>
          </p:cNvPr>
          <p:cNvSpPr txBox="1">
            <a:spLocks/>
          </p:cNvSpPr>
          <p:nvPr/>
        </p:nvSpPr>
        <p:spPr>
          <a:xfrm>
            <a:off x="2236061" y="2349929"/>
            <a:ext cx="2121114" cy="54567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altLang="zh-TW" sz="1800" dirty="0"/>
              <a:t>GNN</a:t>
            </a:r>
          </a:p>
        </p:txBody>
      </p:sp>
      <p:pic>
        <p:nvPicPr>
          <p:cNvPr id="7" name="圖片 6" descr="一張含有 文字, 螢幕擷取畫面, 繪圖, 行 的圖片&#10;&#10;AI 產生的內容可能不正確。">
            <a:extLst>
              <a:ext uri="{FF2B5EF4-FFF2-40B4-BE49-F238E27FC236}">
                <a16:creationId xmlns:a16="http://schemas.microsoft.com/office/drawing/2014/main" id="{FB011E30-7005-2F71-FB62-18593E9A6B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109" y="3191434"/>
            <a:ext cx="5619089" cy="3160737"/>
          </a:xfrm>
          <a:prstGeom prst="rect">
            <a:avLst/>
          </a:prstGeom>
        </p:spPr>
      </p:pic>
      <p:pic>
        <p:nvPicPr>
          <p:cNvPr id="9" name="圖片 8" descr="一張含有 文字, 螢幕擷取畫面, 繪圖, 行 的圖片&#10;&#10;AI 產生的內容可能不正確。">
            <a:extLst>
              <a:ext uri="{FF2B5EF4-FFF2-40B4-BE49-F238E27FC236}">
                <a16:creationId xmlns:a16="http://schemas.microsoft.com/office/drawing/2014/main" id="{B3E33B90-E64F-9AEC-E214-2C1BD99D73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158075"/>
            <a:ext cx="5619089" cy="3160737"/>
          </a:xfrm>
          <a:prstGeom prst="rect">
            <a:avLst/>
          </a:prstGeom>
        </p:spPr>
      </p:pic>
      <p:sp>
        <p:nvSpPr>
          <p:cNvPr id="10" name="內容版面配置區 4">
            <a:extLst>
              <a:ext uri="{FF2B5EF4-FFF2-40B4-BE49-F238E27FC236}">
                <a16:creationId xmlns:a16="http://schemas.microsoft.com/office/drawing/2014/main" id="{1E118C32-B53A-6B53-24B0-65AE0BB694C0}"/>
              </a:ext>
            </a:extLst>
          </p:cNvPr>
          <p:cNvSpPr txBox="1">
            <a:spLocks/>
          </p:cNvSpPr>
          <p:nvPr/>
        </p:nvSpPr>
        <p:spPr>
          <a:xfrm>
            <a:off x="7844987" y="2349929"/>
            <a:ext cx="2121114" cy="54567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altLang="zh-TW" sz="1800" dirty="0"/>
              <a:t>MLP</a:t>
            </a:r>
          </a:p>
        </p:txBody>
      </p:sp>
    </p:spTree>
    <p:extLst>
      <p:ext uri="{BB962C8B-B14F-4D97-AF65-F5344CB8AC3E}">
        <p14:creationId xmlns:p14="http://schemas.microsoft.com/office/powerpoint/2010/main" val="35703156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PPO</a:t>
            </a:r>
            <a:r>
              <a:rPr lang="zh-TW" altLang="en-US" dirty="0"/>
              <a:t> 訓練過程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16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62D4DC3-550F-9D2B-24BD-DA869DCFDB90}"/>
              </a:ext>
            </a:extLst>
          </p:cNvPr>
          <p:cNvSpPr txBox="1">
            <a:spLocks/>
          </p:cNvSpPr>
          <p:nvPr/>
        </p:nvSpPr>
        <p:spPr>
          <a:xfrm>
            <a:off x="2236061" y="2349929"/>
            <a:ext cx="2121114" cy="54567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altLang="zh-TW" sz="1800" dirty="0"/>
              <a:t>GNN</a:t>
            </a:r>
          </a:p>
        </p:txBody>
      </p:sp>
      <p:sp>
        <p:nvSpPr>
          <p:cNvPr id="10" name="內容版面配置區 4">
            <a:extLst>
              <a:ext uri="{FF2B5EF4-FFF2-40B4-BE49-F238E27FC236}">
                <a16:creationId xmlns:a16="http://schemas.microsoft.com/office/drawing/2014/main" id="{1E118C32-B53A-6B53-24B0-65AE0BB694C0}"/>
              </a:ext>
            </a:extLst>
          </p:cNvPr>
          <p:cNvSpPr txBox="1">
            <a:spLocks/>
          </p:cNvSpPr>
          <p:nvPr/>
        </p:nvSpPr>
        <p:spPr>
          <a:xfrm>
            <a:off x="8028931" y="2349929"/>
            <a:ext cx="2121114" cy="54567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altLang="zh-TW" sz="1800" dirty="0"/>
              <a:t>MLP</a:t>
            </a:r>
          </a:p>
        </p:txBody>
      </p:sp>
      <p:pic>
        <p:nvPicPr>
          <p:cNvPr id="8" name="圖片 7" descr="一張含有 文字, 行, 繪圖, 圖表 的圖片&#10;&#10;AI 產生的內容可能不正確。">
            <a:extLst>
              <a:ext uri="{FF2B5EF4-FFF2-40B4-BE49-F238E27FC236}">
                <a16:creationId xmlns:a16="http://schemas.microsoft.com/office/drawing/2014/main" id="{8A677548-0AC4-5DFA-433C-1AF3E0566C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899" y="3207494"/>
            <a:ext cx="5531232" cy="3111318"/>
          </a:xfrm>
          <a:prstGeom prst="rect">
            <a:avLst/>
          </a:prstGeom>
        </p:spPr>
      </p:pic>
      <p:pic>
        <p:nvPicPr>
          <p:cNvPr id="12" name="圖片 11" descr="一張含有 文字, 行, 繪圖, 螢幕擷取畫面 的圖片&#10;&#10;AI 產生的內容可能不正確。">
            <a:extLst>
              <a:ext uri="{FF2B5EF4-FFF2-40B4-BE49-F238E27FC236}">
                <a16:creationId xmlns:a16="http://schemas.microsoft.com/office/drawing/2014/main" id="{F88C5E89-E576-3A5B-D1C2-D2F07BA75D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9871" y="3193935"/>
            <a:ext cx="5659234" cy="3183319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D1D3556F-E2B2-0EAF-F43E-8873B90F12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7215" y="1751097"/>
            <a:ext cx="2479186" cy="1677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5772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PPO</a:t>
            </a:r>
            <a:r>
              <a:rPr lang="zh-TW" altLang="en-US" dirty="0"/>
              <a:t> 結果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17</a:t>
            </a:fld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9AE62AA-6868-0208-9D78-8819C6330EB1}"/>
              </a:ext>
            </a:extLst>
          </p:cNvPr>
          <p:cNvGraphicFramePr>
            <a:graphicFrameLocks noGrp="1"/>
          </p:cNvGraphicFramePr>
          <p:nvPr/>
        </p:nvGraphicFramePr>
        <p:xfrm>
          <a:off x="916161" y="2004171"/>
          <a:ext cx="10359677" cy="42083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3791">
                  <a:extLst>
                    <a:ext uri="{9D8B030D-6E8A-4147-A177-3AD203B41FA5}">
                      <a16:colId xmlns:a16="http://schemas.microsoft.com/office/drawing/2014/main" val="2939267013"/>
                    </a:ext>
                  </a:extLst>
                </a:gridCol>
                <a:gridCol w="1013791">
                  <a:extLst>
                    <a:ext uri="{9D8B030D-6E8A-4147-A177-3AD203B41FA5}">
                      <a16:colId xmlns:a16="http://schemas.microsoft.com/office/drawing/2014/main" val="2169749370"/>
                    </a:ext>
                  </a:extLst>
                </a:gridCol>
                <a:gridCol w="1235558">
                  <a:extLst>
                    <a:ext uri="{9D8B030D-6E8A-4147-A177-3AD203B41FA5}">
                      <a16:colId xmlns:a16="http://schemas.microsoft.com/office/drawing/2014/main" val="3906302503"/>
                    </a:ext>
                  </a:extLst>
                </a:gridCol>
                <a:gridCol w="1013791">
                  <a:extLst>
                    <a:ext uri="{9D8B030D-6E8A-4147-A177-3AD203B41FA5}">
                      <a16:colId xmlns:a16="http://schemas.microsoft.com/office/drawing/2014/main" val="210649301"/>
                    </a:ext>
                  </a:extLst>
                </a:gridCol>
                <a:gridCol w="1013791">
                  <a:extLst>
                    <a:ext uri="{9D8B030D-6E8A-4147-A177-3AD203B41FA5}">
                      <a16:colId xmlns:a16="http://schemas.microsoft.com/office/drawing/2014/main" val="1058064983"/>
                    </a:ext>
                  </a:extLst>
                </a:gridCol>
                <a:gridCol w="1013791">
                  <a:extLst>
                    <a:ext uri="{9D8B030D-6E8A-4147-A177-3AD203B41FA5}">
                      <a16:colId xmlns:a16="http://schemas.microsoft.com/office/drawing/2014/main" val="822118410"/>
                    </a:ext>
                  </a:extLst>
                </a:gridCol>
                <a:gridCol w="1013791">
                  <a:extLst>
                    <a:ext uri="{9D8B030D-6E8A-4147-A177-3AD203B41FA5}">
                      <a16:colId xmlns:a16="http://schemas.microsoft.com/office/drawing/2014/main" val="1947671567"/>
                    </a:ext>
                  </a:extLst>
                </a:gridCol>
                <a:gridCol w="1013791">
                  <a:extLst>
                    <a:ext uri="{9D8B030D-6E8A-4147-A177-3AD203B41FA5}">
                      <a16:colId xmlns:a16="http://schemas.microsoft.com/office/drawing/2014/main" val="3424269763"/>
                    </a:ext>
                  </a:extLst>
                </a:gridCol>
                <a:gridCol w="1013791">
                  <a:extLst>
                    <a:ext uri="{9D8B030D-6E8A-4147-A177-3AD203B41FA5}">
                      <a16:colId xmlns:a16="http://schemas.microsoft.com/office/drawing/2014/main" val="3760663515"/>
                    </a:ext>
                  </a:extLst>
                </a:gridCol>
                <a:gridCol w="1013791">
                  <a:extLst>
                    <a:ext uri="{9D8B030D-6E8A-4147-A177-3AD203B41FA5}">
                      <a16:colId xmlns:a16="http://schemas.microsoft.com/office/drawing/2014/main" val="3758985613"/>
                    </a:ext>
                  </a:extLst>
                </a:gridCol>
              </a:tblGrid>
              <a:tr h="701395">
                <a:tc>
                  <a:txBody>
                    <a:bodyPr/>
                    <a:lstStyle/>
                    <a:p>
                      <a:pPr algn="ctr" fontAlgn="b"/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>
                          <a:effectLst/>
                        </a:rPr>
                        <a:t>GNN10x5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>
                          <a:effectLst/>
                        </a:rPr>
                        <a:t>MLP10x5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>
                          <a:effectLst/>
                        </a:rPr>
                        <a:t>Paper10x5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>
                          <a:effectLst/>
                        </a:rPr>
                        <a:t>MWKR10x5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UB</a:t>
                      </a:r>
                      <a:endParaRPr lang="en-US" altLang="zh-TW" sz="18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80878450"/>
                  </a:ext>
                </a:extLst>
              </a:tr>
              <a:tr h="7013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>
                          <a:effectLst/>
                        </a:rPr>
                        <a:t>Instance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>
                          <a:effectLst/>
                        </a:rPr>
                        <a:t>Makespan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>
                          <a:effectLst/>
                        </a:rPr>
                        <a:t>Gap(%)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>
                          <a:effectLst/>
                        </a:rPr>
                        <a:t>Makespan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>
                          <a:effectLst/>
                        </a:rPr>
                        <a:t>Gap(%)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>
                          <a:effectLst/>
                        </a:rPr>
                        <a:t>Makespan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>
                          <a:effectLst/>
                        </a:rPr>
                        <a:t>Gap(%)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>
                          <a:effectLst/>
                        </a:rPr>
                        <a:t>Makespan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>
                          <a:effectLst/>
                        </a:rPr>
                        <a:t>Gap(%)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 dirty="0" err="1">
                          <a:effectLst/>
                        </a:rPr>
                        <a:t>Makespan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1752464"/>
                  </a:ext>
                </a:extLst>
              </a:tr>
              <a:tr h="701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mk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u="none" strike="noStrike">
                          <a:effectLst/>
                        </a:rPr>
                        <a:t>183.3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u="none" strike="noStrike">
                          <a:effectLst/>
                        </a:rPr>
                        <a:t>11.17%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u="none" strike="noStrike">
                          <a:effectLst/>
                        </a:rPr>
                        <a:t>185.1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u="none" strike="noStrike">
                          <a:effectLst/>
                        </a:rPr>
                        <a:t>12.90%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u="none" strike="noStrike">
                          <a:effectLst/>
                        </a:rPr>
                        <a:t>185.7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u="none" strike="noStrike">
                          <a:effectLst/>
                        </a:rPr>
                        <a:t>13.58%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u="none" strike="noStrike">
                          <a:effectLst/>
                        </a:rPr>
                        <a:t>201.4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u="none" strike="noStrike">
                          <a:effectLst/>
                        </a:rPr>
                        <a:t>28.91%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u="none" strike="noStrike" dirty="0">
                          <a:effectLst/>
                        </a:rPr>
                        <a:t>172.5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87909322"/>
                  </a:ext>
                </a:extLst>
              </a:tr>
              <a:tr h="701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rdata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u="none" strike="noStrike">
                          <a:effectLst/>
                        </a:rPr>
                        <a:t>1056.97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u="none" strike="noStrike">
                          <a:effectLst/>
                        </a:rPr>
                        <a:t>14.18%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u="none" strike="noStrike">
                          <a:effectLst/>
                        </a:rPr>
                        <a:t>1050.37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u="none" strike="noStrike">
                          <a:effectLst/>
                        </a:rPr>
                        <a:t>12.90%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u="none" strike="noStrike">
                          <a:effectLst/>
                        </a:rPr>
                        <a:t>1031.63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u="none" strike="noStrike">
                          <a:effectLst/>
                        </a:rPr>
                        <a:t>11.42%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u="none" strike="noStrike">
                          <a:effectLst/>
                        </a:rPr>
                        <a:t>1053.1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u="none" strike="noStrike">
                          <a:effectLst/>
                        </a:rPr>
                        <a:t>13.86%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u="none" strike="noStrike">
                          <a:effectLst/>
                        </a:rPr>
                        <a:t>1028.875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22122358"/>
                  </a:ext>
                </a:extLst>
              </a:tr>
              <a:tr h="701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edata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u="none" strike="noStrike">
                          <a:effectLst/>
                        </a:rPr>
                        <a:t>1200.27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u="none" strike="noStrike">
                          <a:effectLst/>
                        </a:rPr>
                        <a:t>16.68%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u="none" strike="noStrike">
                          <a:effectLst/>
                        </a:rPr>
                        <a:t>1177.15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u="none" strike="noStrike">
                          <a:effectLst/>
                        </a:rPr>
                        <a:t>14.46%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u="none" strike="noStrike">
                          <a:effectLst/>
                        </a:rPr>
                        <a:t>1194.98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u="none" strike="noStrike">
                          <a:effectLst/>
                        </a:rPr>
                        <a:t>16.33%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u="none" strike="noStrike">
                          <a:effectLst/>
                        </a:rPr>
                        <a:t>1187.48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u="none" strike="noStrike">
                          <a:effectLst/>
                        </a:rPr>
                        <a:t>18.60%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u="none" strike="noStrike">
                          <a:effectLst/>
                        </a:rPr>
                        <a:t>934.275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05790485"/>
                  </a:ext>
                </a:extLst>
              </a:tr>
              <a:tr h="701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vdata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u="none" strike="noStrike">
                          <a:effectLst/>
                        </a:rPr>
                        <a:t>976.9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u="none" strike="noStrike">
                          <a:effectLst/>
                        </a:rPr>
                        <a:t>6.89%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u="none" strike="noStrike">
                          <a:effectLst/>
                        </a:rPr>
                        <a:t>974.3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u="none" strike="noStrike">
                          <a:effectLst/>
                        </a:rPr>
                        <a:t>6.55%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u="none" strike="noStrike">
                          <a:effectLst/>
                        </a:rPr>
                        <a:t>944.85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u="none" strike="noStrike">
                          <a:effectLst/>
                        </a:rPr>
                        <a:t>3.28%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u="none" strike="noStrike">
                          <a:effectLst/>
                        </a:rPr>
                        <a:t>952.01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u="none" strike="noStrike" dirty="0">
                          <a:effectLst/>
                        </a:rPr>
                        <a:t>4.22%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u="none" strike="noStrike" dirty="0">
                          <a:effectLst/>
                        </a:rPr>
                        <a:t>919.65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23335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47623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PPO</a:t>
            </a:r>
            <a:r>
              <a:rPr lang="zh-TW" altLang="en-US" dirty="0"/>
              <a:t> 結果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18</a:t>
            </a:fld>
            <a:endParaRPr lang="zh-TW" altLang="en-US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B03D24F-185A-870B-E008-A9BDC14622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0254681"/>
              </p:ext>
            </p:extLst>
          </p:nvPr>
        </p:nvGraphicFramePr>
        <p:xfrm>
          <a:off x="0" y="2368456"/>
          <a:ext cx="12191991" cy="32165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3957">
                  <a:extLst>
                    <a:ext uri="{9D8B030D-6E8A-4147-A177-3AD203B41FA5}">
                      <a16:colId xmlns:a16="http://schemas.microsoft.com/office/drawing/2014/main" val="3094352559"/>
                    </a:ext>
                  </a:extLst>
                </a:gridCol>
                <a:gridCol w="607155">
                  <a:extLst>
                    <a:ext uri="{9D8B030D-6E8A-4147-A177-3AD203B41FA5}">
                      <a16:colId xmlns:a16="http://schemas.microsoft.com/office/drawing/2014/main" val="2052402016"/>
                    </a:ext>
                  </a:extLst>
                </a:gridCol>
                <a:gridCol w="493957">
                  <a:extLst>
                    <a:ext uri="{9D8B030D-6E8A-4147-A177-3AD203B41FA5}">
                      <a16:colId xmlns:a16="http://schemas.microsoft.com/office/drawing/2014/main" val="2950246491"/>
                    </a:ext>
                  </a:extLst>
                </a:gridCol>
                <a:gridCol w="493957">
                  <a:extLst>
                    <a:ext uri="{9D8B030D-6E8A-4147-A177-3AD203B41FA5}">
                      <a16:colId xmlns:a16="http://schemas.microsoft.com/office/drawing/2014/main" val="2124057680"/>
                    </a:ext>
                  </a:extLst>
                </a:gridCol>
                <a:gridCol w="493957">
                  <a:extLst>
                    <a:ext uri="{9D8B030D-6E8A-4147-A177-3AD203B41FA5}">
                      <a16:colId xmlns:a16="http://schemas.microsoft.com/office/drawing/2014/main" val="4077278450"/>
                    </a:ext>
                  </a:extLst>
                </a:gridCol>
                <a:gridCol w="493957">
                  <a:extLst>
                    <a:ext uri="{9D8B030D-6E8A-4147-A177-3AD203B41FA5}">
                      <a16:colId xmlns:a16="http://schemas.microsoft.com/office/drawing/2014/main" val="2117070340"/>
                    </a:ext>
                  </a:extLst>
                </a:gridCol>
                <a:gridCol w="493957">
                  <a:extLst>
                    <a:ext uri="{9D8B030D-6E8A-4147-A177-3AD203B41FA5}">
                      <a16:colId xmlns:a16="http://schemas.microsoft.com/office/drawing/2014/main" val="2100782302"/>
                    </a:ext>
                  </a:extLst>
                </a:gridCol>
                <a:gridCol w="493957">
                  <a:extLst>
                    <a:ext uri="{9D8B030D-6E8A-4147-A177-3AD203B41FA5}">
                      <a16:colId xmlns:a16="http://schemas.microsoft.com/office/drawing/2014/main" val="4017834360"/>
                    </a:ext>
                  </a:extLst>
                </a:gridCol>
                <a:gridCol w="493957">
                  <a:extLst>
                    <a:ext uri="{9D8B030D-6E8A-4147-A177-3AD203B41FA5}">
                      <a16:colId xmlns:a16="http://schemas.microsoft.com/office/drawing/2014/main" val="1386467398"/>
                    </a:ext>
                  </a:extLst>
                </a:gridCol>
                <a:gridCol w="717782">
                  <a:extLst>
                    <a:ext uri="{9D8B030D-6E8A-4147-A177-3AD203B41FA5}">
                      <a16:colId xmlns:a16="http://schemas.microsoft.com/office/drawing/2014/main" val="355537781"/>
                    </a:ext>
                  </a:extLst>
                </a:gridCol>
                <a:gridCol w="493957">
                  <a:extLst>
                    <a:ext uri="{9D8B030D-6E8A-4147-A177-3AD203B41FA5}">
                      <a16:colId xmlns:a16="http://schemas.microsoft.com/office/drawing/2014/main" val="1095325423"/>
                    </a:ext>
                  </a:extLst>
                </a:gridCol>
                <a:gridCol w="493957">
                  <a:extLst>
                    <a:ext uri="{9D8B030D-6E8A-4147-A177-3AD203B41FA5}">
                      <a16:colId xmlns:a16="http://schemas.microsoft.com/office/drawing/2014/main" val="3250982862"/>
                    </a:ext>
                  </a:extLst>
                </a:gridCol>
                <a:gridCol w="493957">
                  <a:extLst>
                    <a:ext uri="{9D8B030D-6E8A-4147-A177-3AD203B41FA5}">
                      <a16:colId xmlns:a16="http://schemas.microsoft.com/office/drawing/2014/main" val="2033782703"/>
                    </a:ext>
                  </a:extLst>
                </a:gridCol>
                <a:gridCol w="493957">
                  <a:extLst>
                    <a:ext uri="{9D8B030D-6E8A-4147-A177-3AD203B41FA5}">
                      <a16:colId xmlns:a16="http://schemas.microsoft.com/office/drawing/2014/main" val="3948434328"/>
                    </a:ext>
                  </a:extLst>
                </a:gridCol>
                <a:gridCol w="493957">
                  <a:extLst>
                    <a:ext uri="{9D8B030D-6E8A-4147-A177-3AD203B41FA5}">
                      <a16:colId xmlns:a16="http://schemas.microsoft.com/office/drawing/2014/main" val="3605935599"/>
                    </a:ext>
                  </a:extLst>
                </a:gridCol>
                <a:gridCol w="493957">
                  <a:extLst>
                    <a:ext uri="{9D8B030D-6E8A-4147-A177-3AD203B41FA5}">
                      <a16:colId xmlns:a16="http://schemas.microsoft.com/office/drawing/2014/main" val="1749728069"/>
                    </a:ext>
                  </a:extLst>
                </a:gridCol>
                <a:gridCol w="493957">
                  <a:extLst>
                    <a:ext uri="{9D8B030D-6E8A-4147-A177-3AD203B41FA5}">
                      <a16:colId xmlns:a16="http://schemas.microsoft.com/office/drawing/2014/main" val="1860566977"/>
                    </a:ext>
                  </a:extLst>
                </a:gridCol>
                <a:gridCol w="493957">
                  <a:extLst>
                    <a:ext uri="{9D8B030D-6E8A-4147-A177-3AD203B41FA5}">
                      <a16:colId xmlns:a16="http://schemas.microsoft.com/office/drawing/2014/main" val="3614530511"/>
                    </a:ext>
                  </a:extLst>
                </a:gridCol>
                <a:gridCol w="493957">
                  <a:extLst>
                    <a:ext uri="{9D8B030D-6E8A-4147-A177-3AD203B41FA5}">
                      <a16:colId xmlns:a16="http://schemas.microsoft.com/office/drawing/2014/main" val="2937923410"/>
                    </a:ext>
                  </a:extLst>
                </a:gridCol>
                <a:gridCol w="493957">
                  <a:extLst>
                    <a:ext uri="{9D8B030D-6E8A-4147-A177-3AD203B41FA5}">
                      <a16:colId xmlns:a16="http://schemas.microsoft.com/office/drawing/2014/main" val="64073405"/>
                    </a:ext>
                  </a:extLst>
                </a:gridCol>
                <a:gridCol w="493957">
                  <a:extLst>
                    <a:ext uri="{9D8B030D-6E8A-4147-A177-3AD203B41FA5}">
                      <a16:colId xmlns:a16="http://schemas.microsoft.com/office/drawing/2014/main" val="3532036664"/>
                    </a:ext>
                  </a:extLst>
                </a:gridCol>
                <a:gridCol w="493957">
                  <a:extLst>
                    <a:ext uri="{9D8B030D-6E8A-4147-A177-3AD203B41FA5}">
                      <a16:colId xmlns:a16="http://schemas.microsoft.com/office/drawing/2014/main" val="184892716"/>
                    </a:ext>
                  </a:extLst>
                </a:gridCol>
                <a:gridCol w="493957">
                  <a:extLst>
                    <a:ext uri="{9D8B030D-6E8A-4147-A177-3AD203B41FA5}">
                      <a16:colId xmlns:a16="http://schemas.microsoft.com/office/drawing/2014/main" val="1959826056"/>
                    </a:ext>
                  </a:extLst>
                </a:gridCol>
                <a:gridCol w="493957">
                  <a:extLst>
                    <a:ext uri="{9D8B030D-6E8A-4147-A177-3AD203B41FA5}">
                      <a16:colId xmlns:a16="http://schemas.microsoft.com/office/drawing/2014/main" val="821980734"/>
                    </a:ext>
                  </a:extLst>
                </a:gridCol>
              </a:tblGrid>
              <a:tr h="22975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Instance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Bench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GNN10x5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MLP10x5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Instance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Bench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GNN10x5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MLP10x5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Instance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Bench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GNN10x5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MLP10x5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Instance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Bench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GNN10x5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MLP10x5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3964122"/>
                  </a:ext>
                </a:extLst>
              </a:tr>
              <a:tr h="22975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10*5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 dirty="0">
                          <a:effectLst/>
                        </a:rPr>
                        <a:t>UB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Makespan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Gap(%)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Makespan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Gap(%)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900" u="none" strike="noStrike">
                          <a:effectLst/>
                        </a:rPr>
                        <a:t>15*5</a:t>
                      </a:r>
                      <a:endParaRPr lang="en-US" altLang="zh-TW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 dirty="0">
                          <a:effectLst/>
                        </a:rPr>
                        <a:t>UB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Makespan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Gap(%)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Makespan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Gap(%)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900" u="none" strike="noStrike" dirty="0">
                          <a:effectLst/>
                        </a:rPr>
                        <a:t>20*5</a:t>
                      </a:r>
                      <a:endParaRPr lang="en-US" altLang="zh-TW" sz="9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 dirty="0">
                          <a:effectLst/>
                        </a:rPr>
                        <a:t>UB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Makespan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Gap(%)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Makespan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Gap(%)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900" u="none" strike="noStrike">
                          <a:effectLst/>
                        </a:rPr>
                        <a:t>10*10</a:t>
                      </a:r>
                      <a:endParaRPr lang="en-US" altLang="zh-TW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UB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Makespan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Gap(%)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Makespan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Gap(%)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17983517"/>
                  </a:ext>
                </a:extLst>
              </a:tr>
              <a:tr h="22975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la01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570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589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3.33%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657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15.26%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la06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799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834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4.38%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813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1.75%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la11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1071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1118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4.39%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1101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2.80%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la16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717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790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10.18%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779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8.65%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01180478"/>
                  </a:ext>
                </a:extLst>
              </a:tr>
              <a:tr h="22975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la02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529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625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18.15%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564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6.62%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la07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749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794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6.01%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780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4.14%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la12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936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995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6.30%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1024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9.40%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la17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646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689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6.66%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671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3.87%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057756"/>
                  </a:ext>
                </a:extLst>
              </a:tr>
              <a:tr h="22975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la03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477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505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5.87%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510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6.92%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la08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765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794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3.79%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835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9.15%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la13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1038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1069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2.99%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1048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0.96%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la18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663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673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1.51%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667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0.60%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487065"/>
                  </a:ext>
                </a:extLst>
              </a:tr>
              <a:tr h="22975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la04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502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590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17.53%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542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7.97%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la09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853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881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3.28%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902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5.74%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la14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1070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1129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5.51%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1107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3.46%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la19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617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646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4.70%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646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4.70%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97280863"/>
                  </a:ext>
                </a:extLst>
              </a:tr>
              <a:tr h="22975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la05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457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516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12.91%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531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16.19%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la10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804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911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13.31%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1006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25.12%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la15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1089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1163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6.80%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1132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3.95%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la20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756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794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5.03%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766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1.32%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73215699"/>
                  </a:ext>
                </a:extLst>
              </a:tr>
              <a:tr h="22975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Instance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Bench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 dirty="0">
                          <a:effectLst/>
                        </a:rPr>
                        <a:t>GNN10x5</a:t>
                      </a:r>
                    </a:p>
                  </a:txBody>
                  <a:tcPr marL="6366" marR="6366" marT="6366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366" marR="6366" marT="6366" marB="0" anchor="ctr"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 dirty="0">
                          <a:effectLst/>
                        </a:rPr>
                        <a:t>MLP10x5</a:t>
                      </a:r>
                      <a:r>
                        <a:rPr lang="zh-TW" altLang="en-US" sz="900" u="none" strike="noStrike" dirty="0">
                          <a:effectLst/>
                        </a:rPr>
                        <a:t>　</a:t>
                      </a:r>
                      <a:endParaRPr lang="zh-TW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Instance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Bench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 dirty="0">
                          <a:effectLst/>
                        </a:rPr>
                        <a:t>GNN10x5</a:t>
                      </a:r>
                      <a:r>
                        <a:rPr lang="zh-TW" altLang="en-US" sz="900" u="none" strike="noStrike" dirty="0">
                          <a:effectLst/>
                        </a:rPr>
                        <a:t>　</a:t>
                      </a:r>
                      <a:endParaRPr lang="zh-TW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366" marR="6366" marT="6366" marB="0" anchor="ctr"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 dirty="0">
                          <a:effectLst/>
                        </a:rPr>
                        <a:t>MLP10x5</a:t>
                      </a:r>
                      <a:r>
                        <a:rPr lang="zh-TW" altLang="en-US" sz="900" u="none" strike="noStrike" dirty="0">
                          <a:effectLst/>
                        </a:rPr>
                        <a:t>　</a:t>
                      </a:r>
                      <a:endParaRPr lang="zh-TW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Instance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Bench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 dirty="0">
                          <a:effectLst/>
                        </a:rPr>
                        <a:t>GNN10x5</a:t>
                      </a:r>
                      <a:r>
                        <a:rPr lang="zh-TW" altLang="en-US" sz="900" u="none" strike="noStrike" dirty="0">
                          <a:effectLst/>
                        </a:rPr>
                        <a:t>　</a:t>
                      </a:r>
                      <a:endParaRPr lang="zh-TW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366" marR="6366" marT="6366" marB="0" anchor="ctr"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 dirty="0">
                          <a:effectLst/>
                        </a:rPr>
                        <a:t>MLP10x5</a:t>
                      </a:r>
                      <a:r>
                        <a:rPr lang="zh-TW" altLang="en-US" sz="900" u="none" strike="noStrike" dirty="0">
                          <a:effectLst/>
                        </a:rPr>
                        <a:t>　</a:t>
                      </a:r>
                      <a:endParaRPr lang="zh-TW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Instance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Bench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 dirty="0">
                          <a:effectLst/>
                        </a:rPr>
                        <a:t>GNN10x5</a:t>
                      </a:r>
                    </a:p>
                  </a:txBody>
                  <a:tcPr marL="6366" marR="6366" marT="6366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366" marR="6366" marT="6366" marB="0" anchor="ctr"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 dirty="0">
                          <a:effectLst/>
                        </a:rPr>
                        <a:t>MLP10x5</a:t>
                      </a: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366" marR="6366" marT="6366" marB="0" anchor="ctr"/>
                </a:tc>
                <a:extLst>
                  <a:ext uri="{0D108BD9-81ED-4DB2-BD59-A6C34878D82A}">
                    <a16:rowId xmlns:a16="http://schemas.microsoft.com/office/drawing/2014/main" val="2459862481"/>
                  </a:ext>
                </a:extLst>
              </a:tr>
              <a:tr h="22975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15*10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 dirty="0">
                          <a:effectLst/>
                        </a:rPr>
                        <a:t>UB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Makespan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Gap(%)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Makespan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Gap(%)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900" u="none" strike="noStrike">
                          <a:effectLst/>
                        </a:rPr>
                        <a:t>20*10</a:t>
                      </a:r>
                      <a:endParaRPr lang="en-US" altLang="zh-TW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UB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 dirty="0" err="1">
                          <a:effectLst/>
                        </a:rPr>
                        <a:t>Makespan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Gap(%)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 dirty="0" err="1">
                          <a:effectLst/>
                        </a:rPr>
                        <a:t>Makespan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Gap(%)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30*10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 dirty="0">
                          <a:effectLst/>
                        </a:rPr>
                        <a:t>UB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 dirty="0" err="1">
                          <a:effectLst/>
                        </a:rPr>
                        <a:t>Makespan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Gap(%)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 dirty="0" err="1">
                          <a:effectLst/>
                        </a:rPr>
                        <a:t>Makespan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Gap(%)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15*15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UB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Makespan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 dirty="0">
                          <a:effectLst/>
                        </a:rPr>
                        <a:t>Gap(%)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Makespan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Gap(%)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41706559"/>
                  </a:ext>
                </a:extLst>
              </a:tr>
              <a:tr h="22975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la21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806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901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11.79%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922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14.39%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la26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1054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1096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3.98%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1076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2.09%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la31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1520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1594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4.87%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1592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4.74%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la36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948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980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3.38%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994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4.85%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20068915"/>
                  </a:ext>
                </a:extLst>
              </a:tr>
              <a:tr h="22975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la22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739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837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13.26%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858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16.10%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la27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1085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1139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4.98%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1102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1.57%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la32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1658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1706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2.90%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1715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3.44%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la37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986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1031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4.56%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1039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5.38%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27178494"/>
                  </a:ext>
                </a:extLst>
              </a:tr>
              <a:tr h="22975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la23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815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875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7.36%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864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6.01%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la28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1070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1135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6.07%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1128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5.42%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la33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1497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1578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5.41%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1524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1.80%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la38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943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976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3.50%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959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1.70%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23258132"/>
                  </a:ext>
                </a:extLst>
              </a:tr>
              <a:tr h="22975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la24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777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890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14.54%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823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5.92%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la29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994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1074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8.05%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1080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8.65%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la34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1535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1564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1.89%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1600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4.23%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la39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922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987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7.05%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978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6.07%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84371085"/>
                  </a:ext>
                </a:extLst>
              </a:tr>
              <a:tr h="229754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la25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756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877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16.01%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871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15.21%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la30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1069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1155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8.04%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1171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9.54%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la35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1549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1608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3.81%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1625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4.91%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la40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955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>
                          <a:effectLst/>
                        </a:rPr>
                        <a:t>968</a:t>
                      </a:r>
                      <a:endParaRPr lang="en-US" altLang="zh-TW" sz="9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1.36%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970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u="none" strike="noStrike" dirty="0">
                          <a:effectLst/>
                        </a:rPr>
                        <a:t>1.57%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66" marR="6366" marT="636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06053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18125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1FDE61-E3D2-E6BC-0F9F-9A422FAE07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THE</a:t>
            </a:r>
            <a:r>
              <a:rPr lang="zh-TW" altLang="en-US" dirty="0"/>
              <a:t> </a:t>
            </a:r>
            <a:r>
              <a:rPr lang="en-US" altLang="zh-TW" dirty="0"/>
              <a:t>END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26F3F00-E9C9-CE25-63F7-48B11D198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pPr/>
              <a:t>19</a:t>
            </a:fld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D01CA2B-8F20-5B3D-72AC-0153AA21F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Smart Production and System Simulation Lab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33293835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自訂 2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789D89"/>
      </a:accent1>
      <a:accent2>
        <a:srgbClr val="789D89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回顧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rgbClr val="C00000"/>
        </a:solidFill>
      </a:spPr>
      <a:bodyPr rtlCol="0" anchor="ctr"/>
      <a:lstStyle>
        <a:defPPr algn="ctr">
          <a:defRPr sz="3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129163</TotalTime>
  <Words>1289</Words>
  <Application>Microsoft Office PowerPoint</Application>
  <PresentationFormat>寬螢幕</PresentationFormat>
  <Paragraphs>509</Paragraphs>
  <Slides>19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6" baseType="lpstr">
      <vt:lpstr>微軟正黑體</vt:lpstr>
      <vt:lpstr>新細明體</vt:lpstr>
      <vt:lpstr>Abadi</vt:lpstr>
      <vt:lpstr>Arial</vt:lpstr>
      <vt:lpstr>Calibri</vt:lpstr>
      <vt:lpstr>Cascadia Code</vt:lpstr>
      <vt:lpstr>回顧</vt:lpstr>
      <vt:lpstr>PPO Base On Paper 2</vt:lpstr>
      <vt:lpstr>Ep內多個instance vs 一個instance多個Ep</vt:lpstr>
      <vt:lpstr>比較1- 15*5 (訓練)</vt:lpstr>
      <vt:lpstr>比較1- 10*10 (結果)</vt:lpstr>
      <vt:lpstr>比較2- 15*5 (訓練)</vt:lpstr>
      <vt:lpstr>比較2- 10*10 (結果)</vt:lpstr>
      <vt:lpstr>比較3- 20*10 (訓練)</vt:lpstr>
      <vt:lpstr>比較3- 20*10 (結果)</vt:lpstr>
      <vt:lpstr>文獻架構</vt:lpstr>
      <vt:lpstr>更改架構</vt:lpstr>
      <vt:lpstr>Operation state [E, N, 10]</vt:lpstr>
      <vt:lpstr>Machine state [E, M, 8]</vt:lpstr>
      <vt:lpstr>pair state [E, 可選N, M, 8]</vt:lpstr>
      <vt:lpstr>文獻資料</vt:lpstr>
      <vt:lpstr>PPO 訓練過程</vt:lpstr>
      <vt:lpstr>PPO 訓練過程</vt:lpstr>
      <vt:lpstr>PPO 結果</vt:lpstr>
      <vt:lpstr>PPO 結果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電容錯誤偵測</dc:title>
  <dc:creator>陳佳伶</dc:creator>
  <cp:lastModifiedBy>lab643</cp:lastModifiedBy>
  <cp:revision>809</cp:revision>
  <dcterms:created xsi:type="dcterms:W3CDTF">2022-03-03T14:40:23Z</dcterms:created>
  <dcterms:modified xsi:type="dcterms:W3CDTF">2025-10-20T09:08:26Z</dcterms:modified>
</cp:coreProperties>
</file>