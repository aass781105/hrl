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942" r:id="rId2"/>
    <p:sldId id="947" r:id="rId3"/>
    <p:sldId id="991" r:id="rId4"/>
    <p:sldId id="994" r:id="rId5"/>
    <p:sldId id="1007" r:id="rId6"/>
    <p:sldId id="995" r:id="rId7"/>
    <p:sldId id="1006" r:id="rId8"/>
    <p:sldId id="1012" r:id="rId9"/>
    <p:sldId id="1013" r:id="rId10"/>
    <p:sldId id="992" r:id="rId11"/>
    <p:sldId id="1014" r:id="rId12"/>
    <p:sldId id="93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7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2025/11/16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HRL3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2025/11/18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目前進度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修改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訓練環境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修改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 rewards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設定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將原本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episode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instance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換成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episode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訓練一次動態模擬的所有子問題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 release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條件為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每隔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uniform[8, 12]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次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arrive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episode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重新抽樣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遇到問題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因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release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的切分，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1.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數不一致問題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2.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每個子問題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數不同的問題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update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遇到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時因為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中維度不同而報錯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update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前先將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states padding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max 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數，在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reference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時再用遮罩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38CABEB-9B04-2BEB-87E8-33D623CABCB4}"/>
              </a:ext>
            </a:extLst>
          </p:cNvPr>
          <p:cNvGrpSpPr/>
          <p:nvPr/>
        </p:nvGrpSpPr>
        <p:grpSpPr>
          <a:xfrm>
            <a:off x="1151005" y="1680167"/>
            <a:ext cx="4128653" cy="4642644"/>
            <a:chOff x="1311565" y="2481997"/>
            <a:chExt cx="3418330" cy="3602187"/>
          </a:xfrm>
        </p:grpSpPr>
        <p:pic>
          <p:nvPicPr>
            <p:cNvPr id="7" name="圖片 6" descr="一張含有 文字, 螢幕擷取畫面, 繪圖, 行 的圖片&#10;&#10;AI 產生的內容可能不正確。">
              <a:extLst>
                <a:ext uri="{FF2B5EF4-FFF2-40B4-BE49-F238E27FC236}">
                  <a16:creationId xmlns:a16="http://schemas.microsoft.com/office/drawing/2014/main" id="{C7E57FCA-D8CE-1763-34B4-929A9E736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565" y="2481997"/>
              <a:ext cx="3418330" cy="1922811"/>
            </a:xfrm>
            <a:prstGeom prst="rect">
              <a:avLst/>
            </a:prstGeom>
          </p:spPr>
        </p:pic>
        <p:pic>
          <p:nvPicPr>
            <p:cNvPr id="10" name="圖片 9" descr="一張含有 文字, 繪圖, 圖表, 行 的圖片&#10;&#10;AI 產生的內容可能不正確。">
              <a:extLst>
                <a:ext uri="{FF2B5EF4-FFF2-40B4-BE49-F238E27FC236}">
                  <a16:creationId xmlns:a16="http://schemas.microsoft.com/office/drawing/2014/main" id="{9CA23D69-EC8E-396A-AA3A-E7DBE7703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5983" y="4180733"/>
              <a:ext cx="3383912" cy="1903451"/>
            </a:xfrm>
            <a:prstGeom prst="rect">
              <a:avLst/>
            </a:prstGeom>
          </p:spPr>
        </p:pic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5C6949A-9817-4CD2-ADBB-17BFAA3B6BB5}"/>
              </a:ext>
            </a:extLst>
          </p:cNvPr>
          <p:cNvSpPr txBox="1"/>
          <p:nvPr/>
        </p:nvSpPr>
        <p:spPr>
          <a:xfrm>
            <a:off x="6220690" y="2316833"/>
            <a:ext cx="2443019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先前</a:t>
            </a:r>
            <a:r>
              <a:rPr lang="en-US" altLang="zh-TW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PPO: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動態環境</a:t>
            </a:r>
            <a:endParaRPr lang="en-US" altLang="zh-TW" sz="2000" spc="-5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固定時間放</a:t>
            </a:r>
            <a:endParaRPr lang="en-US" altLang="zh-TW" sz="2000" spc="-5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18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en-US" altLang="zh-TW" sz="1800" dirty="0">
                <a:solidFill>
                  <a:srgbClr val="222222"/>
                </a:solidFill>
                <a:latin typeface="Arial" panose="020B0604020202020204" pitchFamily="34" charset="0"/>
              </a:rPr>
              <a:t>: 3589.502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09F73A5-3C4E-26E4-CF8B-376C3D5666AF}"/>
              </a:ext>
            </a:extLst>
          </p:cNvPr>
          <p:cNvSpPr txBox="1"/>
          <p:nvPr/>
        </p:nvSpPr>
        <p:spPr>
          <a:xfrm>
            <a:off x="8926251" y="2316833"/>
            <a:ext cx="2443019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本次</a:t>
            </a:r>
            <a:r>
              <a:rPr lang="en-US" altLang="zh-TW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PPO: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動態環境</a:t>
            </a:r>
            <a:endParaRPr lang="en-US" altLang="zh-TW" sz="2000" spc="-5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固定時間放</a:t>
            </a:r>
            <a:endParaRPr lang="en-US" altLang="zh-TW" sz="2000" spc="-5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18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en-US" altLang="zh-TW" sz="1800" dirty="0">
                <a:solidFill>
                  <a:srgbClr val="222222"/>
                </a:solidFill>
                <a:latin typeface="Arial" panose="020B0604020202020204" pitchFamily="34" charset="0"/>
              </a:rPr>
              <a:t>: 3764.968</a:t>
            </a:r>
          </a:p>
        </p:txBody>
      </p:sp>
    </p:spTree>
    <p:extLst>
      <p:ext uri="{BB962C8B-B14F-4D97-AF65-F5344CB8AC3E}">
        <p14:creationId xmlns:p14="http://schemas.microsoft.com/office/powerpoint/2010/main" val="2246932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</a:t>
            </a:r>
            <a:r>
              <a:rPr lang="en-US" altLang="zh-TW" dirty="0"/>
              <a:t>DDQN</a:t>
            </a:r>
            <a:r>
              <a:rPr lang="zh-TW" altLang="en-US" dirty="0"/>
              <a:t> </a:t>
            </a:r>
            <a:r>
              <a:rPr lang="en-US" altLang="zh-TW" dirty="0"/>
              <a:t>rewards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變動值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–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本次排程總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變動值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/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dt ) -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本次排程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 ratio</a:t>
            </a:r>
          </a:p>
        </p:txBody>
      </p:sp>
    </p:spTree>
    <p:extLst>
      <p:ext uri="{BB962C8B-B14F-4D97-AF65-F5344CB8AC3E}">
        <p14:creationId xmlns:p14="http://schemas.microsoft.com/office/powerpoint/2010/main" val="1263581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sz="4000" dirty="0" err="1">
                <a:solidFill>
                  <a:srgbClr val="222222"/>
                </a:solidFill>
                <a:latin typeface="Arial" panose="020B0604020202020204" pitchFamily="34" charset="0"/>
              </a:rPr>
              <a:t>dynamic_PPO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idle penalty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7" name="圖片 6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E560D95A-DF85-2F5F-3DA5-9308CEEEA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49" y="2721170"/>
            <a:ext cx="4380618" cy="3504495"/>
          </a:xfrm>
          <a:prstGeom prst="rect">
            <a:avLst/>
          </a:prstGeom>
        </p:spPr>
      </p:pic>
      <p:pic>
        <p:nvPicPr>
          <p:cNvPr id="10" name="圖片 9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FC5E34F7-BB13-02B8-2244-134903060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135" y="2721170"/>
            <a:ext cx="4380618" cy="350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9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original</a:t>
            </a:r>
            <a:r>
              <a:rPr lang="en-US" altLang="zh-TW" sz="4000" dirty="0" err="1">
                <a:solidFill>
                  <a:srgbClr val="222222"/>
                </a:solidFill>
                <a:latin typeface="Arial" panose="020B0604020202020204" pitchFamily="34" charset="0"/>
              </a:rPr>
              <a:t>_PPO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idle penalty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0" name="圖片 9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FC5E34F7-BB13-02B8-2244-13490306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135" y="2721170"/>
            <a:ext cx="4380618" cy="3504495"/>
          </a:xfrm>
          <a:prstGeom prst="rect">
            <a:avLst/>
          </a:prstGeom>
        </p:spPr>
      </p:pic>
      <p:pic>
        <p:nvPicPr>
          <p:cNvPr id="11" name="圖片 10" descr="一張含有 文字, 筆跡, 字型, 繪圖 的圖片&#10;&#10;AI 產生的內容可能不正確。">
            <a:extLst>
              <a:ext uri="{FF2B5EF4-FFF2-40B4-BE49-F238E27FC236}">
                <a16:creationId xmlns:a16="http://schemas.microsoft.com/office/drawing/2014/main" id="{F16E4315-2F86-E08C-3756-C12FA1852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716" y="2650435"/>
            <a:ext cx="4469037" cy="3575230"/>
          </a:xfrm>
          <a:prstGeom prst="rect">
            <a:avLst/>
          </a:prstGeom>
        </p:spPr>
      </p:pic>
      <p:pic>
        <p:nvPicPr>
          <p:cNvPr id="14" name="圖片 13" descr="一張含有 文字, 筆跡, 字型, 繪圖 的圖片&#10;&#10;AI 產生的內容可能不正確。">
            <a:extLst>
              <a:ext uri="{FF2B5EF4-FFF2-40B4-BE49-F238E27FC236}">
                <a16:creationId xmlns:a16="http://schemas.microsoft.com/office/drawing/2014/main" id="{7F6621DC-0DAC-030A-7FA8-13A590DF0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67" y="2650435"/>
            <a:ext cx="4380618" cy="350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4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測試結果</a:t>
            </a:r>
            <a:r>
              <a:rPr lang="en-US" altLang="zh-TW" dirty="0"/>
              <a:t>(</a:t>
            </a:r>
            <a:r>
              <a:rPr lang="en-US" altLang="zh-TW" sz="40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40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次平均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CE86DF5-A56C-53B7-CC83-15619340C8A4}"/>
              </a:ext>
            </a:extLst>
          </p:cNvPr>
          <p:cNvSpPr txBox="1">
            <a:spLocks/>
          </p:cNvSpPr>
          <p:nvPr/>
        </p:nvSpPr>
        <p:spPr>
          <a:xfrm>
            <a:off x="5992492" y="1838345"/>
            <a:ext cx="2451205" cy="426692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每次放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Makespan:3497.711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平均耗時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:38.23s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分布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:3290.359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~3725.000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814076C-AFD0-90C0-41DB-3FB6F14E3038}"/>
              </a:ext>
            </a:extLst>
          </p:cNvPr>
          <p:cNvSpPr txBox="1">
            <a:spLocks/>
          </p:cNvSpPr>
          <p:nvPr/>
        </p:nvSpPr>
        <p:spPr>
          <a:xfrm>
            <a:off x="8636967" y="1844040"/>
            <a:ext cx="3214374" cy="46157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公式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250)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Makespan:3589.502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先前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PPO+DDQN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Makespan:3694.588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A31A28B-EDB6-C10D-5710-DB514DA3E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622"/>
              </p:ext>
            </p:extLst>
          </p:nvPr>
        </p:nvGraphicFramePr>
        <p:xfrm>
          <a:off x="524809" y="2680587"/>
          <a:ext cx="4822805" cy="2034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177">
                  <a:extLst>
                    <a:ext uri="{9D8B030D-6E8A-4147-A177-3AD203B41FA5}">
                      <a16:colId xmlns:a16="http://schemas.microsoft.com/office/drawing/2014/main" val="3377498168"/>
                    </a:ext>
                  </a:extLst>
                </a:gridCol>
                <a:gridCol w="1660563">
                  <a:extLst>
                    <a:ext uri="{9D8B030D-6E8A-4147-A177-3AD203B41FA5}">
                      <a16:colId xmlns:a16="http://schemas.microsoft.com/office/drawing/2014/main" val="556500828"/>
                    </a:ext>
                  </a:extLst>
                </a:gridCol>
                <a:gridCol w="1763065">
                  <a:extLst>
                    <a:ext uri="{9D8B030D-6E8A-4147-A177-3AD203B41FA5}">
                      <a16:colId xmlns:a16="http://schemas.microsoft.com/office/drawing/2014/main" val="2182413825"/>
                    </a:ext>
                  </a:extLst>
                </a:gridCol>
              </a:tblGrid>
              <a:tr h="678283">
                <a:tc>
                  <a:txBody>
                    <a:bodyPr/>
                    <a:lstStyle/>
                    <a:p>
                      <a:pPr algn="ctr" fontAlgn="b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dynamic ppo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 ppo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143068"/>
                  </a:ext>
                </a:extLst>
              </a:tr>
              <a:tr h="6782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 dirty="0">
                          <a:effectLst/>
                        </a:rPr>
                        <a:t>3837.143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3708.72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706485"/>
                  </a:ext>
                </a:extLst>
              </a:tr>
              <a:tr h="6782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mk_interval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3801.634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 dirty="0">
                          <a:effectLst/>
                        </a:rPr>
                        <a:t>3663.656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0238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25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調整超參數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AA3E8CA-6EDC-51AC-9E32-CED4365ECED0}"/>
              </a:ext>
            </a:extLst>
          </p:cNvPr>
          <p:cNvSpPr txBox="1">
            <a:spLocks/>
          </p:cNvSpPr>
          <p:nvPr/>
        </p:nvSpPr>
        <p:spPr>
          <a:xfrm>
            <a:off x="990186" y="1923831"/>
            <a:ext cx="3832826" cy="4266928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使用原本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 reward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往提高探索，緩慢收斂方向調整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Episode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&gt;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300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學習率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1e-3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&gt;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3e-4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初始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epsilon 0.2 &gt; 0.4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Epsilon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遞減終點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70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&gt;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170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最終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次平均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 3688.280</a:t>
            </a:r>
          </a:p>
        </p:txBody>
      </p:sp>
      <p:pic>
        <p:nvPicPr>
          <p:cNvPr id="11" name="圖片 10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76C88D22-7535-6BF7-5377-7D037FB15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892" y="1763813"/>
            <a:ext cx="5771580" cy="461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5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從收斂圖來看，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PPO</a:t>
            </a:r>
            <a:r>
              <a:rPr lang="zh-TW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訓練不太好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在</a:t>
            </a:r>
            <a:r>
              <a:rPr lang="zh-TW" alt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固定時間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release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的狀況下來看新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PPO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效果略遜於先前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PPO</a:t>
            </a: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增加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Idle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與原本相比，看起來沒有顯著差異</a:t>
            </a:r>
            <a:endParaRPr lang="en-US" altLang="zh-TW" sz="2000" spc="-50" dirty="0">
              <a:solidFill>
                <a:srgbClr val="222222"/>
              </a:solidFill>
              <a:latin typeface="Arial" panose="020B0604020202020204" pitchFamily="34" charset="0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超參數調整後收斂圖看起來有改善，但結果並無太大進步</a:t>
            </a:r>
            <a:endParaRPr lang="en-US" altLang="zh-TW" sz="2000" spc="-50" dirty="0">
              <a:solidFill>
                <a:srgbClr val="222222"/>
              </a:solidFill>
              <a:latin typeface="Arial" panose="020B0604020202020204" pitchFamily="34" charset="0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目前看來每次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release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依然是最佳解，但耗時較久</a:t>
            </a:r>
            <a:endParaRPr lang="en-US" altLang="zh-TW" sz="2000" spc="-50" dirty="0">
              <a:solidFill>
                <a:srgbClr val="222222"/>
              </a:solidFill>
              <a:latin typeface="Arial" panose="020B0604020202020204" pitchFamily="34" charset="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而從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每次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release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的結果看來，解的品質分布很大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3290.359~3725.000</a:t>
            </a:r>
            <a:endParaRPr lang="en-US" altLang="zh-TW" sz="2000" spc="-50" dirty="0">
              <a:solidFill>
                <a:srgbClr val="222222"/>
              </a:solidFill>
              <a:latin typeface="Arial" panose="020B0604020202020204" pitchFamily="34" charset="0"/>
              <a:ea typeface="微軟正黑體" panose="020B0604030504040204" pitchFamily="34" charset="-120"/>
              <a:cs typeface="+mj-cs"/>
            </a:endParaRPr>
          </a:p>
          <a:p>
            <a:pPr>
              <a:lnSpc>
                <a:spcPct val="150000"/>
              </a:lnSpc>
            </a:pPr>
            <a:endParaRPr lang="en-US" altLang="zh-TW" sz="2000" spc="-5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5266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我的疑問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問題是否出在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state??</a:t>
            </a: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目前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rewards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加了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t ~ t+1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的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cs typeface="+mj-cs"/>
              </a:rPr>
              <a:t>idle</a:t>
            </a: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但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DDQN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是否能夠根據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state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知道所做的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action 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會造成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idle?</a:t>
            </a:r>
            <a:endParaRPr lang="en-US" altLang="zh-TW" sz="2000" spc="-50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下方兩種情況變異數相同，</a:t>
            </a:r>
            <a:r>
              <a:rPr lang="en-US" altLang="zh-TW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idle</a:t>
            </a:r>
            <a:r>
              <a:rPr lang="zh-TW" altLang="en-US" sz="2000" spc="-50" dirty="0">
                <a:solidFill>
                  <a:srgbClr val="22222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j-cs"/>
              </a:rPr>
              <a:t>卻不一樣</a:t>
            </a:r>
            <a:endParaRPr lang="en-US" altLang="zh-TW" sz="2000" spc="-50" dirty="0">
              <a:solidFill>
                <a:srgbClr val="222222"/>
              </a:solidFill>
              <a:latin typeface="Arial" panose="020B0604020202020204" pitchFamily="34" charset="0"/>
              <a:ea typeface="微軟正黑體" panose="020B0604030504040204" pitchFamily="34" charset="-120"/>
              <a:cs typeface="+mj-cs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C87909-C287-1F08-EFC3-3FB4806D1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74" y="1844040"/>
            <a:ext cx="5534797" cy="1371791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F17D2E3-5444-8CA5-00F3-1BD5F1FE945C}"/>
              </a:ext>
            </a:extLst>
          </p:cNvPr>
          <p:cNvCxnSpPr>
            <a:cxnSpLocks/>
          </p:cNvCxnSpPr>
          <p:nvPr/>
        </p:nvCxnSpPr>
        <p:spPr>
          <a:xfrm>
            <a:off x="1187753" y="4322250"/>
            <a:ext cx="0" cy="17391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6F52ECC-4E4B-B00B-823F-78C68889733C}"/>
              </a:ext>
            </a:extLst>
          </p:cNvPr>
          <p:cNvCxnSpPr>
            <a:cxnSpLocks/>
          </p:cNvCxnSpPr>
          <p:nvPr/>
        </p:nvCxnSpPr>
        <p:spPr>
          <a:xfrm flipH="1">
            <a:off x="1187753" y="6061403"/>
            <a:ext cx="36307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F72EB2B-3DD7-CCA4-DAAC-3DE96CA933AB}"/>
              </a:ext>
            </a:extLst>
          </p:cNvPr>
          <p:cNvSpPr/>
          <p:nvPr/>
        </p:nvSpPr>
        <p:spPr>
          <a:xfrm>
            <a:off x="1187753" y="4564297"/>
            <a:ext cx="1775011" cy="1703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079EE2-821B-6E11-1434-59E10D97D44B}"/>
              </a:ext>
            </a:extLst>
          </p:cNvPr>
          <p:cNvSpPr/>
          <p:nvPr/>
        </p:nvSpPr>
        <p:spPr>
          <a:xfrm>
            <a:off x="1340153" y="5037705"/>
            <a:ext cx="1775011" cy="1703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4CEEA8-FB8F-41A3-30E5-E91277A568D8}"/>
              </a:ext>
            </a:extLst>
          </p:cNvPr>
          <p:cNvSpPr/>
          <p:nvPr/>
        </p:nvSpPr>
        <p:spPr>
          <a:xfrm>
            <a:off x="1187753" y="5511114"/>
            <a:ext cx="2449050" cy="170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37229DB-9073-F129-D1E9-A92F7916BEDF}"/>
              </a:ext>
            </a:extLst>
          </p:cNvPr>
          <p:cNvCxnSpPr>
            <a:cxnSpLocks/>
          </p:cNvCxnSpPr>
          <p:nvPr/>
        </p:nvCxnSpPr>
        <p:spPr>
          <a:xfrm>
            <a:off x="2362130" y="4322250"/>
            <a:ext cx="1" cy="170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243CD14-72C9-3539-0BF9-4217D90AA4E6}"/>
              </a:ext>
            </a:extLst>
          </p:cNvPr>
          <p:cNvCxnSpPr>
            <a:cxnSpLocks/>
          </p:cNvCxnSpPr>
          <p:nvPr/>
        </p:nvCxnSpPr>
        <p:spPr>
          <a:xfrm>
            <a:off x="4013319" y="4398178"/>
            <a:ext cx="1" cy="170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5569F1C-CD1A-A678-6BA5-6F0599C38C79}"/>
              </a:ext>
            </a:extLst>
          </p:cNvPr>
          <p:cNvSpPr txBox="1"/>
          <p:nvPr/>
        </p:nvSpPr>
        <p:spPr>
          <a:xfrm>
            <a:off x="2236624" y="6130192"/>
            <a:ext cx="25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7B36A2-E5DF-B288-A2F6-F11279A8ECE0}"/>
              </a:ext>
            </a:extLst>
          </p:cNvPr>
          <p:cNvSpPr txBox="1"/>
          <p:nvPr/>
        </p:nvSpPr>
        <p:spPr>
          <a:xfrm>
            <a:off x="3787937" y="6130192"/>
            <a:ext cx="58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t+1</a:t>
            </a:r>
            <a:endParaRPr lang="zh-TW" altLang="en-US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8725D224-0473-19E9-67F7-C5662CA79FB3}"/>
              </a:ext>
            </a:extLst>
          </p:cNvPr>
          <p:cNvCxnSpPr>
            <a:cxnSpLocks/>
          </p:cNvCxnSpPr>
          <p:nvPr/>
        </p:nvCxnSpPr>
        <p:spPr>
          <a:xfrm>
            <a:off x="6888261" y="4322250"/>
            <a:ext cx="0" cy="17391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95CEA87-7F26-459C-CED8-E4D3F4AD16BA}"/>
              </a:ext>
            </a:extLst>
          </p:cNvPr>
          <p:cNvCxnSpPr>
            <a:cxnSpLocks/>
          </p:cNvCxnSpPr>
          <p:nvPr/>
        </p:nvCxnSpPr>
        <p:spPr>
          <a:xfrm flipH="1">
            <a:off x="6888261" y="6061403"/>
            <a:ext cx="36307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497701E-7B45-5394-BB16-B813C675AFEC}"/>
              </a:ext>
            </a:extLst>
          </p:cNvPr>
          <p:cNvSpPr/>
          <p:nvPr/>
        </p:nvSpPr>
        <p:spPr>
          <a:xfrm>
            <a:off x="7228920" y="4564297"/>
            <a:ext cx="1775011" cy="1703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DA199A-5B05-A66D-C5F1-7B66FD686B20}"/>
              </a:ext>
            </a:extLst>
          </p:cNvPr>
          <p:cNvSpPr/>
          <p:nvPr/>
        </p:nvSpPr>
        <p:spPr>
          <a:xfrm>
            <a:off x="7381320" y="5037705"/>
            <a:ext cx="1775011" cy="1703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423AB1-4A56-DBF8-16F4-50EE12D34AAC}"/>
              </a:ext>
            </a:extLst>
          </p:cNvPr>
          <p:cNvSpPr/>
          <p:nvPr/>
        </p:nvSpPr>
        <p:spPr>
          <a:xfrm>
            <a:off x="7228920" y="5511114"/>
            <a:ext cx="2449050" cy="17031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DBC3725-3958-2557-F90A-5B086D6C7295}"/>
              </a:ext>
            </a:extLst>
          </p:cNvPr>
          <p:cNvCxnSpPr>
            <a:cxnSpLocks/>
          </p:cNvCxnSpPr>
          <p:nvPr/>
        </p:nvCxnSpPr>
        <p:spPr>
          <a:xfrm>
            <a:off x="8062638" y="4322250"/>
            <a:ext cx="1" cy="170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DF8FACD-9536-F703-8AFB-0552EE0BCE11}"/>
              </a:ext>
            </a:extLst>
          </p:cNvPr>
          <p:cNvCxnSpPr>
            <a:cxnSpLocks/>
          </p:cNvCxnSpPr>
          <p:nvPr/>
        </p:nvCxnSpPr>
        <p:spPr>
          <a:xfrm>
            <a:off x="9713827" y="4398178"/>
            <a:ext cx="1" cy="170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57179E8-CDD0-2E08-6ABB-02B3CACD97B8}"/>
              </a:ext>
            </a:extLst>
          </p:cNvPr>
          <p:cNvSpPr txBox="1"/>
          <p:nvPr/>
        </p:nvSpPr>
        <p:spPr>
          <a:xfrm>
            <a:off x="7937132" y="6130192"/>
            <a:ext cx="25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61F8E20-CBD6-2FC3-5FD5-860059AF3B26}"/>
              </a:ext>
            </a:extLst>
          </p:cNvPr>
          <p:cNvSpPr txBox="1"/>
          <p:nvPr/>
        </p:nvSpPr>
        <p:spPr>
          <a:xfrm>
            <a:off x="9488445" y="6130192"/>
            <a:ext cx="58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t+1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355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131928</TotalTime>
  <Words>510</Words>
  <Application>Microsoft Office PowerPoint</Application>
  <PresentationFormat>寬螢幕</PresentationFormat>
  <Paragraphs>94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微軟正黑體</vt:lpstr>
      <vt:lpstr>新細明體</vt:lpstr>
      <vt:lpstr>Abadi</vt:lpstr>
      <vt:lpstr>Arial</vt:lpstr>
      <vt:lpstr>Calibri</vt:lpstr>
      <vt:lpstr>Cascadia Code</vt:lpstr>
      <vt:lpstr>回顧</vt:lpstr>
      <vt:lpstr>HRL3</vt:lpstr>
      <vt:lpstr>目前進度</vt:lpstr>
      <vt:lpstr>更改項目</vt:lpstr>
      <vt:lpstr>訓練結果</vt:lpstr>
      <vt:lpstr>更改DDQN rewards</vt:lpstr>
      <vt:lpstr>訓練結果-dynamic_PPO + idle penalty</vt:lpstr>
      <vt:lpstr>訓練結果- original_PPO + idle penalty</vt:lpstr>
      <vt:lpstr>測試結果(10次平均)</vt:lpstr>
      <vt:lpstr>調整超參數</vt:lpstr>
      <vt:lpstr>目前問題</vt:lpstr>
      <vt:lpstr>我的疑問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815</cp:revision>
  <dcterms:created xsi:type="dcterms:W3CDTF">2022-03-03T14:40:23Z</dcterms:created>
  <dcterms:modified xsi:type="dcterms:W3CDTF">2025-11-18T06:42:59Z</dcterms:modified>
</cp:coreProperties>
</file>