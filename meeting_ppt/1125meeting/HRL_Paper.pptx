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6"/>
  </p:notesMasterIdLst>
  <p:sldIdLst>
    <p:sldId id="942" r:id="rId2"/>
    <p:sldId id="947" r:id="rId3"/>
    <p:sldId id="991" r:id="rId4"/>
    <p:sldId id="1016" r:id="rId5"/>
    <p:sldId id="1015" r:id="rId6"/>
    <p:sldId id="1017" r:id="rId7"/>
    <p:sldId id="1018" r:id="rId8"/>
    <p:sldId id="1020" r:id="rId9"/>
    <p:sldId id="1021" r:id="rId10"/>
    <p:sldId id="1023" r:id="rId11"/>
    <p:sldId id="1024" r:id="rId12"/>
    <p:sldId id="1025" r:id="rId13"/>
    <p:sldId id="1026" r:id="rId14"/>
    <p:sldId id="1027" r:id="rId15"/>
    <p:sldId id="1029" r:id="rId16"/>
    <p:sldId id="1028" r:id="rId17"/>
    <p:sldId id="1031" r:id="rId18"/>
    <p:sldId id="1032" r:id="rId19"/>
    <p:sldId id="1033" r:id="rId20"/>
    <p:sldId id="1035" r:id="rId21"/>
    <p:sldId id="1036" r:id="rId22"/>
    <p:sldId id="1034" r:id="rId23"/>
    <p:sldId id="1037" r:id="rId24"/>
    <p:sldId id="93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70AD47"/>
    <a:srgbClr val="3F6EC2"/>
    <a:srgbClr val="ED7D31"/>
    <a:srgbClr val="C00000"/>
    <a:srgbClr val="4E799B"/>
    <a:srgbClr val="FFAD39"/>
    <a:srgbClr val="FF9966"/>
    <a:srgbClr val="B0966A"/>
    <a:srgbClr val="CA6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5796" autoAdjust="0"/>
  </p:normalViewPr>
  <p:slideViewPr>
    <p:cSldViewPr snapToGrid="0">
      <p:cViewPr varScale="1">
        <p:scale>
          <a:sx n="107" d="100"/>
          <a:sy n="107" d="100"/>
        </p:scale>
        <p:origin x="660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842FF-CB32-43DF-B9FE-65EF665875B2}" type="datetimeFigureOut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E097C-2611-49AA-93D4-A0110E9A53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620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210733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spc="-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6218" y="4064624"/>
            <a:ext cx="10058400" cy="1143000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414A-AA3B-479F-9443-E87E6DB2D303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385064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Taipei Tech logo">
            <a:extLst>
              <a:ext uri="{FF2B5EF4-FFF2-40B4-BE49-F238E27FC236}">
                <a16:creationId xmlns:a16="http://schemas.microsoft.com/office/drawing/2014/main" id="{C84FB869-60CA-1359-A1A9-972FEE00D5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573" y="82333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8FE2F8E-0A2C-6F39-816C-42C1E1733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328" y="180909"/>
            <a:ext cx="3740342" cy="55882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9E7AFDF-5951-D557-114F-9D59ED13850D}"/>
              </a:ext>
            </a:extLst>
          </p:cNvPr>
          <p:cNvSpPr/>
          <p:nvPr userDrawn="1"/>
        </p:nvSpPr>
        <p:spPr>
          <a:xfrm>
            <a:off x="1" y="1632361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F597C5-038F-02ED-F1C7-CE412689C651}"/>
              </a:ext>
            </a:extLst>
          </p:cNvPr>
          <p:cNvSpPr/>
          <p:nvPr userDrawn="1"/>
        </p:nvSpPr>
        <p:spPr>
          <a:xfrm>
            <a:off x="11337885" y="1632360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5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>
            <a:noAutofit/>
          </a:bodyPr>
          <a:lstStyle>
            <a:lvl1pPr marL="0">
              <a:defRPr sz="40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64139-FB37-44CF-9649-84761977F7A6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4E0F19-E296-C08D-6CCC-3FFA478020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24280" y="1844040"/>
            <a:ext cx="10012680" cy="4307840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29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6B276-F255-4EEC-8D40-1223573FF8B6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D32E87-AE6C-472D-9A09-3ECFE3A03479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9B39C-AD5F-C429-CFBC-3A61DB623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80" y="33090"/>
            <a:ext cx="9562253" cy="545671"/>
          </a:xfrm>
        </p:spPr>
        <p:txBody>
          <a:bodyPr>
            <a:noAutofit/>
          </a:bodyPr>
          <a:lstStyle>
            <a:lvl1pPr marL="0">
              <a:defRPr sz="32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BBEB8-4775-A21F-4CBB-D3B6B1972A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8640" y="911014"/>
            <a:ext cx="11247120" cy="5240866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997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9F5CB97-E547-425F-B1EF-51E6D4EAC77F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356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E65-6E56-49AE-80DA-7E1BCEC842BD}" type="datetime1">
              <a:rPr lang="zh-TW" altLang="en-US" smtClean="0"/>
              <a:t>2025/11/25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80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714" y="6515590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459D13DB-F681-4B20-BE28-C9CE0BB35DC9}" type="datetime1">
              <a:rPr lang="zh-TW" altLang="en-US" smtClean="0"/>
              <a:pPr/>
              <a:t>2025/11/25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571397"/>
            <a:ext cx="4822804" cy="2535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baseline="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132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96F0BE3-5357-4671-AC41-EE354106F685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6" name="Picture 2" descr="Taipei Tech logo">
            <a:extLst>
              <a:ext uri="{FF2B5EF4-FFF2-40B4-BE49-F238E27FC236}">
                <a16:creationId xmlns:a16="http://schemas.microsoft.com/office/drawing/2014/main" id="{B93B3042-4014-4658-5163-E5664504D9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687" y="76285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62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3" r:id="rId3"/>
    <p:sldLayoutId id="2147483704" r:id="rId4"/>
    <p:sldLayoutId id="2147483707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FB725-A3BC-1735-E5D3-E841251F3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556043"/>
          </a:xfrm>
        </p:spPr>
        <p:txBody>
          <a:bodyPr>
            <a:normAutofit/>
          </a:bodyPr>
          <a:lstStyle/>
          <a:p>
            <a:r>
              <a:rPr lang="en-US" altLang="zh-TW" dirty="0"/>
              <a:t>HRL</a:t>
            </a:r>
            <a:r>
              <a:rPr lang="zh-TW" altLang="en-US" dirty="0"/>
              <a:t> </a:t>
            </a:r>
            <a:r>
              <a:rPr lang="en-US" altLang="zh-TW" dirty="0"/>
              <a:t>Paper review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B61C99B-68D5-06B4-0619-45FF2CD5F2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李信翰</a:t>
            </a:r>
            <a:endParaRPr lang="en-US" altLang="zh-TW" dirty="0"/>
          </a:p>
          <a:p>
            <a:r>
              <a:rPr lang="en-US" altLang="zh-TW" dirty="0"/>
              <a:t>2025/11/25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829393D-EB17-0B9B-F7A1-7EBE7209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10FEA9-4B06-E7EE-E0A0-84370D4E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67401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2</a:t>
            </a:fld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062E673-45F3-D5A5-F802-438D65E43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244016"/>
              </p:ext>
            </p:extLst>
          </p:nvPr>
        </p:nvGraphicFramePr>
        <p:xfrm>
          <a:off x="1126938" y="2558884"/>
          <a:ext cx="9938124" cy="31132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7164">
                  <a:extLst>
                    <a:ext uri="{9D8B030D-6E8A-4147-A177-3AD203B41FA5}">
                      <a16:colId xmlns:a16="http://schemas.microsoft.com/office/drawing/2014/main" val="1768753579"/>
                    </a:ext>
                  </a:extLst>
                </a:gridCol>
                <a:gridCol w="2006853">
                  <a:extLst>
                    <a:ext uri="{9D8B030D-6E8A-4147-A177-3AD203B41FA5}">
                      <a16:colId xmlns:a16="http://schemas.microsoft.com/office/drawing/2014/main" val="1537042041"/>
                    </a:ext>
                  </a:extLst>
                </a:gridCol>
                <a:gridCol w="3252623">
                  <a:extLst>
                    <a:ext uri="{9D8B030D-6E8A-4147-A177-3AD203B41FA5}">
                      <a16:colId xmlns:a16="http://schemas.microsoft.com/office/drawing/2014/main" val="3165155647"/>
                    </a:ext>
                  </a:extLst>
                </a:gridCol>
                <a:gridCol w="2451484">
                  <a:extLst>
                    <a:ext uri="{9D8B030D-6E8A-4147-A177-3AD203B41FA5}">
                      <a16:colId xmlns:a16="http://schemas.microsoft.com/office/drawing/2014/main" val="862919526"/>
                    </a:ext>
                  </a:extLst>
                </a:gridCol>
              </a:tblGrid>
              <a:tr h="62265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>
                          <a:effectLst/>
                        </a:rPr>
                        <a:t>30 runs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>
                          <a:effectLst/>
                        </a:rPr>
                        <a:t>Release by DDQN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>
                          <a:effectLst/>
                        </a:rPr>
                        <a:t>Release every 250s (By paper)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>
                          <a:effectLst/>
                        </a:rPr>
                        <a:t>Release every time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126843702"/>
                  </a:ext>
                </a:extLst>
              </a:tr>
              <a:tr h="62265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>
                          <a:effectLst/>
                        </a:rPr>
                        <a:t>Dynamic makespan (avg)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3756.67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>
                          <a:effectLst/>
                        </a:rPr>
                        <a:t>3568.631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>
                          <a:effectLst/>
                        </a:rPr>
                        <a:t>3482.812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9755387"/>
                  </a:ext>
                </a:extLst>
              </a:tr>
              <a:tr h="62265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>
                          <a:effectLst/>
                        </a:rPr>
                        <a:t>Dynamic makespan (std)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139.295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155.383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>
                          <a:effectLst/>
                        </a:rPr>
                        <a:t>133.018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04483884"/>
                  </a:ext>
                </a:extLst>
              </a:tr>
              <a:tr h="62265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>
                          <a:effectLst/>
                        </a:rPr>
                        <a:t>Dynamic makespan (max)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>
                          <a:effectLst/>
                        </a:rPr>
                        <a:t>3981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4027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>
                          <a:effectLst/>
                        </a:rPr>
                        <a:t>3795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40194376"/>
                  </a:ext>
                </a:extLst>
              </a:tr>
              <a:tr h="62265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>
                          <a:effectLst/>
                        </a:rPr>
                        <a:t>Dynamic makespan (min)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>
                          <a:effectLst/>
                        </a:rPr>
                        <a:t>3429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>
                          <a:effectLst/>
                        </a:rPr>
                        <a:t>3232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3225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9861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4481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初步分類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589854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目前動態問題排法大略可分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1.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隨著時間推進，新到的工單放入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buffer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，當有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machine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完工或其他條件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			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          達成時，從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buffer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挑一個工單排。</a:t>
            </a:r>
            <a:b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</a:b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			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     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2.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隨著時間推進，新到的工單放入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buffer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，條件達成時進行未完工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+buffer			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          內工單全部重排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據所找到的論文來說，第一種方法佔大多數，概念較簡單，也與本次討論較無相關，所以著重在第二種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除了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 arrive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外，也常常有維修或取消等其他事件、資源限制或是多目標問題等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338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A7BBC1-C5D8-4ADA-8E9A-73EA65A81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242392"/>
            <a:ext cx="10058400" cy="1929222"/>
          </a:xfrm>
        </p:spPr>
        <p:txBody>
          <a:bodyPr>
            <a:noAutofit/>
          </a:bodyPr>
          <a:lstStyle/>
          <a:p>
            <a:r>
              <a:rPr lang="en-US" altLang="zh-TW" sz="4000" dirty="0"/>
              <a:t>Dynamic scheduling for cloud manufacturing with uncertain events by hierarchical reinforcement learning and attention mechanism</a:t>
            </a:r>
            <a:endParaRPr lang="zh-TW" altLang="en-US" sz="40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80C143E-DA6D-4655-9FBD-35C1D7D305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Zhang, J., Jiang, Y., Guo, B., Liu, T., Hu, D., Zhang, J., ... &amp; Ding, X. (2025). </a:t>
            </a:r>
          </a:p>
          <a:p>
            <a:r>
              <a:rPr lang="en-US" altLang="zh-TW" dirty="0"/>
              <a:t>Knowledge-Based Systems, 316, 113335.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78BBDCF-C33E-4C38-9489-4868E91AE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E0FE7F9-4FF4-4824-B444-04E192E4D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8068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11F53CFF-04E8-4CA3-90E4-A5DC74FFA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648" y="2393646"/>
            <a:ext cx="3753250" cy="139316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BBFD60D-7647-4971-9309-E681C9F74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/>
          <a:lstStyle/>
          <a:p>
            <a:r>
              <a:rPr lang="zh-TW" altLang="en-US" dirty="0"/>
              <a:t>概述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5D38B8B-7E33-471E-9671-46A7EA8C3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0C8183-1B12-4439-B367-B24E3C5BA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61548B9-ADF2-43C7-8761-12720CB24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問題</a:t>
            </a:r>
            <a:r>
              <a:rPr lang="en-US" altLang="zh-TW" dirty="0"/>
              <a:t>:cloud manufacturing</a:t>
            </a:r>
            <a:r>
              <a:rPr lang="zh-TW" altLang="en-US" dirty="0"/>
              <a:t>，與</a:t>
            </a:r>
            <a:r>
              <a:rPr lang="en-US" altLang="zh-TW" dirty="0"/>
              <a:t>FJSP</a:t>
            </a:r>
            <a:r>
              <a:rPr lang="zh-TW" altLang="en-US" dirty="0"/>
              <a:t>相似</a:t>
            </a:r>
            <a:r>
              <a:rPr lang="en-US" altLang="zh-TW" dirty="0"/>
              <a:t>(task</a:t>
            </a:r>
            <a:r>
              <a:rPr lang="zh-TW" altLang="en-US" dirty="0"/>
              <a:t>有多個</a:t>
            </a:r>
            <a:r>
              <a:rPr lang="en-US" altLang="zh-TW" dirty="0"/>
              <a:t>subtask</a:t>
            </a:r>
            <a:r>
              <a:rPr lang="zh-TW" altLang="en-US" dirty="0"/>
              <a:t>，可在多個</a:t>
            </a:r>
            <a:r>
              <a:rPr lang="en-US" altLang="zh-TW" dirty="0"/>
              <a:t>							manufacturing cell</a:t>
            </a:r>
            <a:r>
              <a:rPr lang="zh-TW" altLang="en-US" dirty="0"/>
              <a:t>加工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目標</a:t>
            </a:r>
            <a:r>
              <a:rPr lang="en-US" altLang="zh-TW" dirty="0"/>
              <a:t>:</a:t>
            </a:r>
            <a:r>
              <a:rPr lang="zh-TW" altLang="en-US" dirty="0"/>
              <a:t>最小化成本與</a:t>
            </a:r>
            <a:r>
              <a:rPr lang="en-US" altLang="zh-TW" dirty="0" err="1"/>
              <a:t>Makespan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不確定事件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Task insertion</a:t>
            </a:r>
            <a:r>
              <a:rPr lang="zh-TW" altLang="en-US" dirty="0"/>
              <a:t>、</a:t>
            </a:r>
            <a:r>
              <a:rPr lang="en-US" altLang="zh-TW" dirty="0"/>
              <a:t>modification</a:t>
            </a:r>
            <a:r>
              <a:rPr lang="zh-TW" altLang="en-US" dirty="0"/>
              <a:t>、</a:t>
            </a:r>
            <a:r>
              <a:rPr lang="en-US" altLang="zh-TW" dirty="0"/>
              <a:t>cancellation; Manufacturing service addition</a:t>
            </a:r>
            <a:r>
              <a:rPr lang="zh-TW" altLang="en-US" dirty="0"/>
              <a:t>、</a:t>
            </a:r>
            <a:r>
              <a:rPr lang="en-US" altLang="zh-TW" dirty="0"/>
              <a:t>modification</a:t>
            </a:r>
            <a:r>
              <a:rPr lang="zh-TW" altLang="en-US" dirty="0"/>
              <a:t>、</a:t>
            </a:r>
            <a:r>
              <a:rPr lang="en-US" altLang="zh-TW" dirty="0"/>
              <a:t>cancellation</a:t>
            </a:r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99516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BFD60D-7647-4971-9309-E681C9F74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/>
          <a:lstStyle/>
          <a:p>
            <a:r>
              <a:rPr lang="zh-TW" altLang="en-US" dirty="0"/>
              <a:t>總覽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5D38B8B-7E33-471E-9671-46A7EA8C3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0C8183-1B12-4439-B367-B24E3C5BA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1C85A0B-FA80-48E0-8B8E-11C872745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739" y="1971403"/>
            <a:ext cx="7752522" cy="424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455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BFD60D-7647-4971-9309-E681C9F74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/>
          <a:lstStyle/>
          <a:p>
            <a:r>
              <a:rPr lang="zh-TW" altLang="en-US" dirty="0"/>
              <a:t>動態事件處理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5D38B8B-7E33-471E-9671-46A7EA8C3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0C8183-1B12-4439-B367-B24E3C5BA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9A9CAD3-30CF-4A0B-A7BB-2C25E1DE0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385" y="1834186"/>
            <a:ext cx="8437230" cy="191733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8CF9217-B5DE-4D0C-BA1F-6B2B1E26B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386" y="3519160"/>
            <a:ext cx="8437229" cy="2284166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3EE841E-AE02-4935-ACAF-4071F42A1A87}"/>
              </a:ext>
            </a:extLst>
          </p:cNvPr>
          <p:cNvSpPr/>
          <p:nvPr/>
        </p:nvSpPr>
        <p:spPr>
          <a:xfrm>
            <a:off x="4956048" y="3145536"/>
            <a:ext cx="5273040" cy="337999"/>
          </a:xfrm>
          <a:prstGeom prst="rect">
            <a:avLst/>
          </a:prstGeom>
          <a:solidFill>
            <a:srgbClr val="FFFF00">
              <a:alpha val="2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EB5A65-25CC-4E0D-BD76-BC84C38EA9DB}"/>
              </a:ext>
            </a:extLst>
          </p:cNvPr>
          <p:cNvSpPr/>
          <p:nvPr/>
        </p:nvSpPr>
        <p:spPr>
          <a:xfrm>
            <a:off x="1962912" y="3483535"/>
            <a:ext cx="8266176" cy="766104"/>
          </a:xfrm>
          <a:prstGeom prst="rect">
            <a:avLst/>
          </a:prstGeom>
          <a:solidFill>
            <a:srgbClr val="FFFF00">
              <a:alpha val="2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3B76B96-C8A7-4B83-A687-9CCC1D29DE7D}"/>
              </a:ext>
            </a:extLst>
          </p:cNvPr>
          <p:cNvSpPr/>
          <p:nvPr/>
        </p:nvSpPr>
        <p:spPr>
          <a:xfrm>
            <a:off x="1962912" y="4249638"/>
            <a:ext cx="7379208" cy="429041"/>
          </a:xfrm>
          <a:prstGeom prst="rect">
            <a:avLst/>
          </a:prstGeom>
          <a:solidFill>
            <a:srgbClr val="FFFF00">
              <a:alpha val="2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719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ADB5A9-3874-49C1-9CE0-772878D6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流程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E3A3F63-3B0D-4742-88E1-FD0D4459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B89C2E-AB15-4012-B083-15220456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6464B1B-145A-49F0-B299-01653A7B6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099" y="1807555"/>
            <a:ext cx="8015802" cy="449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682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ADB5A9-3874-49C1-9CE0-772878D6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架構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E3A3F63-3B0D-4742-88E1-FD0D4459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B89C2E-AB15-4012-B083-15220456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55D314E-F4C8-4D11-B9D6-2ABC21BAB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925" y="1751974"/>
            <a:ext cx="8379076" cy="459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658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BFD60D-7647-4971-9309-E681C9F74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/>
          <a:lstStyle/>
          <a:p>
            <a:r>
              <a:rPr lang="zh-TW" altLang="en-US" dirty="0"/>
              <a:t>訓練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5D38B8B-7E33-471E-9671-46A7EA8C3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0C8183-1B12-4439-B367-B24E3C5BA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61548B9-ADF2-43C7-8761-12720CB24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所有</a:t>
            </a:r>
            <a:r>
              <a:rPr lang="en-US" altLang="zh-TW" dirty="0"/>
              <a:t>agent</a:t>
            </a:r>
            <a:r>
              <a:rPr lang="zh-TW" altLang="en-US" dirty="0"/>
              <a:t>同時訓練並使用相同的</a:t>
            </a:r>
            <a:r>
              <a:rPr lang="en-US" altLang="zh-TW" dirty="0"/>
              <a:t>rewards</a:t>
            </a:r>
          </a:p>
          <a:p>
            <a:r>
              <a:rPr lang="en-US" altLang="zh-TW" dirty="0"/>
              <a:t>reward</a:t>
            </a:r>
            <a:r>
              <a:rPr lang="zh-TW" altLang="en-US" dirty="0"/>
              <a:t>會使用</a:t>
            </a:r>
            <a:r>
              <a:rPr lang="en-US" altLang="zh-TW" dirty="0"/>
              <a:t>agent 1</a:t>
            </a:r>
            <a:r>
              <a:rPr lang="zh-TW" altLang="en-US" dirty="0"/>
              <a:t>選擇的目標式做為</a:t>
            </a:r>
            <a:r>
              <a:rPr lang="en-US" altLang="zh-TW" dirty="0"/>
              <a:t>reward</a:t>
            </a:r>
          </a:p>
        </p:txBody>
      </p:sp>
    </p:spTree>
    <p:extLst>
      <p:ext uri="{BB962C8B-B14F-4D97-AF65-F5344CB8AC3E}">
        <p14:creationId xmlns:p14="http://schemas.microsoft.com/office/powerpoint/2010/main" val="1014026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A7BBC1-C5D8-4ADA-8E9A-73EA65A81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242392"/>
            <a:ext cx="10058400" cy="1929222"/>
          </a:xfrm>
        </p:spPr>
        <p:txBody>
          <a:bodyPr>
            <a:noAutofit/>
          </a:bodyPr>
          <a:lstStyle/>
          <a:p>
            <a:r>
              <a:rPr lang="en-US" altLang="zh-TW" sz="4000" dirty="0"/>
              <a:t>Multi-objective reinforcement learning framework for dynamic flexible job shop scheduling problem with uncertain events</a:t>
            </a:r>
            <a:endParaRPr lang="zh-TW" altLang="en-US" sz="40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80C143E-DA6D-4655-9FBD-35C1D7D305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Wang, H., Cheng, J., Liu, C., Zhang, Y., Hu, S., &amp; Chen, L. (2022).</a:t>
            </a:r>
          </a:p>
          <a:p>
            <a:r>
              <a:rPr lang="en-US" altLang="zh-TW" dirty="0"/>
              <a:t> </a:t>
            </a:r>
            <a:r>
              <a:rPr lang="en-US" altLang="zh-TW" i="1" dirty="0"/>
              <a:t>Applied Soft Computing</a:t>
            </a:r>
            <a:r>
              <a:rPr lang="en-US" altLang="zh-TW" dirty="0"/>
              <a:t>, </a:t>
            </a:r>
            <a:r>
              <a:rPr lang="en-US" altLang="zh-TW" i="1" dirty="0"/>
              <a:t>131</a:t>
            </a:r>
            <a:r>
              <a:rPr lang="en-US" altLang="zh-TW" dirty="0"/>
              <a:t>, 109717.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78BBDCF-C33E-4C38-9489-4868E91AE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E0FE7F9-4FF4-4824-B444-04E192E4D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51257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61548B9-ADF2-43C7-8761-12720CB24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問題</a:t>
            </a:r>
            <a:r>
              <a:rPr lang="en-US" altLang="zh-TW" dirty="0"/>
              <a:t>:</a:t>
            </a:r>
            <a:r>
              <a:rPr lang="zh-TW" altLang="en-US" dirty="0"/>
              <a:t>多目標動態事件</a:t>
            </a:r>
            <a:r>
              <a:rPr lang="en-US" altLang="zh-TW" dirty="0"/>
              <a:t>FJSP</a:t>
            </a:r>
          </a:p>
          <a:p>
            <a:endParaRPr lang="en-US" altLang="zh-TW" dirty="0"/>
          </a:p>
          <a:p>
            <a:r>
              <a:rPr lang="zh-TW" altLang="en-US" dirty="0"/>
              <a:t>目標</a:t>
            </a:r>
            <a:r>
              <a:rPr lang="en-US" altLang="zh-TW" dirty="0"/>
              <a:t>:</a:t>
            </a:r>
          </a:p>
          <a:p>
            <a:endParaRPr lang="en-US" altLang="zh-TW" dirty="0"/>
          </a:p>
          <a:p>
            <a:r>
              <a:rPr lang="zh-TW" altLang="en-US" dirty="0"/>
              <a:t>不確定事件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Job Insertion</a:t>
            </a:r>
            <a:r>
              <a:rPr lang="zh-TW" altLang="en-US" dirty="0"/>
              <a:t>、</a:t>
            </a:r>
            <a:r>
              <a:rPr lang="en-US" altLang="zh-TW" dirty="0"/>
              <a:t>Cancellation</a:t>
            </a:r>
            <a:r>
              <a:rPr lang="zh-TW" altLang="en-US" dirty="0"/>
              <a:t>、</a:t>
            </a:r>
            <a:r>
              <a:rPr lang="en-US" altLang="zh-TW" dirty="0"/>
              <a:t>Operation Modification</a:t>
            </a:r>
            <a:br>
              <a:rPr lang="en-US" altLang="zh-TW" dirty="0"/>
            </a:br>
            <a:r>
              <a:rPr lang="zh-TW" altLang="en-US" dirty="0"/>
              <a:t>                      </a:t>
            </a:r>
            <a:r>
              <a:rPr lang="en-US" altLang="zh-TW" dirty="0"/>
              <a:t>Machine Addition</a:t>
            </a:r>
            <a:r>
              <a:rPr lang="zh-TW" altLang="en-US" dirty="0"/>
              <a:t>、</a:t>
            </a:r>
            <a:r>
              <a:rPr lang="en-US" altLang="zh-TW" dirty="0"/>
              <a:t>Tool Replacement</a:t>
            </a:r>
            <a:r>
              <a:rPr lang="zh-TW" altLang="en-US" dirty="0"/>
              <a:t>、</a:t>
            </a:r>
            <a:r>
              <a:rPr lang="en-US" altLang="zh-TW" dirty="0"/>
              <a:t>Breakdown</a:t>
            </a:r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BBFD60D-7647-4971-9309-E681C9F74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/>
          <a:lstStyle/>
          <a:p>
            <a:r>
              <a:rPr lang="zh-TW" altLang="en-US" dirty="0"/>
              <a:t>概述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5D38B8B-7E33-471E-9671-46A7EA8C3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0C8183-1B12-4439-B367-B24E3C5BA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23B58AA-6194-497B-88C0-A5325C168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406" y="2291079"/>
            <a:ext cx="3005557" cy="151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03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ADB5A9-3874-49C1-9CE0-772878D6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總覽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E3A3F63-3B0D-4742-88E1-FD0D4459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B89C2E-AB15-4012-B083-15220456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F50E722-3C46-40B4-BBAD-2098DBF54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608" y="33090"/>
            <a:ext cx="5682943" cy="633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9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BFD60D-7647-4971-9309-E681C9F74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/>
          <a:lstStyle/>
          <a:p>
            <a:r>
              <a:rPr lang="zh-TW" altLang="en-US" dirty="0"/>
              <a:t>動態事件處理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5D38B8B-7E33-471E-9671-46A7EA8C3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0C8183-1B12-4439-B367-B24E3C5BA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14</a:t>
            </a:fld>
            <a:endParaRPr lang="zh-TW" alt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20DC560F-6E1A-4C05-896C-BEDF53D915BC}"/>
              </a:ext>
            </a:extLst>
          </p:cNvPr>
          <p:cNvGrpSpPr/>
          <p:nvPr/>
        </p:nvGrpSpPr>
        <p:grpSpPr>
          <a:xfrm>
            <a:off x="2406396" y="3055615"/>
            <a:ext cx="7379208" cy="1884689"/>
            <a:chOff x="1983232" y="3963213"/>
            <a:chExt cx="7379208" cy="1884689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0E389415-B560-4C59-8B2B-C7D5DA2FF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83232" y="3963213"/>
              <a:ext cx="7379208" cy="1884689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FEB5A65-25CC-4E0D-BD76-BC84C38EA9DB}"/>
                </a:ext>
              </a:extLst>
            </p:cNvPr>
            <p:cNvSpPr/>
            <p:nvPr/>
          </p:nvSpPr>
          <p:spPr>
            <a:xfrm>
              <a:off x="2280134" y="5191760"/>
              <a:ext cx="7082306" cy="645982"/>
            </a:xfrm>
            <a:prstGeom prst="rect">
              <a:avLst/>
            </a:prstGeom>
            <a:solidFill>
              <a:srgbClr val="FFFF00">
                <a:alpha val="22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3B76B96-C8A7-4B83-A687-9CCC1D29DE7D}"/>
                </a:ext>
              </a:extLst>
            </p:cNvPr>
            <p:cNvSpPr/>
            <p:nvPr/>
          </p:nvSpPr>
          <p:spPr>
            <a:xfrm>
              <a:off x="3771392" y="4905557"/>
              <a:ext cx="5591048" cy="296363"/>
            </a:xfrm>
            <a:prstGeom prst="rect">
              <a:avLst/>
            </a:prstGeom>
            <a:solidFill>
              <a:srgbClr val="FFFF00">
                <a:alpha val="22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3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A313DCE9-E6D9-4E37-9158-5091B6736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280" y="1844040"/>
            <a:ext cx="10012680" cy="4307840"/>
          </a:xfrm>
        </p:spPr>
        <p:txBody>
          <a:bodyPr/>
          <a:lstStyle/>
          <a:p>
            <a:r>
              <a:rPr lang="zh-TW" altLang="en-US" dirty="0"/>
              <a:t>針對不同動態事件有不同處置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6253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ADB5A9-3874-49C1-9CE0-772878D6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架構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E3A3F63-3B0D-4742-88E1-FD0D4459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B89C2E-AB15-4012-B083-15220456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BEC4D72-01AC-4425-B449-071B73EB8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494" y="33090"/>
            <a:ext cx="7543012" cy="627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13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BFD60D-7647-4971-9309-E681C9F74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/>
          <a:lstStyle/>
          <a:p>
            <a:r>
              <a:rPr lang="zh-TW" altLang="en-US" dirty="0"/>
              <a:t>訓練流程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5D38B8B-7E33-471E-9671-46A7EA8C3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0C8183-1B12-4439-B367-B24E3C5BA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1026" name="Picture 2" descr="https://ars.els-cdn.com/content/image/1-s2.0-S1568494622007669-gr4.jpg">
            <a:extLst>
              <a:ext uri="{FF2B5EF4-FFF2-40B4-BE49-F238E27FC236}">
                <a16:creationId xmlns:a16="http://schemas.microsoft.com/office/drawing/2014/main" id="{77217345-AE5E-4761-A5B4-48A082A2C6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821"/>
          <a:stretch/>
        </p:blipFill>
        <p:spPr bwMode="auto">
          <a:xfrm>
            <a:off x="3686185" y="45433"/>
            <a:ext cx="3523687" cy="5084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ttps://ars.els-cdn.com/content/image/1-s2.0-S1568494622007669-gr4.jpg">
            <a:extLst>
              <a:ext uri="{FF2B5EF4-FFF2-40B4-BE49-F238E27FC236}">
                <a16:creationId xmlns:a16="http://schemas.microsoft.com/office/drawing/2014/main" id="{4DB6E951-8042-4D00-83D9-DFE921DCE6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52330" r="-6438"/>
          <a:stretch/>
        </p:blipFill>
        <p:spPr bwMode="auto">
          <a:xfrm>
            <a:off x="7618737" y="1832019"/>
            <a:ext cx="3750533" cy="4473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7978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A7BBC1-C5D8-4ADA-8E9A-73EA65A81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242392"/>
            <a:ext cx="10058400" cy="1929222"/>
          </a:xfrm>
        </p:spPr>
        <p:txBody>
          <a:bodyPr>
            <a:noAutofit/>
          </a:bodyPr>
          <a:lstStyle/>
          <a:p>
            <a:r>
              <a:rPr lang="en-US" altLang="zh-TW" sz="4000" dirty="0"/>
              <a:t>A hierarchical reinforcement learning based optimization framework for large-scale dynamic pickup and delivery problems.</a:t>
            </a:r>
            <a:endParaRPr lang="zh-TW" altLang="en-US" sz="40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80C143E-DA6D-4655-9FBD-35C1D7D305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TW" dirty="0"/>
              <a:t>Ma, Y., Hao, X., Hao, J., Lu, J., Liu, X., </a:t>
            </a:r>
            <a:r>
              <a:rPr lang="en-US" altLang="zh-TW" dirty="0" err="1"/>
              <a:t>Xialiang</a:t>
            </a:r>
            <a:r>
              <a:rPr lang="en-US" altLang="zh-TW" dirty="0"/>
              <a:t>, T., ... &amp; Meng, Z. (2021).</a:t>
            </a:r>
          </a:p>
          <a:p>
            <a:r>
              <a:rPr lang="en-US" altLang="zh-TW" dirty="0"/>
              <a:t> </a:t>
            </a:r>
            <a:r>
              <a:rPr lang="en-US" altLang="zh-TW" i="1" dirty="0"/>
              <a:t>Advances in neural information processing systems</a:t>
            </a:r>
            <a:r>
              <a:rPr lang="en-US" altLang="zh-TW" dirty="0"/>
              <a:t>, </a:t>
            </a:r>
            <a:r>
              <a:rPr lang="en-US" altLang="zh-TW" i="1" dirty="0"/>
              <a:t>34</a:t>
            </a:r>
            <a:r>
              <a:rPr lang="en-US" altLang="zh-TW" dirty="0"/>
              <a:t>, 23609-23620.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78BBDCF-C33E-4C38-9489-4868E91AE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E0FE7F9-4FF4-4824-B444-04E192E4D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987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61548B9-ADF2-43C7-8761-12720CB24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問題</a:t>
            </a:r>
            <a:r>
              <a:rPr lang="en-US" altLang="zh-TW" dirty="0"/>
              <a:t>:Dynamic Pickup and Delivery Problem(</a:t>
            </a:r>
            <a:r>
              <a:rPr lang="zh-TW" altLang="en-US" dirty="0"/>
              <a:t>類似</a:t>
            </a:r>
            <a:r>
              <a:rPr lang="en-US" altLang="zh-TW" dirty="0"/>
              <a:t>TSP)</a:t>
            </a:r>
          </a:p>
          <a:p>
            <a:endParaRPr lang="en-US" altLang="zh-TW" dirty="0"/>
          </a:p>
          <a:p>
            <a:r>
              <a:rPr lang="zh-TW" altLang="en-US" dirty="0"/>
              <a:t>目標</a:t>
            </a:r>
            <a:r>
              <a:rPr lang="en-US" altLang="zh-TW" dirty="0"/>
              <a:t>:</a:t>
            </a:r>
            <a:r>
              <a:rPr lang="zh-TW" altLang="en-US" dirty="0"/>
              <a:t>最小化運輸成本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高階決定</a:t>
            </a:r>
            <a:r>
              <a:rPr lang="en-US" altLang="zh-TW" dirty="0"/>
              <a:t>release</a:t>
            </a:r>
            <a:r>
              <a:rPr lang="zh-TW" altLang="en-US" dirty="0"/>
              <a:t>，低階決定如何改進初始解 </a:t>
            </a:r>
            <a:r>
              <a:rPr lang="en-US" altLang="zh-TW" dirty="0"/>
              <a:t>ex. inner-exchange, inner-relocate, inter-exchange and inter-relocate. </a:t>
            </a:r>
          </a:p>
          <a:p>
            <a:endParaRPr lang="en-US" altLang="zh-TW" dirty="0"/>
          </a:p>
          <a:p>
            <a:r>
              <a:rPr lang="zh-TW" altLang="en-US" dirty="0"/>
              <a:t>不確定事件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dynamic</a:t>
            </a:r>
            <a:r>
              <a:rPr lang="zh-TW" altLang="en-US" dirty="0"/>
              <a:t> </a:t>
            </a:r>
            <a:r>
              <a:rPr lang="en-US" altLang="zh-TW" dirty="0"/>
              <a:t>orders</a:t>
            </a:r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BBFD60D-7647-4971-9309-E681C9F74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/>
          <a:lstStyle/>
          <a:p>
            <a:r>
              <a:rPr lang="zh-TW" altLang="en-US" dirty="0"/>
              <a:t>概述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5D38B8B-7E33-471E-9671-46A7EA8C3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0C8183-1B12-4439-B367-B24E3C5BA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8149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ADB5A9-3874-49C1-9CE0-772878D6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概念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E3A3F63-3B0D-4742-88E1-FD0D4459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B89C2E-AB15-4012-B083-15220456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C17A0CD-47DC-443D-B6A2-FB66610F8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627" y="1772885"/>
            <a:ext cx="8744745" cy="440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56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ADB5A9-3874-49C1-9CE0-772878D6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總流程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E3A3F63-3B0D-4742-88E1-FD0D4459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B89C2E-AB15-4012-B083-15220456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20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7BD4331-BD72-48A2-9B79-C046DA419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873" y="1857977"/>
            <a:ext cx="9562253" cy="439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524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ADB5A9-3874-49C1-9CE0-772878D6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下層流程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E3A3F63-3B0D-4742-88E1-FD0D4459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B89C2E-AB15-4012-B083-15220456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E7BE2AE-7249-48C6-93F9-F11D66736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0727"/>
            <a:ext cx="12192000" cy="341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118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BFD60D-7647-4971-9309-E681C9F74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/>
          <a:lstStyle/>
          <a:p>
            <a:r>
              <a:rPr lang="zh-TW" altLang="en-US" dirty="0"/>
              <a:t>訓練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5D38B8B-7E33-471E-9671-46A7EA8C3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0C8183-1B12-4439-B367-B24E3C5BA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22</a:t>
            </a:fld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817FA38-32D3-4AA2-BD90-95646F4BC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20" y="2106191"/>
            <a:ext cx="10982960" cy="389415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2FD0072-E54A-4455-84AF-A75FCBA257F2}"/>
              </a:ext>
            </a:extLst>
          </p:cNvPr>
          <p:cNvSpPr/>
          <p:nvPr/>
        </p:nvSpPr>
        <p:spPr>
          <a:xfrm>
            <a:off x="2659126" y="3315109"/>
            <a:ext cx="4447352" cy="292796"/>
          </a:xfrm>
          <a:prstGeom prst="rect">
            <a:avLst/>
          </a:prstGeom>
          <a:solidFill>
            <a:srgbClr val="FFFF00">
              <a:alpha val="2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8066F8-8804-4434-9C36-E554A215CA28}"/>
              </a:ext>
            </a:extLst>
          </p:cNvPr>
          <p:cNvSpPr/>
          <p:nvPr/>
        </p:nvSpPr>
        <p:spPr>
          <a:xfrm>
            <a:off x="1386917" y="4524026"/>
            <a:ext cx="9615700" cy="292796"/>
          </a:xfrm>
          <a:prstGeom prst="rect">
            <a:avLst/>
          </a:prstGeom>
          <a:solidFill>
            <a:srgbClr val="FFFF00">
              <a:alpha val="2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BCEDFF-F10F-4F08-8DEB-77ADFAED57FF}"/>
              </a:ext>
            </a:extLst>
          </p:cNvPr>
          <p:cNvSpPr/>
          <p:nvPr/>
        </p:nvSpPr>
        <p:spPr>
          <a:xfrm>
            <a:off x="3772309" y="3582044"/>
            <a:ext cx="7815171" cy="378984"/>
          </a:xfrm>
          <a:prstGeom prst="rect">
            <a:avLst/>
          </a:prstGeom>
          <a:solidFill>
            <a:srgbClr val="FFFF00">
              <a:alpha val="2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E3A190-548E-4F2E-A71A-9CA0EF5F383D}"/>
              </a:ext>
            </a:extLst>
          </p:cNvPr>
          <p:cNvSpPr/>
          <p:nvPr/>
        </p:nvSpPr>
        <p:spPr>
          <a:xfrm>
            <a:off x="691178" y="3961028"/>
            <a:ext cx="10896302" cy="217927"/>
          </a:xfrm>
          <a:prstGeom prst="rect">
            <a:avLst/>
          </a:prstGeom>
          <a:solidFill>
            <a:srgbClr val="FFFF00">
              <a:alpha val="2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2112B5C-FE0F-477A-8438-EA65D1D671E8}"/>
              </a:ext>
            </a:extLst>
          </p:cNvPr>
          <p:cNvSpPr/>
          <p:nvPr/>
        </p:nvSpPr>
        <p:spPr>
          <a:xfrm>
            <a:off x="691178" y="4171335"/>
            <a:ext cx="2995007" cy="352314"/>
          </a:xfrm>
          <a:prstGeom prst="rect">
            <a:avLst/>
          </a:prstGeom>
          <a:solidFill>
            <a:srgbClr val="FFFF00">
              <a:alpha val="2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33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BFD60D-7647-4971-9309-E681C9F74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/>
          <a:lstStyle/>
          <a:p>
            <a:r>
              <a:rPr lang="zh-TW" altLang="en-US" dirty="0"/>
              <a:t>結論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5D38B8B-7E33-471E-9671-46A7EA8C3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0C8183-1B12-4439-B367-B24E3C5BA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11" name="內容版面配置區 4">
            <a:extLst>
              <a:ext uri="{FF2B5EF4-FFF2-40B4-BE49-F238E27FC236}">
                <a16:creationId xmlns:a16="http://schemas.microsoft.com/office/drawing/2014/main" id="{2AB94593-EE48-4726-B920-DF71FBA98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280" y="1844040"/>
            <a:ext cx="10012680" cy="4307840"/>
          </a:xfrm>
        </p:spPr>
        <p:txBody>
          <a:bodyPr/>
          <a:lstStyle/>
          <a:p>
            <a:r>
              <a:rPr lang="zh-TW" altLang="en-US" dirty="0"/>
              <a:t>唯一一篇較為相近的使用</a:t>
            </a:r>
            <a:r>
              <a:rPr lang="en-US" altLang="zh-TW" dirty="0"/>
              <a:t>HRL</a:t>
            </a:r>
            <a:r>
              <a:rPr lang="zh-TW" altLang="en-US" dirty="0"/>
              <a:t>決定重排的文獻使用同時訓練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但文中又強調是因為在此情況下層相較穩定才能同時訓練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若改為同時訓練，但</a:t>
            </a:r>
            <a:r>
              <a:rPr lang="en-US" altLang="zh-TW" dirty="0"/>
              <a:t>states </a:t>
            </a:r>
            <a:r>
              <a:rPr lang="zh-TW" altLang="en-US" dirty="0"/>
              <a:t>和</a:t>
            </a:r>
            <a:r>
              <a:rPr lang="en-US" altLang="zh-TW" dirty="0"/>
              <a:t>rewards</a:t>
            </a:r>
            <a:r>
              <a:rPr lang="zh-TW" altLang="en-US" dirty="0"/>
              <a:t>沒有更動，那</a:t>
            </a:r>
            <a:r>
              <a:rPr lang="en-US" altLang="zh-TW" dirty="0"/>
              <a:t>agent</a:t>
            </a:r>
            <a:r>
              <a:rPr lang="zh-TW" altLang="en-US" dirty="0"/>
              <a:t>還是一樣只在子問題訓練，並無考量動態的差別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若下層考量了動態，是否會有顯著差異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896806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1FDE61-E3D2-E6BC-0F9F-9A422FAE07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END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6F3F00-E9C9-CE25-63F7-48B11D19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24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01CA2B-8F20-5B3D-72AC-0153AA21F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3293835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自訂 2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789D89"/>
      </a:accent1>
      <a:accent2>
        <a:srgbClr val="789D89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rgbClr val="C00000"/>
        </a:solidFill>
      </a:spPr>
      <a:bodyPr rtlCol="0" anchor="ctr"/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133474</TotalTime>
  <Words>770</Words>
  <Application>Microsoft Office PowerPoint</Application>
  <PresentationFormat>寬螢幕</PresentationFormat>
  <Paragraphs>129</Paragraphs>
  <Slides>24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0" baseType="lpstr">
      <vt:lpstr>微軟正黑體</vt:lpstr>
      <vt:lpstr>Abadi</vt:lpstr>
      <vt:lpstr>Arial</vt:lpstr>
      <vt:lpstr>Calibri</vt:lpstr>
      <vt:lpstr>Cascadia Code</vt:lpstr>
      <vt:lpstr>回顧</vt:lpstr>
      <vt:lpstr>HRL Paper review</vt:lpstr>
      <vt:lpstr>比較</vt:lpstr>
      <vt:lpstr>初步分類</vt:lpstr>
      <vt:lpstr>Dynamic scheduling for cloud manufacturing with uncertain events by hierarchical reinforcement learning and attention mechanism</vt:lpstr>
      <vt:lpstr>概述</vt:lpstr>
      <vt:lpstr>總覽</vt:lpstr>
      <vt:lpstr>動態事件處理</vt:lpstr>
      <vt:lpstr>流程</vt:lpstr>
      <vt:lpstr>架構</vt:lpstr>
      <vt:lpstr>訓練</vt:lpstr>
      <vt:lpstr>Multi-objective reinforcement learning framework for dynamic flexible job shop scheduling problem with uncertain events</vt:lpstr>
      <vt:lpstr>概述</vt:lpstr>
      <vt:lpstr>總覽</vt:lpstr>
      <vt:lpstr>動態事件處理</vt:lpstr>
      <vt:lpstr>架構</vt:lpstr>
      <vt:lpstr>訓練流程</vt:lpstr>
      <vt:lpstr>A hierarchical reinforcement learning based optimization framework for large-scale dynamic pickup and delivery problems.</vt:lpstr>
      <vt:lpstr>概述</vt:lpstr>
      <vt:lpstr>概念</vt:lpstr>
      <vt:lpstr>總流程</vt:lpstr>
      <vt:lpstr>下層流程</vt:lpstr>
      <vt:lpstr>訓練</vt:lpstr>
      <vt:lpstr>結論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電容錯誤偵測</dc:title>
  <dc:creator>陳佳伶</dc:creator>
  <cp:lastModifiedBy>lab643</cp:lastModifiedBy>
  <cp:revision>842</cp:revision>
  <dcterms:created xsi:type="dcterms:W3CDTF">2022-03-03T14:40:23Z</dcterms:created>
  <dcterms:modified xsi:type="dcterms:W3CDTF">2025-11-25T07:16:42Z</dcterms:modified>
</cp:coreProperties>
</file>