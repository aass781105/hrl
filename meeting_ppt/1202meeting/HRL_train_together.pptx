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sldIdLst>
    <p:sldId id="942" r:id="rId2"/>
    <p:sldId id="1038" r:id="rId3"/>
    <p:sldId id="1042" r:id="rId4"/>
    <p:sldId id="1043" r:id="rId5"/>
    <p:sldId id="1039" r:id="rId6"/>
    <p:sldId id="1040" r:id="rId7"/>
    <p:sldId id="1041" r:id="rId8"/>
    <p:sldId id="991" r:id="rId9"/>
    <p:sldId id="93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796" autoAdjust="0"/>
  </p:normalViewPr>
  <p:slideViewPr>
    <p:cSldViewPr snapToGrid="0">
      <p:cViewPr varScale="1">
        <p:scale>
          <a:sx n="107" d="100"/>
          <a:sy n="107" d="100"/>
        </p:scale>
        <p:origin x="66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2025/12/2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HRL</a:t>
            </a:r>
            <a:r>
              <a:rPr lang="zh-TW" altLang="en-US" dirty="0"/>
              <a:t> </a:t>
            </a:r>
            <a:r>
              <a:rPr lang="en-US" altLang="zh-TW" dirty="0"/>
              <a:t>train together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2025/12/02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高階配合固定低階目前已穩定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目前依就採用訓練好的網路，但開放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backward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達成線上微調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一起訓練的部分仍然存在一些問題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30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新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高階配合固定低階目前已穩定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但收斂圖看並不明顯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7" name="圖片 6" descr="一張含有 文字, 筆跡, 行, 字型 的圖片&#10;&#10;AI 產生的內容可能不正確。">
            <a:extLst>
              <a:ext uri="{FF2B5EF4-FFF2-40B4-BE49-F238E27FC236}">
                <a16:creationId xmlns:a16="http://schemas.microsoft.com/office/drawing/2014/main" id="{5D13DAB5-8A56-3F0C-0511-ABDE3EF88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788" y="1844040"/>
            <a:ext cx="5629495" cy="45035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7BC7786-A013-730B-E618-97B62457A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29" y="3230357"/>
            <a:ext cx="3934374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303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就甘特圖來說，看不太出決策的邏輯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與規則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8" name="圖片 7" descr="一張含有 螢幕擷取畫面, 鮮豔, Rectangle, 行 的圖片&#10;&#10;AI 產生的內容可能不正確。">
            <a:extLst>
              <a:ext uri="{FF2B5EF4-FFF2-40B4-BE49-F238E27FC236}">
                <a16:creationId xmlns:a16="http://schemas.microsoft.com/office/drawing/2014/main" id="{147B14AF-A3C7-00C1-F989-0C619D612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023" y="3558027"/>
            <a:ext cx="6958919" cy="2899550"/>
          </a:xfrm>
          <a:prstGeom prst="rect">
            <a:avLst/>
          </a:prstGeom>
        </p:spPr>
      </p:pic>
      <p:pic>
        <p:nvPicPr>
          <p:cNvPr id="11" name="圖片 10" descr="一張含有 螢幕擷取畫面, 鮮豔 的圖片&#10;&#10;AI 產生的內容可能不正確。">
            <a:extLst>
              <a:ext uri="{FF2B5EF4-FFF2-40B4-BE49-F238E27FC236}">
                <a16:creationId xmlns:a16="http://schemas.microsoft.com/office/drawing/2014/main" id="{6F9150C7-AEC3-5656-EAEC-115E1A2BE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023" y="658477"/>
            <a:ext cx="6958919" cy="289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4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85CFAD3-75B5-D0DB-B908-0707B2F1F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977925"/>
              </p:ext>
            </p:extLst>
          </p:nvPr>
        </p:nvGraphicFramePr>
        <p:xfrm>
          <a:off x="529588" y="1805850"/>
          <a:ext cx="10739049" cy="4338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354">
                  <a:extLst>
                    <a:ext uri="{9D8B030D-6E8A-4147-A177-3AD203B41FA5}">
                      <a16:colId xmlns:a16="http://schemas.microsoft.com/office/drawing/2014/main" val="1768753579"/>
                    </a:ext>
                  </a:extLst>
                </a:gridCol>
                <a:gridCol w="1497013">
                  <a:extLst>
                    <a:ext uri="{9D8B030D-6E8A-4147-A177-3AD203B41FA5}">
                      <a16:colId xmlns:a16="http://schemas.microsoft.com/office/drawing/2014/main" val="1537042041"/>
                    </a:ext>
                  </a:extLst>
                </a:gridCol>
                <a:gridCol w="2020199">
                  <a:extLst>
                    <a:ext uri="{9D8B030D-6E8A-4147-A177-3AD203B41FA5}">
                      <a16:colId xmlns:a16="http://schemas.microsoft.com/office/drawing/2014/main" val="939946637"/>
                    </a:ext>
                  </a:extLst>
                </a:gridCol>
                <a:gridCol w="1903109">
                  <a:extLst>
                    <a:ext uri="{9D8B030D-6E8A-4147-A177-3AD203B41FA5}">
                      <a16:colId xmlns:a16="http://schemas.microsoft.com/office/drawing/2014/main" val="3165155647"/>
                    </a:ext>
                  </a:extLst>
                </a:gridCol>
                <a:gridCol w="1828687">
                  <a:extLst>
                    <a:ext uri="{9D8B030D-6E8A-4147-A177-3AD203B41FA5}">
                      <a16:colId xmlns:a16="http://schemas.microsoft.com/office/drawing/2014/main" val="862919526"/>
                    </a:ext>
                  </a:extLst>
                </a:gridCol>
                <a:gridCol w="1828687">
                  <a:extLst>
                    <a:ext uri="{9D8B030D-6E8A-4147-A177-3AD203B41FA5}">
                      <a16:colId xmlns:a16="http://schemas.microsoft.com/office/drawing/2014/main" val="490288783"/>
                    </a:ext>
                  </a:extLst>
                </a:gridCol>
              </a:tblGrid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30 runs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New state</a:t>
                      </a:r>
                    </a:p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DDQN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 together </a:t>
                      </a:r>
                    </a:p>
                    <a:p>
                      <a:pPr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DDQN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Release every 250s (By paper)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Release every time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Old</a:t>
                      </a:r>
                    </a:p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DDQN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26843702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(avg)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3540.473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5265.382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3568.631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3482.812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3756.67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9755387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Dynamic </a:t>
                      </a:r>
                      <a:r>
                        <a:rPr lang="en-US" sz="2000" u="none" strike="noStrike" dirty="0" err="1">
                          <a:effectLst/>
                        </a:rPr>
                        <a:t>makespan</a:t>
                      </a:r>
                      <a:r>
                        <a:rPr lang="en-US" sz="2000" u="none" strike="noStrike" dirty="0">
                          <a:effectLst/>
                        </a:rPr>
                        <a:t> (std)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120.971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182.667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155.383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133.018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139.295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4483884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(max)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3798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5577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4027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>
                          <a:effectLst/>
                        </a:rPr>
                        <a:t>3795</a:t>
                      </a:r>
                      <a:endParaRPr lang="en-US" altLang="zh-TW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3981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0194376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(min)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3324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4826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3232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3225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3429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9861221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dist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Release times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17.93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61.43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9.17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3578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172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E33DC0E-FDEA-63E3-7A9C-6A7B305C8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824369"/>
              </p:ext>
            </p:extLst>
          </p:nvPr>
        </p:nvGraphicFramePr>
        <p:xfrm>
          <a:off x="288561" y="3815908"/>
          <a:ext cx="1828800" cy="234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89062814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747499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2616971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vdata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</a:t>
                      </a:r>
                    </a:p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together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original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424541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21.23%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15.26%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88265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11.34%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>
                          <a:effectLst/>
                        </a:rPr>
                        <a:t>6.62%</a:t>
                      </a:r>
                      <a:endParaRPr lang="en-US" altLang="zh-TW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512652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27.46%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>
                          <a:effectLst/>
                        </a:rPr>
                        <a:t>6.92%</a:t>
                      </a:r>
                      <a:endParaRPr lang="en-US" altLang="zh-TW" sz="1100" b="1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346347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22.51%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7.97%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9104016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49.02%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16.19%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158113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</a:rPr>
                        <a:t>15*5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18.27%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1.75%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041797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</a:rPr>
                        <a:t>15*5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23.90%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4.14%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0031695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</a:rPr>
                        <a:t>15*5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10.98%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9.15%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6419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</a:rPr>
                        <a:t>15*5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12.19%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5.74%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770099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u="none" strike="noStrike" dirty="0">
                          <a:effectLst/>
                        </a:rPr>
                        <a:t>15*5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14.80%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25.12%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450041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A379538B-D25C-AFFD-0F06-88CD7098F7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719220"/>
              </p:ext>
            </p:extLst>
          </p:nvPr>
        </p:nvGraphicFramePr>
        <p:xfrm>
          <a:off x="2117361" y="3815908"/>
          <a:ext cx="1828800" cy="234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6000830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5061454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2095688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vdata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</a:t>
                      </a:r>
                    </a:p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together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original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9951483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20*5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17.74%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2.80%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385046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20*5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16.24%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9.40%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785718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20*5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18.21%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0.96%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74407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20*5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11.59%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3.46%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810761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20*5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18.37%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3.95%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4763573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1.95%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8.65%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5604745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3.10%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3.87%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532133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0.60%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0.60%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660877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5.67%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4.70%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919818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10*10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3.44%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1.32%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96990913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04DD7391-CE4F-5E83-F5BB-4B89E658D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63683"/>
              </p:ext>
            </p:extLst>
          </p:nvPr>
        </p:nvGraphicFramePr>
        <p:xfrm>
          <a:off x="3946161" y="3815908"/>
          <a:ext cx="1828800" cy="23450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27693434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10376498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9359820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vdata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</a:t>
                      </a:r>
                    </a:p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together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original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39515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u="none" strike="noStrike" dirty="0">
                          <a:effectLst/>
                        </a:rPr>
                        <a:t>15*10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11.79%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14.39%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30325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15*10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6.90%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16.10%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3364133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15*10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10.92%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6.01%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6700153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15*10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18.66%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5.92%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4532438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15*10</a:t>
                      </a:r>
                      <a:endParaRPr lang="en-US" altLang="zh-TW" sz="14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22.88%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15.21%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30666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15.37%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2.09%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88520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28.48%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1.57%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8722468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28.79%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5.42%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120068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17.00%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8.65%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698357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20*10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41.81%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9.54%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322074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A84C0608-27FE-6F33-6F55-3186D8B10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093607"/>
              </p:ext>
            </p:extLst>
          </p:nvPr>
        </p:nvGraphicFramePr>
        <p:xfrm>
          <a:off x="5774961" y="3815908"/>
          <a:ext cx="1828800" cy="2545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80518604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853298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0406355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vdata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</a:t>
                      </a:r>
                    </a:p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together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TW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original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414167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12.76%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4.74%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9911308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20.27%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3.44%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057109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15.70%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1.80%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758936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13.68%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4.23%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4167926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30*10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9.62%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4.91%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060209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2.11%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0" u="none" strike="noStrike" dirty="0">
                          <a:effectLst/>
                        </a:rPr>
                        <a:t>4.85%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6846903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7.00%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5.38%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13433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4.45%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1.70%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21256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6.62%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6.07%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033432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altLang="zh-TW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新細明體" panose="02020500000000000000" pitchFamily="18" charset="-120"/>
                          <a:cs typeface="+mn-cs"/>
                        </a:rPr>
                        <a:t>15*15</a:t>
                      </a:r>
                      <a:endParaRPr lang="en-US" altLang="zh-TW" sz="16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0.94%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 dirty="0">
                          <a:effectLst/>
                        </a:rPr>
                        <a:t>1.57%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604749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avg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u="none" strike="noStrike">
                          <a:effectLst/>
                        </a:rPr>
                        <a:t>15.11%</a:t>
                      </a:r>
                      <a:endParaRPr lang="en-US" altLang="zh-TW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100" b="1" u="none" strike="noStrike" dirty="0">
                          <a:effectLst/>
                        </a:rPr>
                        <a:t>6.55%</a:t>
                      </a:r>
                      <a:endParaRPr lang="en-US" altLang="zh-TW" sz="1100" b="1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4152947"/>
                  </a:ext>
                </a:extLst>
              </a:tr>
            </a:tbl>
          </a:graphicData>
        </a:graphic>
      </p:graphicFrame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F5123C1-22E4-381D-385C-A77243E6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一起訓練的低階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agent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在公開資料集中表現較差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同時訓練的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搭配先前的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會變每次都釋放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CE00CDE-5313-E36B-27A3-F40D6EF79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825819"/>
              </p:ext>
            </p:extLst>
          </p:nvPr>
        </p:nvGraphicFramePr>
        <p:xfrm>
          <a:off x="8097105" y="1895867"/>
          <a:ext cx="3759822" cy="3735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7729">
                  <a:extLst>
                    <a:ext uri="{9D8B030D-6E8A-4147-A177-3AD203B41FA5}">
                      <a16:colId xmlns:a16="http://schemas.microsoft.com/office/drawing/2014/main" val="1768753579"/>
                    </a:ext>
                  </a:extLst>
                </a:gridCol>
                <a:gridCol w="1782093">
                  <a:extLst>
                    <a:ext uri="{9D8B030D-6E8A-4147-A177-3AD203B41FA5}">
                      <a16:colId xmlns:a16="http://schemas.microsoft.com/office/drawing/2014/main" val="1537042041"/>
                    </a:ext>
                  </a:extLst>
                </a:gridCol>
              </a:tblGrid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30 runs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Train together DDQN + old PPO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extLst>
                  <a:ext uri="{0D108BD9-81ED-4DB2-BD59-A6C34878D82A}">
                    <a16:rowId xmlns:a16="http://schemas.microsoft.com/office/drawing/2014/main" val="1126843702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Dynamic </a:t>
                      </a:r>
                      <a:r>
                        <a:rPr lang="en-US" sz="2000" u="none" strike="noStrike" dirty="0" err="1">
                          <a:effectLst/>
                        </a:rPr>
                        <a:t>makespan</a:t>
                      </a:r>
                      <a:r>
                        <a:rPr lang="en-US" sz="2000" u="none" strike="noStrike" dirty="0">
                          <a:effectLst/>
                        </a:rPr>
                        <a:t> (avg)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3473.019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79755387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Dynamic </a:t>
                      </a:r>
                      <a:r>
                        <a:rPr lang="en-US" sz="2000" u="none" strike="noStrike" dirty="0" err="1">
                          <a:effectLst/>
                        </a:rPr>
                        <a:t>makespan</a:t>
                      </a:r>
                      <a:r>
                        <a:rPr lang="en-US" sz="2000" u="none" strike="noStrike" dirty="0">
                          <a:effectLst/>
                        </a:rPr>
                        <a:t> (std)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160.556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4483884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>
                          <a:effectLst/>
                        </a:rPr>
                        <a:t>Dynamic makespan (max)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3980.828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40194376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u="none" strike="noStrike" dirty="0">
                          <a:effectLst/>
                        </a:rPr>
                        <a:t>Dynamic </a:t>
                      </a:r>
                      <a:r>
                        <a:rPr lang="en-US" sz="2000" u="none" strike="noStrike" dirty="0" err="1">
                          <a:effectLst/>
                        </a:rPr>
                        <a:t>makespan</a:t>
                      </a:r>
                      <a:r>
                        <a:rPr lang="en-US" sz="2000" u="none" strike="noStrike" dirty="0">
                          <a:effectLst/>
                        </a:rPr>
                        <a:t> (min)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u="none" strike="noStrike" dirty="0">
                          <a:effectLst/>
                        </a:rPr>
                        <a:t>3149.077</a:t>
                      </a:r>
                      <a:endParaRPr lang="en-US" altLang="zh-TW" sz="2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19861221"/>
                  </a:ext>
                </a:extLst>
              </a:tr>
              <a:tr h="622655">
                <a:tc>
                  <a:txBody>
                    <a:bodyPr/>
                    <a:lstStyle/>
                    <a:p>
                      <a:pPr lvl="0" algn="ctr" fontAlgn="t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Release times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3578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834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猜測原因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0F5123C1-22E4-381D-385C-A77243E6C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1844040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在動態環境中的最後結果差距非常大，但從甘特圖來看並無明顯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idle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。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排程皆使用相同的環境，邏輯並無差別，只有網路不一樣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推測是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PPO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將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Op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排在加工時間</a:t>
            </a:r>
            <a:b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</a:b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較大的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machine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上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6" name="圖片 5" descr="一張含有 螢幕擷取畫面, 鮮豔, 樣式, Rectangle 的圖片&#10;&#10;AI 產生的內容可能不正確。">
            <a:extLst>
              <a:ext uri="{FF2B5EF4-FFF2-40B4-BE49-F238E27FC236}">
                <a16:creationId xmlns:a16="http://schemas.microsoft.com/office/drawing/2014/main" id="{AAFD0E81-0C80-C563-F983-9F7324C3B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363" y="3055462"/>
            <a:ext cx="7982637" cy="33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7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結論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73" y="1631373"/>
            <a:ext cx="11589854" cy="38395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目前就決策來說，看不太出決定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release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的依據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現在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Agent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雖然已有能代表現狀的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rewards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，但在相同的情況下，會有不同的的</a:t>
            </a:r>
            <a:r>
              <a:rPr lang="en-US" altLang="zh-TW" sz="2000" dirty="0" err="1">
                <a:solidFill>
                  <a:srgbClr val="222222"/>
                </a:solidFill>
                <a:latin typeface="Arial" panose="020B0604020202020204" pitchFamily="34" charset="0"/>
              </a:rPr>
              <a:t>t_next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，即使做了相同的決策，後果也會不同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目前的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exponential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對於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DDQN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的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state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和</a:t>
            </a:r>
            <a:r>
              <a:rPr lang="en-US" altLang="zh-TW" sz="2000" dirty="0">
                <a:solidFill>
                  <a:srgbClr val="222222"/>
                </a:solidFill>
                <a:latin typeface="Arial" panose="020B0604020202020204" pitchFamily="34" charset="0"/>
              </a:rPr>
              <a:t>reward</a:t>
            </a:r>
            <a:r>
              <a:rPr lang="zh-TW" altLang="en-US" sz="2000" dirty="0">
                <a:solidFill>
                  <a:srgbClr val="222222"/>
                </a:solidFill>
                <a:latin typeface="Arial" panose="020B0604020202020204" pitchFamily="34" charset="0"/>
              </a:rPr>
              <a:t>隨機性是否太高，導致訓練不穩定</a:t>
            </a:r>
            <a:endParaRPr lang="en-US" altLang="zh-TW" sz="20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9" name="圖片 8" descr="一張含有 螢幕擷取畫面, Rectangle, 鮮豔, 圖表 的圖片&#10;&#10;AI 產生的內容可能不正確。">
            <a:extLst>
              <a:ext uri="{FF2B5EF4-FFF2-40B4-BE49-F238E27FC236}">
                <a16:creationId xmlns:a16="http://schemas.microsoft.com/office/drawing/2014/main" id="{CF810F79-B424-8D38-639C-3E6F743B5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19" y="4145157"/>
            <a:ext cx="5728447" cy="2386853"/>
          </a:xfrm>
          <a:prstGeom prst="rect">
            <a:avLst/>
          </a:prstGeom>
        </p:spPr>
      </p:pic>
      <p:pic>
        <p:nvPicPr>
          <p:cNvPr id="11" name="圖片 10" descr="一張含有 螢幕擷取畫面, Rectangle, 鮮豔, 圖表 的圖片&#10;&#10;AI 產生的內容可能不正確。">
            <a:extLst>
              <a:ext uri="{FF2B5EF4-FFF2-40B4-BE49-F238E27FC236}">
                <a16:creationId xmlns:a16="http://schemas.microsoft.com/office/drawing/2014/main" id="{1A32CF0B-1D63-C8B9-E6C8-6920E85FD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835" y="4145158"/>
            <a:ext cx="5728448" cy="2386853"/>
          </a:xfrm>
          <a:prstGeom prst="rect">
            <a:avLst/>
          </a:prstGeom>
        </p:spPr>
      </p:pic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CD341A0-520A-80D3-6C10-650EE7A0D40E}"/>
              </a:ext>
            </a:extLst>
          </p:cNvPr>
          <p:cNvCxnSpPr>
            <a:cxnSpLocks/>
          </p:cNvCxnSpPr>
          <p:nvPr/>
        </p:nvCxnSpPr>
        <p:spPr>
          <a:xfrm>
            <a:off x="4249270" y="4056977"/>
            <a:ext cx="0" cy="24028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80D38189-42AB-283D-651C-F06897621656}"/>
              </a:ext>
            </a:extLst>
          </p:cNvPr>
          <p:cNvCxnSpPr>
            <a:cxnSpLocks/>
          </p:cNvCxnSpPr>
          <p:nvPr/>
        </p:nvCxnSpPr>
        <p:spPr>
          <a:xfrm>
            <a:off x="4616823" y="4056977"/>
            <a:ext cx="0" cy="24028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5C26C7C2-811E-628F-A57D-06B957904CF8}"/>
              </a:ext>
            </a:extLst>
          </p:cNvPr>
          <p:cNvCxnSpPr>
            <a:cxnSpLocks/>
          </p:cNvCxnSpPr>
          <p:nvPr/>
        </p:nvCxnSpPr>
        <p:spPr>
          <a:xfrm>
            <a:off x="11259670" y="4168588"/>
            <a:ext cx="0" cy="24028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44941ED8-4CC6-B5A5-BB91-EB84FB794199}"/>
              </a:ext>
            </a:extLst>
          </p:cNvPr>
          <p:cNvCxnSpPr>
            <a:cxnSpLocks/>
          </p:cNvCxnSpPr>
          <p:nvPr/>
        </p:nvCxnSpPr>
        <p:spPr>
          <a:xfrm>
            <a:off x="10336306" y="4168588"/>
            <a:ext cx="0" cy="240280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33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9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134840</TotalTime>
  <Words>617</Words>
  <Application>Microsoft Office PowerPoint</Application>
  <PresentationFormat>寬螢幕</PresentationFormat>
  <Paragraphs>232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新細明體</vt:lpstr>
      <vt:lpstr>Abadi</vt:lpstr>
      <vt:lpstr>Arial</vt:lpstr>
      <vt:lpstr>Calibri</vt:lpstr>
      <vt:lpstr>Cascadia Code</vt:lpstr>
      <vt:lpstr>回顧</vt:lpstr>
      <vt:lpstr>HRL train together</vt:lpstr>
      <vt:lpstr>目前現況</vt:lpstr>
      <vt:lpstr>目前現況</vt:lpstr>
      <vt:lpstr>目前現況</vt:lpstr>
      <vt:lpstr>結果</vt:lpstr>
      <vt:lpstr>驗證</vt:lpstr>
      <vt:lpstr>猜測原因</vt:lpstr>
      <vt:lpstr>結論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850</cp:revision>
  <dcterms:created xsi:type="dcterms:W3CDTF">2022-03-03T14:40:23Z</dcterms:created>
  <dcterms:modified xsi:type="dcterms:W3CDTF">2025-12-02T06:31:12Z</dcterms:modified>
</cp:coreProperties>
</file>