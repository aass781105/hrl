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942" r:id="rId2"/>
    <p:sldId id="1038" r:id="rId3"/>
    <p:sldId id="1044" r:id="rId4"/>
    <p:sldId id="1047" r:id="rId5"/>
    <p:sldId id="1048" r:id="rId6"/>
    <p:sldId id="1045" r:id="rId7"/>
    <p:sldId id="1046" r:id="rId8"/>
    <p:sldId id="1042" r:id="rId9"/>
    <p:sldId id="1043" r:id="rId10"/>
    <p:sldId id="1050" r:id="rId11"/>
    <p:sldId id="1049" r:id="rId12"/>
    <p:sldId id="1051" r:id="rId13"/>
    <p:sldId id="1039" r:id="rId14"/>
    <p:sldId id="1052" r:id="rId15"/>
    <p:sldId id="1053" r:id="rId16"/>
    <p:sldId id="991" r:id="rId17"/>
    <p:sldId id="93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70AD47"/>
    <a:srgbClr val="3F6EC2"/>
    <a:srgbClr val="ED7D31"/>
    <a:srgbClr val="C00000"/>
    <a:srgbClr val="4E799B"/>
    <a:srgbClr val="FFAD39"/>
    <a:srgbClr val="FF9966"/>
    <a:srgbClr val="B0966A"/>
    <a:srgbClr val="CA6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5796" autoAdjust="0"/>
  </p:normalViewPr>
  <p:slideViewPr>
    <p:cSldViewPr snapToGrid="0">
      <p:cViewPr>
        <p:scale>
          <a:sx n="100" d="100"/>
          <a:sy n="100" d="100"/>
        </p:scale>
        <p:origin x="900" y="2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842FF-CB32-43DF-B9FE-65EF665875B2}" type="datetimeFigureOut">
              <a:rPr lang="zh-TW" altLang="en-US" smtClean="0"/>
              <a:t>2025/12/6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097C-2611-49AA-93D4-A0110E9A53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2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210733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064624"/>
            <a:ext cx="10058400" cy="1143000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414A-AA3B-479F-9443-E87E6DB2D303}" type="datetime1">
              <a:rPr lang="zh-TW" altLang="en-US" smtClean="0"/>
              <a:t>2025/12/6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5064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aipei Tech logo">
            <a:extLst>
              <a:ext uri="{FF2B5EF4-FFF2-40B4-BE49-F238E27FC236}">
                <a16:creationId xmlns:a16="http://schemas.microsoft.com/office/drawing/2014/main" id="{C84FB869-60CA-1359-A1A9-972FEE00D5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73" y="82333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FE2F8E-0A2C-6F39-816C-42C1E1733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28" y="180909"/>
            <a:ext cx="3740342" cy="5588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7AFDF-5951-D557-114F-9D59ED13850D}"/>
              </a:ext>
            </a:extLst>
          </p:cNvPr>
          <p:cNvSpPr/>
          <p:nvPr userDrawn="1"/>
        </p:nvSpPr>
        <p:spPr>
          <a:xfrm>
            <a:off x="1" y="1632361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597C5-038F-02ED-F1C7-CE412689C651}"/>
              </a:ext>
            </a:extLst>
          </p:cNvPr>
          <p:cNvSpPr/>
          <p:nvPr userDrawn="1"/>
        </p:nvSpPr>
        <p:spPr>
          <a:xfrm>
            <a:off x="11337885" y="1632360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>
            <a:noAutofit/>
          </a:bodyPr>
          <a:lstStyle>
            <a:lvl1pPr marL="0">
              <a:defRPr sz="4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4139-FB37-44CF-9649-84761977F7A6}" type="datetime1">
              <a:rPr lang="zh-TW" altLang="en-US" smtClean="0"/>
              <a:t>2025/12/6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4E0F19-E296-C08D-6CCC-3FFA478020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280" y="1844040"/>
            <a:ext cx="10012680" cy="4307840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9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B276-F255-4EEC-8D40-1223573FF8B6}" type="datetime1">
              <a:rPr lang="zh-TW" altLang="en-US" smtClean="0"/>
              <a:t>2025/12/6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D32E87-AE6C-472D-9A09-3ECFE3A03479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9B39C-AD5F-C429-CFBC-3A61DB6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80" y="33090"/>
            <a:ext cx="9562253" cy="545671"/>
          </a:xfrm>
        </p:spPr>
        <p:txBody>
          <a:bodyPr>
            <a:noAutofit/>
          </a:bodyPr>
          <a:lstStyle>
            <a:lvl1pPr marL="0"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EB8-4775-A21F-4CBB-D3B6B1972A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640" y="911014"/>
            <a:ext cx="11247120" cy="5240866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F5CB97-E547-425F-B1EF-51E6D4EAC77F}" type="datetime1">
              <a:rPr lang="zh-TW" altLang="en-US" smtClean="0"/>
              <a:t>2025/12/6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3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E65-6E56-49AE-80DA-7E1BCEC842BD}" type="datetime1">
              <a:rPr lang="zh-TW" altLang="en-US" smtClean="0"/>
              <a:t>2025/12/6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714" y="651559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459D13DB-F681-4B20-BE28-C9CE0BB35DC9}" type="datetime1">
              <a:rPr lang="zh-TW" altLang="en-US" smtClean="0"/>
              <a:pPr/>
              <a:t>2025/12/6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71397"/>
            <a:ext cx="4822804" cy="253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32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96F0BE3-5357-4671-AC41-EE354106F685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Taipei Tech logo">
            <a:extLst>
              <a:ext uri="{FF2B5EF4-FFF2-40B4-BE49-F238E27FC236}">
                <a16:creationId xmlns:a16="http://schemas.microsoft.com/office/drawing/2014/main" id="{B93B3042-4014-4658-5163-E5664504D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687" y="76285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3" r:id="rId3"/>
    <p:sldLayoutId id="2147483704" r:id="rId4"/>
    <p:sldLayoutId id="2147483707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FB725-A3BC-1735-E5D3-E841251F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556043"/>
          </a:xfrm>
        </p:spPr>
        <p:txBody>
          <a:bodyPr>
            <a:normAutofit/>
          </a:bodyPr>
          <a:lstStyle/>
          <a:p>
            <a:r>
              <a:rPr lang="en-US" altLang="zh-TW" dirty="0"/>
              <a:t>HRL</a:t>
            </a:r>
            <a:r>
              <a:rPr lang="zh-TW" altLang="en-US" dirty="0"/>
              <a:t> </a:t>
            </a:r>
            <a:r>
              <a:rPr lang="en-US" altLang="zh-TW" dirty="0"/>
              <a:t>train together2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61C99B-68D5-06B4-0619-45FF2CD5F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李信翰</a:t>
            </a:r>
            <a:endParaRPr lang="en-US" altLang="zh-TW" dirty="0"/>
          </a:p>
          <a:p>
            <a:r>
              <a:rPr lang="en-US" altLang="zh-TW" dirty="0"/>
              <a:t>2025/12/09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29393D-EB17-0B9B-F7A1-7EBE720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10FEA9-4B06-E7EE-E0A0-84370D4E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40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目前現況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在靜態環境上使用不同大小所訓練出的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在公開資料集上表現略差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</a:rPr>
              <a:t>靜態環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境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+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不同大小的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在經過動態線上微調後 以及 在動態從頭開始訓練的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在靜態表現都很差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若開啟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greedy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，在相同問題下結果會一樣，所以改用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sample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因為時間因素，所以每個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instance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只重複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5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次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30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 靜態</a:t>
            </a:r>
            <a:r>
              <a:rPr lang="zh-TW" altLang="en-US" sz="4000" u="none" strike="noStrike" dirty="0">
                <a:effectLst/>
              </a:rPr>
              <a:t>環境</a:t>
            </a:r>
            <a:r>
              <a:rPr lang="en-US" altLang="zh-TW" sz="4000" u="none" strike="noStrike" dirty="0">
                <a:effectLst/>
              </a:rPr>
              <a:t>+</a:t>
            </a:r>
            <a:r>
              <a:rPr lang="zh-TW" altLang="en-US" sz="4000" u="none" strike="noStrike" dirty="0">
                <a:effectLst/>
              </a:rPr>
              <a:t>不同</a:t>
            </a:r>
            <a:r>
              <a:rPr lang="en-US" altLang="zh-TW" sz="4000" u="none" strike="noStrike" dirty="0">
                <a:effectLst/>
              </a:rPr>
              <a:t>size</a:t>
            </a:r>
            <a:r>
              <a:rPr lang="zh-TW" altLang="en-US" dirty="0"/>
              <a:t>  的 </a:t>
            </a:r>
            <a:r>
              <a:rPr lang="en-US" altLang="zh-TW" dirty="0"/>
              <a:t>PPO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使用與之前完全相同的架構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唯一差別為每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50ep job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數就會增加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共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1000ep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所以規模從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*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5~105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*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5</a:t>
            </a: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9E79AEB-B6F2-7EBA-4F8C-5A48B6F09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875232"/>
              </p:ext>
            </p:extLst>
          </p:nvPr>
        </p:nvGraphicFramePr>
        <p:xfrm>
          <a:off x="435428" y="3676742"/>
          <a:ext cx="11075252" cy="26433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0074">
                  <a:extLst>
                    <a:ext uri="{9D8B030D-6E8A-4147-A177-3AD203B41FA5}">
                      <a16:colId xmlns:a16="http://schemas.microsoft.com/office/drawing/2014/main" val="2875320681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2457720866"/>
                    </a:ext>
                  </a:extLst>
                </a:gridCol>
                <a:gridCol w="1166504">
                  <a:extLst>
                    <a:ext uri="{9D8B030D-6E8A-4147-A177-3AD203B41FA5}">
                      <a16:colId xmlns:a16="http://schemas.microsoft.com/office/drawing/2014/main" val="1782905162"/>
                    </a:ext>
                  </a:extLst>
                </a:gridCol>
                <a:gridCol w="1289022">
                  <a:extLst>
                    <a:ext uri="{9D8B030D-6E8A-4147-A177-3AD203B41FA5}">
                      <a16:colId xmlns:a16="http://schemas.microsoft.com/office/drawing/2014/main" val="3419674757"/>
                    </a:ext>
                  </a:extLst>
                </a:gridCol>
                <a:gridCol w="847619">
                  <a:extLst>
                    <a:ext uri="{9D8B030D-6E8A-4147-A177-3AD203B41FA5}">
                      <a16:colId xmlns:a16="http://schemas.microsoft.com/office/drawing/2014/main" val="4010653587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1443820978"/>
                    </a:ext>
                  </a:extLst>
                </a:gridCol>
                <a:gridCol w="510045">
                  <a:extLst>
                    <a:ext uri="{9D8B030D-6E8A-4147-A177-3AD203B41FA5}">
                      <a16:colId xmlns:a16="http://schemas.microsoft.com/office/drawing/2014/main" val="2658113818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2772869307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2780498458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3721805101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2441325671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3250029606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977275595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2902968385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949658814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1779019384"/>
                    </a:ext>
                  </a:extLst>
                </a:gridCol>
              </a:tblGrid>
              <a:tr h="220281"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UB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靜態環境</a:t>
                      </a:r>
                      <a:r>
                        <a:rPr lang="en-US" altLang="zh-TW" sz="1000" u="none" strike="noStrike" dirty="0">
                          <a:effectLst/>
                          <a:latin typeface="+mn-lt"/>
                        </a:rPr>
                        <a:t>+</a:t>
                      </a:r>
                      <a:r>
                        <a:rPr lang="zh-TW" altLang="en-US" sz="1000" u="none" strike="noStrike" dirty="0">
                          <a:effectLst/>
                          <a:latin typeface="+mn-lt"/>
                        </a:rPr>
                        <a:t>同</a:t>
                      </a:r>
                      <a:r>
                        <a:rPr lang="en-US" sz="1000" u="none" strike="noStrike" dirty="0">
                          <a:effectLst/>
                          <a:latin typeface="+mn-lt"/>
                        </a:rPr>
                        <a:t>size</a:t>
                      </a:r>
                      <a:r>
                        <a:rPr lang="zh-TW" altLang="en-US" sz="10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000" u="none" strike="noStrike" dirty="0">
                          <a:effectLst/>
                          <a:latin typeface="+mn-lt"/>
                        </a:rPr>
                        <a:t>PPO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靜態環境</a:t>
                      </a:r>
                      <a:r>
                        <a:rPr lang="en-US" altLang="zh-TW" sz="1000" u="none" strike="noStrike" dirty="0">
                          <a:effectLst/>
                          <a:latin typeface="+mn-lt"/>
                        </a:rPr>
                        <a:t>+</a:t>
                      </a:r>
                      <a:r>
                        <a:rPr lang="zh-TW" altLang="en-US" sz="1000" u="none" strike="noStrike" dirty="0">
                          <a:effectLst/>
                          <a:latin typeface="+mn-lt"/>
                        </a:rPr>
                        <a:t>不同</a:t>
                      </a:r>
                      <a:r>
                        <a:rPr lang="en-US" sz="1000" u="none" strike="noStrike" dirty="0">
                          <a:effectLst/>
                          <a:latin typeface="+mn-lt"/>
                        </a:rPr>
                        <a:t>size</a:t>
                      </a:r>
                      <a:r>
                        <a:rPr lang="zh-TW" altLang="en-US" sz="10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000" u="none" strike="noStrike" dirty="0">
                          <a:effectLst/>
                          <a:latin typeface="+mn-lt"/>
                        </a:rPr>
                        <a:t>PPO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UB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UB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UB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819560"/>
                  </a:ext>
                </a:extLst>
              </a:tr>
              <a:tr h="22028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10*5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570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15.26%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17.02%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20*5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1071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2.80%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7.10%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15*10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802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14.39%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13.28%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30*10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1520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4.74%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7.30%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656512"/>
                  </a:ext>
                </a:extLst>
              </a:tr>
              <a:tr h="22028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10*5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529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6.62%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15.31%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20*5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936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9.40%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8.01%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900" u="none" strike="noStrike">
                          <a:effectLst/>
                        </a:rPr>
                        <a:t>15*10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736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16.10%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11.77%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30*10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1658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3.44%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6.51%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76103"/>
                  </a:ext>
                </a:extLst>
              </a:tr>
              <a:tr h="22028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10*5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477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6.92%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29.14%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20*5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1038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0.96%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5.49%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900" u="none" strike="noStrike">
                          <a:effectLst/>
                        </a:rPr>
                        <a:t>15*10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813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6.01%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4.29%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30*10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1498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1.80%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7.55%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96741"/>
                  </a:ext>
                </a:extLst>
              </a:tr>
              <a:tr h="22028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10*5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502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7.97%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4.78%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20*5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1070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3.46%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10.09%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900" u="none" strike="noStrike">
                          <a:effectLst/>
                        </a:rPr>
                        <a:t>15*10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779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5.92%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20.33%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30*10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1535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4.23%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7.04%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201502"/>
                  </a:ext>
                </a:extLst>
              </a:tr>
              <a:tr h="22028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10*5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457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16.19%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24.07%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20*5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1089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3.95%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5.23%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900" u="none" strike="noStrike">
                          <a:effectLst/>
                        </a:rPr>
                        <a:t>15*10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756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15.21%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16.67%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30*10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1550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4.91%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2.39%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499864"/>
                  </a:ext>
                </a:extLst>
              </a:tr>
              <a:tr h="22028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15*5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799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1.75%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14.39%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10*10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717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8.65%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6.83%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20*10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1054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2.09%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11.76%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15*15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948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4.85%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3.59%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36217"/>
                  </a:ext>
                </a:extLst>
              </a:tr>
              <a:tr h="22028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15*5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749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4.14%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15.62%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10*10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646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3.87%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2.63%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20*10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1086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1.57%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9.03%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15*15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986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5.38%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6.80%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34809"/>
                  </a:ext>
                </a:extLst>
              </a:tr>
              <a:tr h="22028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15*5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765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9.15%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6.01%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10*10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663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0.60%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4.52%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 dirty="0">
                          <a:effectLst/>
                        </a:rPr>
                        <a:t>20*10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1070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5.42%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8.79%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15*15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943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1.70%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2.23%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623555"/>
                  </a:ext>
                </a:extLst>
              </a:tr>
              <a:tr h="22028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15*5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853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5.74%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6.21%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10*10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617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4.70%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12.64%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20*10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995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8.65%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14.79%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 dirty="0">
                          <a:effectLst/>
                        </a:rPr>
                        <a:t>15*15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922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6.07%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9.65%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036999"/>
                  </a:ext>
                </a:extLst>
              </a:tr>
              <a:tr h="22028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15*5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804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25.12%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10.20%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10*10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756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1.32%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4.23%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>
                          <a:effectLst/>
                        </a:rPr>
                        <a:t>20*10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>
                          <a:effectLst/>
                        </a:rPr>
                        <a:t>1070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9.54%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6.92%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zh-TW" sz="1000" u="none" strike="noStrike" dirty="0">
                          <a:effectLst/>
                        </a:rPr>
                        <a:t>15*15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955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1.57%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5.45%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77717"/>
                  </a:ext>
                </a:extLst>
              </a:tr>
              <a:tr h="220281"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avg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9.89%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000" u="none" strike="noStrike" dirty="0">
                          <a:effectLst/>
                        </a:rPr>
                        <a:t>14.28%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72" marR="8272" marT="8272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650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821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於動態環境上的訓練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</a:rPr>
              <a:t>訓練於靜態環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境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+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不同大小的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b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於動態環境上調整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Loss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皆有明顯下降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 reward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有震盪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16" name="圖片 15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B9E99B25-8F09-4F84-564A-ADAC781D6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743" y="1438947"/>
            <a:ext cx="7531257" cy="502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808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於動態環境上的訓練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於動態環境從頭開始訓練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Loss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走勢非常相近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 reward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也有震盪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7" name="圖片 6" descr="一張含有 文字, 行, 圖表, 繪圖 的圖片&#10;&#10;AI 產生的內容可能不正確。">
            <a:extLst>
              <a:ext uri="{FF2B5EF4-FFF2-40B4-BE49-F238E27FC236}">
                <a16:creationId xmlns:a16="http://schemas.microsoft.com/office/drawing/2014/main" id="{25A008BD-9F2D-116E-08F8-07B7F2D26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368" y="1436942"/>
            <a:ext cx="7534265" cy="502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65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於單一問題的比較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</a:rPr>
              <a:t> 因動態線上調整是為了動態環境，所以在靜態環境上只做簡單比較    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</a:endParaRPr>
          </a:p>
          <a:p>
            <a:pPr>
              <a:lnSpc>
                <a:spcPct val="150000"/>
              </a:lnSpc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</a:rPr>
              <a:t>在 靜態環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境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+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不同大小 上訓練 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，平均加工時間為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36.492</a:t>
            </a:r>
          </a:p>
        </p:txBody>
      </p:sp>
      <p:pic>
        <p:nvPicPr>
          <p:cNvPr id="7" name="圖片 6" descr="一張含有 螢幕擷取畫面, 鮮豔 的圖片&#10;&#10;AI 產生的內容可能不正確。">
            <a:extLst>
              <a:ext uri="{FF2B5EF4-FFF2-40B4-BE49-F238E27FC236}">
                <a16:creationId xmlns:a16="http://schemas.microsoft.com/office/drawing/2014/main" id="{A2AADE30-9854-0C4B-3DF7-C1793E6E6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999" y="2971397"/>
            <a:ext cx="864000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68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於單一問題的比較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</a:rPr>
              <a:t>在 靜態環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境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+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不同大小 上訓練並 經過動態環境線上微調 的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結果較未經過動態環境線上微調的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差，除了有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idle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外，平均加工時間也較大，為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48.444</a:t>
            </a:r>
          </a:p>
        </p:txBody>
      </p:sp>
      <p:pic>
        <p:nvPicPr>
          <p:cNvPr id="7" name="圖片 6" descr="一張含有 螢幕擷取畫面, 鮮豔, Rectangle 的圖片&#10;&#10;AI 產生的內容可能不正確。">
            <a:extLst>
              <a:ext uri="{FF2B5EF4-FFF2-40B4-BE49-F238E27FC236}">
                <a16:creationId xmlns:a16="http://schemas.microsoft.com/office/drawing/2014/main" id="{BAB16878-E58F-7965-0FAC-40E7C1320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000" y="2970000"/>
            <a:ext cx="863999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739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於單一問題的比較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 動態環境中從頭開始訓練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結果一樣相對較差，平均加工時間為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47.972</a:t>
            </a:r>
          </a:p>
        </p:txBody>
      </p:sp>
      <p:pic>
        <p:nvPicPr>
          <p:cNvPr id="17" name="圖片 16" descr="一張含有 螢幕擷取畫面, 鮮豔 的圖片&#10;&#10;AI 產生的內容可能不正確。">
            <a:extLst>
              <a:ext uri="{FF2B5EF4-FFF2-40B4-BE49-F238E27FC236}">
                <a16:creationId xmlns:a16="http://schemas.microsoft.com/office/drawing/2014/main" id="{C517EEB4-0D03-1966-049C-D53A9EFA1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999" y="2970000"/>
            <a:ext cx="864000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03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動態環境上的比較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</a:rPr>
              <a:t>在 靜態環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境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+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不同大小上訓練的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配合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與其他方法的結果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9B25DE7-C7C4-D81A-7EEC-0DF054941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479840"/>
              </p:ext>
            </p:extLst>
          </p:nvPr>
        </p:nvGraphicFramePr>
        <p:xfrm>
          <a:off x="1650205" y="3155689"/>
          <a:ext cx="8891589" cy="3092710"/>
        </p:xfrm>
        <a:graphic>
          <a:graphicData uri="http://schemas.openxmlformats.org/drawingml/2006/table">
            <a:tbl>
              <a:tblPr/>
              <a:tblGrid>
                <a:gridCol w="1270227">
                  <a:extLst>
                    <a:ext uri="{9D8B030D-6E8A-4147-A177-3AD203B41FA5}">
                      <a16:colId xmlns:a16="http://schemas.microsoft.com/office/drawing/2014/main" val="2932204161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1097957174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1518638059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212936655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636934067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2382506495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887688864"/>
                    </a:ext>
                  </a:extLst>
                </a:gridCol>
              </a:tblGrid>
              <a:tr h="226346">
                <a:tc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DDQN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決定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每次放行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隔一段時間放行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028484"/>
                  </a:ext>
                </a:extLst>
              </a:tr>
              <a:tr h="6029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Instance 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Makespan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Std Dev Makespan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 Makespan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Std Dev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Makespan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 Makespan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Std Dev Makespan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019601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5281.99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107.96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5292.60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42.80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5427.17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108.78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123123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5385.92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95.11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5267.23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123.73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5524.43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105.92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757794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5304.75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91.88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5231.29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5501.08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655982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4944.90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4901.28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97.43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5324.4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82.47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76675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4952.69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102.82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5007.74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5373.71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126.58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406725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5172.40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122.64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5078.52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5195.16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758897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4973.49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82.58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4955.79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86.24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5276.12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121.21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831954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4974.70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5029.88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5217.73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155.75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521977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4973.97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105.29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4921.98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107.40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5177.37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74910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5114.00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5074.45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95.63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5230.12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455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14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動態環境上的比較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</a:rPr>
              <a:t>在 靜態環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境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+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不同大小上訓練後經過動態環境微調的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配合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與其他方法的結果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9B25DE7-C7C4-D81A-7EEC-0DF054941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032889"/>
              </p:ext>
            </p:extLst>
          </p:nvPr>
        </p:nvGraphicFramePr>
        <p:xfrm>
          <a:off x="1650205" y="3155689"/>
          <a:ext cx="8891589" cy="3092710"/>
        </p:xfrm>
        <a:graphic>
          <a:graphicData uri="http://schemas.openxmlformats.org/drawingml/2006/table">
            <a:tbl>
              <a:tblPr/>
              <a:tblGrid>
                <a:gridCol w="1270227">
                  <a:extLst>
                    <a:ext uri="{9D8B030D-6E8A-4147-A177-3AD203B41FA5}">
                      <a16:colId xmlns:a16="http://schemas.microsoft.com/office/drawing/2014/main" val="2932204161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1097957174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1518638059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212936655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636934067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2382506495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887688864"/>
                    </a:ext>
                  </a:extLst>
                </a:gridCol>
              </a:tblGrid>
              <a:tr h="226346">
                <a:tc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DDQN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決定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每次放行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隔一段時間放行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028484"/>
                  </a:ext>
                </a:extLst>
              </a:tr>
              <a:tr h="6029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Instance 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Makespan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Std Dev Makespan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 Makespan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Std Dev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Makespan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 Makespan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Std Dev Makespan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019601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5562.04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92.59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5469.37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177.79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5616.09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125.12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123123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5438.68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111.61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5497.49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103.23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5733.03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103.52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757794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5526.23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5516.58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92.99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5686.09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85.75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655982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5140.64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99.12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5080.81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105.26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5332.49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76675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5184.09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94.11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5111.53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91.95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5520.47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102.36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406725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5197.10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5327.21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145.19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5433.35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758897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5200.77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5076.35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113.86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5445.61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128.50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831954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5189.03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5190.16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128.66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5418.63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116.73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521977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5060.02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102.98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5108.10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114.98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5314.38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111.80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74910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5138.50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5324.62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126.58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5491.12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455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104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動態環境上的比較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</a:rPr>
              <a:t>在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動態環境從頭開始訓練的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配合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與其他方法的結果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9B25DE7-C7C4-D81A-7EEC-0DF054941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153266"/>
              </p:ext>
            </p:extLst>
          </p:nvPr>
        </p:nvGraphicFramePr>
        <p:xfrm>
          <a:off x="1650205" y="3155689"/>
          <a:ext cx="8891589" cy="3092710"/>
        </p:xfrm>
        <a:graphic>
          <a:graphicData uri="http://schemas.openxmlformats.org/drawingml/2006/table">
            <a:tbl>
              <a:tblPr/>
              <a:tblGrid>
                <a:gridCol w="1270227">
                  <a:extLst>
                    <a:ext uri="{9D8B030D-6E8A-4147-A177-3AD203B41FA5}">
                      <a16:colId xmlns:a16="http://schemas.microsoft.com/office/drawing/2014/main" val="2932204161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1097957174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1518638059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212936655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636934067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2382506495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887688864"/>
                    </a:ext>
                  </a:extLst>
                </a:gridCol>
              </a:tblGrid>
              <a:tr h="226346">
                <a:tc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DDQN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決定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每次放行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隔一段時間放行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028484"/>
                  </a:ext>
                </a:extLst>
              </a:tr>
              <a:tr h="6029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Instance 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Makespan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Std Dev Makespan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 Makespan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Std Dev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Makespan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Makespan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Std Dev Makespan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019601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5489.03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93.13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5318.01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108.39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5586.40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132.71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123123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5427.89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129.68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5471.37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5713.83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757794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5450.69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87.07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5398.54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101.21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5684.89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655982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5162.47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5060.78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117.57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5311.82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76675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5165.54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87.94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5191.35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96.68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5387.11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406725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5338.16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94.08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5249.68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5428.51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126.24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758897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5166.08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106.45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5111.71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82.69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5422.13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92.11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831954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5198.16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5138.29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5315.96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521977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5030.04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177.32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5063.80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106.98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5383.21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142.27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74910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5308.95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86.31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5313.62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5441.72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134.90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455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2995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動態環境上的比較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</a:rPr>
              <a:t>在 靜態環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境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+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相同大小上訓練的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配合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與其他方法的結果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9B25DE7-C7C4-D81A-7EEC-0DF054941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399516"/>
              </p:ext>
            </p:extLst>
          </p:nvPr>
        </p:nvGraphicFramePr>
        <p:xfrm>
          <a:off x="1650205" y="3155689"/>
          <a:ext cx="8891589" cy="3092710"/>
        </p:xfrm>
        <a:graphic>
          <a:graphicData uri="http://schemas.openxmlformats.org/drawingml/2006/table">
            <a:tbl>
              <a:tblPr/>
              <a:tblGrid>
                <a:gridCol w="1270227">
                  <a:extLst>
                    <a:ext uri="{9D8B030D-6E8A-4147-A177-3AD203B41FA5}">
                      <a16:colId xmlns:a16="http://schemas.microsoft.com/office/drawing/2014/main" val="2932204161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1097957174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1518638059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212936655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636934067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2382506495"/>
                    </a:ext>
                  </a:extLst>
                </a:gridCol>
                <a:gridCol w="1270227">
                  <a:extLst>
                    <a:ext uri="{9D8B030D-6E8A-4147-A177-3AD203B41FA5}">
                      <a16:colId xmlns:a16="http://schemas.microsoft.com/office/drawing/2014/main" val="887688864"/>
                    </a:ext>
                  </a:extLst>
                </a:gridCol>
              </a:tblGrid>
              <a:tr h="226346">
                <a:tc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DDQN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決定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每次放行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隔一段時間放行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028484"/>
                  </a:ext>
                </a:extLst>
              </a:tr>
              <a:tr h="6029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Instance 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Makespan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Std Dev Makespan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 Makespan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Std Dev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Makespan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 Makespan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Std Dev Makespan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019601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3465.78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3453.57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3621.15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123123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3540.51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3486.81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3777.42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757794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3610.74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3574.15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3717.29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655982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3346.47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3304.59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3549.10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76675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3272.66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3249.96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3479.45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45.85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406725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3461.14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3359.23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3611.83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758897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3219.63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3240.32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3546.72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831954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3150.58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3097.03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3344.07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521977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3238.59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3246.95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3460.66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74910"/>
                  </a:ext>
                </a:extLst>
              </a:tr>
              <a:tr h="2263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3309.55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3250.98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3475.63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455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524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各個</a:t>
            </a:r>
            <a:r>
              <a:rPr lang="en-US" altLang="zh-TW" dirty="0"/>
              <a:t>PPO</a:t>
            </a:r>
            <a:r>
              <a:rPr lang="zh-TW" altLang="en-US" dirty="0"/>
              <a:t>與</a:t>
            </a:r>
            <a:r>
              <a:rPr lang="en-US" altLang="zh-TW" dirty="0"/>
              <a:t>DDQN</a:t>
            </a:r>
            <a:r>
              <a:rPr lang="zh-TW" altLang="en-US" dirty="0"/>
              <a:t>搭配的比較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13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E191BD8-57A1-727B-42F3-63A544D69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92926"/>
              </p:ext>
            </p:extLst>
          </p:nvPr>
        </p:nvGraphicFramePr>
        <p:xfrm>
          <a:off x="1151005" y="2315528"/>
          <a:ext cx="10488545" cy="3716969"/>
        </p:xfrm>
        <a:graphic>
          <a:graphicData uri="http://schemas.openxmlformats.org/drawingml/2006/table">
            <a:tbl>
              <a:tblPr/>
              <a:tblGrid>
                <a:gridCol w="2097709">
                  <a:extLst>
                    <a:ext uri="{9D8B030D-6E8A-4147-A177-3AD203B41FA5}">
                      <a16:colId xmlns:a16="http://schemas.microsoft.com/office/drawing/2014/main" val="1405162218"/>
                    </a:ext>
                  </a:extLst>
                </a:gridCol>
                <a:gridCol w="2097709">
                  <a:extLst>
                    <a:ext uri="{9D8B030D-6E8A-4147-A177-3AD203B41FA5}">
                      <a16:colId xmlns:a16="http://schemas.microsoft.com/office/drawing/2014/main" val="1939690672"/>
                    </a:ext>
                  </a:extLst>
                </a:gridCol>
                <a:gridCol w="2097709">
                  <a:extLst>
                    <a:ext uri="{9D8B030D-6E8A-4147-A177-3AD203B41FA5}">
                      <a16:colId xmlns:a16="http://schemas.microsoft.com/office/drawing/2014/main" val="2652407167"/>
                    </a:ext>
                  </a:extLst>
                </a:gridCol>
                <a:gridCol w="2097709">
                  <a:extLst>
                    <a:ext uri="{9D8B030D-6E8A-4147-A177-3AD203B41FA5}">
                      <a16:colId xmlns:a16="http://schemas.microsoft.com/office/drawing/2014/main" val="2651770321"/>
                    </a:ext>
                  </a:extLst>
                </a:gridCol>
                <a:gridCol w="2097709">
                  <a:extLst>
                    <a:ext uri="{9D8B030D-6E8A-4147-A177-3AD203B41FA5}">
                      <a16:colId xmlns:a16="http://schemas.microsoft.com/office/drawing/2014/main" val="2184818349"/>
                    </a:ext>
                  </a:extLst>
                </a:gridCol>
              </a:tblGrid>
              <a:tr h="9395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Instance 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靜態環境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不同大小上訓練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PPO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靜態環境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不同大小上訓練後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經過動態環境微調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PPO 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動態環境從頭開始訓練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PPO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靜態環境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相同大小上訓練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PPO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681189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5281.99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5562.04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5489.03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3465.78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026440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5385.92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5438.68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5427.89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3540.51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797407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5304.75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5526.23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5450.69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3610.74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70616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4944.9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5140.64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5162.47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3346.47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601031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4952.69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5184.09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5165.54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3272.66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074319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5172.4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5197.1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5338.16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3461.14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571121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4973.49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5200.77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5166.08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3219.63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210295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4974.7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5189.03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5198.16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3150.58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626581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4973.97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5060.02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5030.04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3238.59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232200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5138.5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5308.95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3309.55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798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727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各個</a:t>
            </a:r>
            <a:r>
              <a:rPr lang="en-US" altLang="zh-TW" dirty="0"/>
              <a:t>PPO</a:t>
            </a:r>
            <a:r>
              <a:rPr lang="zh-TW" altLang="en-US" dirty="0"/>
              <a:t>與</a:t>
            </a:r>
            <a:r>
              <a:rPr lang="en-US" altLang="zh-TW" dirty="0"/>
              <a:t>”</a:t>
            </a:r>
            <a:r>
              <a:rPr lang="zh-TW" altLang="en-US" dirty="0"/>
              <a:t>每次放行</a:t>
            </a:r>
            <a:r>
              <a:rPr lang="en-US" altLang="zh-TW" dirty="0"/>
              <a:t>”</a:t>
            </a:r>
            <a:r>
              <a:rPr lang="zh-TW" altLang="en-US" dirty="0"/>
              <a:t>搭配的比較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14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E191BD8-57A1-727B-42F3-63A544D69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996117"/>
              </p:ext>
            </p:extLst>
          </p:nvPr>
        </p:nvGraphicFramePr>
        <p:xfrm>
          <a:off x="1151005" y="2315528"/>
          <a:ext cx="10488545" cy="3716969"/>
        </p:xfrm>
        <a:graphic>
          <a:graphicData uri="http://schemas.openxmlformats.org/drawingml/2006/table">
            <a:tbl>
              <a:tblPr/>
              <a:tblGrid>
                <a:gridCol w="2097709">
                  <a:extLst>
                    <a:ext uri="{9D8B030D-6E8A-4147-A177-3AD203B41FA5}">
                      <a16:colId xmlns:a16="http://schemas.microsoft.com/office/drawing/2014/main" val="1405162218"/>
                    </a:ext>
                  </a:extLst>
                </a:gridCol>
                <a:gridCol w="2097709">
                  <a:extLst>
                    <a:ext uri="{9D8B030D-6E8A-4147-A177-3AD203B41FA5}">
                      <a16:colId xmlns:a16="http://schemas.microsoft.com/office/drawing/2014/main" val="1939690672"/>
                    </a:ext>
                  </a:extLst>
                </a:gridCol>
                <a:gridCol w="2097709">
                  <a:extLst>
                    <a:ext uri="{9D8B030D-6E8A-4147-A177-3AD203B41FA5}">
                      <a16:colId xmlns:a16="http://schemas.microsoft.com/office/drawing/2014/main" val="2652407167"/>
                    </a:ext>
                  </a:extLst>
                </a:gridCol>
                <a:gridCol w="2097709">
                  <a:extLst>
                    <a:ext uri="{9D8B030D-6E8A-4147-A177-3AD203B41FA5}">
                      <a16:colId xmlns:a16="http://schemas.microsoft.com/office/drawing/2014/main" val="2651770321"/>
                    </a:ext>
                  </a:extLst>
                </a:gridCol>
                <a:gridCol w="2097709">
                  <a:extLst>
                    <a:ext uri="{9D8B030D-6E8A-4147-A177-3AD203B41FA5}">
                      <a16:colId xmlns:a16="http://schemas.microsoft.com/office/drawing/2014/main" val="2184818349"/>
                    </a:ext>
                  </a:extLst>
                </a:gridCol>
              </a:tblGrid>
              <a:tr h="9395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Instance 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靜態環境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不同大小上訓練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PPO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靜態環境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不同大小上訓練後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經過動態環境微調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PPO 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動態環境從頭開始訓練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PPO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靜態環境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相同大小上訓練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PPO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681189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5292.60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5469.37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5318.01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3453.57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026440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5267.23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5497.49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5471.37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3486.81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797407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5231.29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5516.58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5398.54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3574.15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70616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4901.28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5080.81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5060.78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3304.59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601031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5007.74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5111.53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5191.35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3249.96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074319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5078.52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5327.21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5249.68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3359.23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571121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4955.79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5076.35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5111.71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3240.32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210295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5029.88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5190.16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5138.29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3097.03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626581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4921.98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5108.10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5063.80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3246.95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232200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5074.45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5324.62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5313.62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3250.98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798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721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ctr"/>
            <a:r>
              <a:rPr lang="en-US" altLang="zh-TW" sz="4000" dirty="0">
                <a:solidFill>
                  <a:srgbClr val="222222"/>
                </a:solidFill>
                <a:latin typeface="Arial" panose="020B0604020202020204" pitchFamily="34" charset="0"/>
              </a:rPr>
              <a:t>sample </a:t>
            </a:r>
            <a:r>
              <a:rPr lang="zh-TW" altLang="en-US" sz="4000" dirty="0">
                <a:solidFill>
                  <a:srgbClr val="222222"/>
                </a:solidFill>
                <a:latin typeface="Arial" panose="020B0604020202020204" pitchFamily="34" charset="0"/>
              </a:rPr>
              <a:t>與 </a:t>
            </a:r>
            <a:r>
              <a:rPr lang="en-US" altLang="zh-TW" sz="4000" dirty="0">
                <a:solidFill>
                  <a:srgbClr val="222222"/>
                </a:solidFill>
                <a:latin typeface="Arial" panose="020B0604020202020204" pitchFamily="34" charset="0"/>
              </a:rPr>
              <a:t>greedy</a:t>
            </a:r>
            <a:r>
              <a:rPr lang="zh-TW" altLang="en-US" sz="4000" dirty="0">
                <a:solidFill>
                  <a:srgbClr val="222222"/>
                </a:solidFill>
                <a:latin typeface="Arial" panose="020B0604020202020204" pitchFamily="34" charset="0"/>
              </a:rPr>
              <a:t>差異</a:t>
            </a:r>
            <a:endParaRPr lang="en-US" altLang="zh-TW" sz="4000" b="0" i="0" u="none" strike="noStrike" dirty="0">
              <a:solidFill>
                <a:srgbClr val="0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15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E191BD8-57A1-727B-42F3-63A544D69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6516"/>
              </p:ext>
            </p:extLst>
          </p:nvPr>
        </p:nvGraphicFramePr>
        <p:xfrm>
          <a:off x="851726" y="2424310"/>
          <a:ext cx="10488548" cy="3716969"/>
        </p:xfrm>
        <a:graphic>
          <a:graphicData uri="http://schemas.openxmlformats.org/drawingml/2006/table">
            <a:tbl>
              <a:tblPr/>
              <a:tblGrid>
                <a:gridCol w="1498364">
                  <a:extLst>
                    <a:ext uri="{9D8B030D-6E8A-4147-A177-3AD203B41FA5}">
                      <a16:colId xmlns:a16="http://schemas.microsoft.com/office/drawing/2014/main" val="1405162218"/>
                    </a:ext>
                  </a:extLst>
                </a:gridCol>
                <a:gridCol w="1498364">
                  <a:extLst>
                    <a:ext uri="{9D8B030D-6E8A-4147-A177-3AD203B41FA5}">
                      <a16:colId xmlns:a16="http://schemas.microsoft.com/office/drawing/2014/main" val="1939690672"/>
                    </a:ext>
                  </a:extLst>
                </a:gridCol>
                <a:gridCol w="1498364">
                  <a:extLst>
                    <a:ext uri="{9D8B030D-6E8A-4147-A177-3AD203B41FA5}">
                      <a16:colId xmlns:a16="http://schemas.microsoft.com/office/drawing/2014/main" val="2652407167"/>
                    </a:ext>
                  </a:extLst>
                </a:gridCol>
                <a:gridCol w="1498364">
                  <a:extLst>
                    <a:ext uri="{9D8B030D-6E8A-4147-A177-3AD203B41FA5}">
                      <a16:colId xmlns:a16="http://schemas.microsoft.com/office/drawing/2014/main" val="2651770321"/>
                    </a:ext>
                  </a:extLst>
                </a:gridCol>
                <a:gridCol w="1498364">
                  <a:extLst>
                    <a:ext uri="{9D8B030D-6E8A-4147-A177-3AD203B41FA5}">
                      <a16:colId xmlns:a16="http://schemas.microsoft.com/office/drawing/2014/main" val="2184818349"/>
                    </a:ext>
                  </a:extLst>
                </a:gridCol>
                <a:gridCol w="1498364">
                  <a:extLst>
                    <a:ext uri="{9D8B030D-6E8A-4147-A177-3AD203B41FA5}">
                      <a16:colId xmlns:a16="http://schemas.microsoft.com/office/drawing/2014/main" val="3740919379"/>
                    </a:ext>
                  </a:extLst>
                </a:gridCol>
                <a:gridCol w="1498364">
                  <a:extLst>
                    <a:ext uri="{9D8B030D-6E8A-4147-A177-3AD203B41FA5}">
                      <a16:colId xmlns:a16="http://schemas.microsoft.com/office/drawing/2014/main" val="3522683567"/>
                    </a:ext>
                  </a:extLst>
                </a:gridCol>
              </a:tblGrid>
              <a:tr h="9395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Instance 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靜態環境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不同大小上訓練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PPO</a:t>
                      </a:r>
                    </a:p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sample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靜態環境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不同大小上訓練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PPO</a:t>
                      </a:r>
                    </a:p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greedy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靜態環境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不同大小上訓練後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經過動態環境微調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PPO  </a:t>
                      </a:r>
                    </a:p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sample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靜態環境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不同大小上訓練後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經過動態環境微調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PPO  </a:t>
                      </a:r>
                    </a:p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greedy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靜態環境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相同大小上訓練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PPO </a:t>
                      </a:r>
                    </a:p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sample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靜態環境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相同大小上訓練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PPO </a:t>
                      </a:r>
                    </a:p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greedy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681189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5281.99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3881.95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5562.04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5425.33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3465.78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3852.95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026440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5385.92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3979.47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5438.68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5920.83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3540.51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3971.24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797407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5304.75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4301.92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5526.23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5814.09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3610.74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3672.13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70616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4944.9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3731.35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5140.64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5437.81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3346.47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3461.35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601031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4952.69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3755.52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5184.09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5145.23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3272.66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3594.52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074319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5172.4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3821.75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5197.1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5668.56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3461.14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3612.06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571121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4973.49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3701.31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5200.77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5310.13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3219.63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3269.69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210295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4974.7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3570.98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5189.03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5293.96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3150.58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3487.76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626581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4973.97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3828.21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5060.02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5262.61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3238.59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3317.35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232200"/>
                  </a:ext>
                </a:extLst>
              </a:tr>
              <a:tr h="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3691.92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5138.5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5282.37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3309.55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3387.08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798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00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結論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073" y="1631373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就結果看來在經過動態環境調整後的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模型，結果會變得很差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而高階的表現略遜於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“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每次放行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”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的策略，或與其相當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greedy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和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sample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上差距很大，且在有優劣上都不同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338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FDE61-E3D2-E6BC-0F9F-9A422FAE0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F3F00-E9C9-CE25-63F7-48B11D19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17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1CA2B-8F20-5B3D-72AC-0153AA2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2938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自訂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789D89"/>
      </a:accent1>
      <a:accent2>
        <a:srgbClr val="789D89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139176</TotalTime>
  <Words>1536</Words>
  <Application>Microsoft Office PowerPoint</Application>
  <PresentationFormat>寬螢幕</PresentationFormat>
  <Paragraphs>791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4" baseType="lpstr">
      <vt:lpstr>微軟正黑體</vt:lpstr>
      <vt:lpstr>新細明體</vt:lpstr>
      <vt:lpstr>Abadi</vt:lpstr>
      <vt:lpstr>Arial</vt:lpstr>
      <vt:lpstr>Calibri</vt:lpstr>
      <vt:lpstr>Cascadia Code</vt:lpstr>
      <vt:lpstr>回顧</vt:lpstr>
      <vt:lpstr>HRL train together2</vt:lpstr>
      <vt:lpstr>目前現況</vt:lpstr>
      <vt:lpstr>訓練 靜態環境+不同size  的 PPO</vt:lpstr>
      <vt:lpstr>於動態環境上的訓練</vt:lpstr>
      <vt:lpstr>於動態環境上的訓練</vt:lpstr>
      <vt:lpstr>於單一問題的比較</vt:lpstr>
      <vt:lpstr>於單一問題的比較</vt:lpstr>
      <vt:lpstr>於單一問題的比較</vt:lpstr>
      <vt:lpstr>動態環境上的比較</vt:lpstr>
      <vt:lpstr>動態環境上的比較</vt:lpstr>
      <vt:lpstr>動態環境上的比較</vt:lpstr>
      <vt:lpstr>動態環境上的比較</vt:lpstr>
      <vt:lpstr>各個PPO與DDQN搭配的比較</vt:lpstr>
      <vt:lpstr>各個PPO與”每次放行”搭配的比較</vt:lpstr>
      <vt:lpstr>sample 與 greedy差異</vt:lpstr>
      <vt:lpstr>結論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電容錯誤偵測</dc:title>
  <dc:creator>陳佳伶</dc:creator>
  <cp:lastModifiedBy>lab643</cp:lastModifiedBy>
  <cp:revision>866</cp:revision>
  <dcterms:created xsi:type="dcterms:W3CDTF">2022-03-03T14:40:23Z</dcterms:created>
  <dcterms:modified xsi:type="dcterms:W3CDTF">2025-12-09T09:22:46Z</dcterms:modified>
</cp:coreProperties>
</file>