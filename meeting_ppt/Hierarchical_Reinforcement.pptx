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3"/>
  </p:notesMasterIdLst>
  <p:sldIdLst>
    <p:sldId id="942" r:id="rId2"/>
    <p:sldId id="948" r:id="rId3"/>
    <p:sldId id="947" r:id="rId4"/>
    <p:sldId id="949" r:id="rId5"/>
    <p:sldId id="950" r:id="rId6"/>
    <p:sldId id="951" r:id="rId7"/>
    <p:sldId id="952" r:id="rId8"/>
    <p:sldId id="953" r:id="rId9"/>
    <p:sldId id="954" r:id="rId10"/>
    <p:sldId id="955" r:id="rId11"/>
    <p:sldId id="956" r:id="rId12"/>
    <p:sldId id="958" r:id="rId13"/>
    <p:sldId id="959" r:id="rId14"/>
    <p:sldId id="960" r:id="rId15"/>
    <p:sldId id="962" r:id="rId16"/>
    <p:sldId id="964" r:id="rId17"/>
    <p:sldId id="963" r:id="rId18"/>
    <p:sldId id="965" r:id="rId19"/>
    <p:sldId id="966" r:id="rId20"/>
    <p:sldId id="967" r:id="rId21"/>
    <p:sldId id="93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5796" autoAdjust="0"/>
  </p:normalViewPr>
  <p:slideViewPr>
    <p:cSldViewPr snapToGrid="0">
      <p:cViewPr varScale="1">
        <p:scale>
          <a:sx n="76" d="100"/>
          <a:sy n="76" d="100"/>
        </p:scale>
        <p:origin x="107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8385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3177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910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2371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202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2979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902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5275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771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650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9348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239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478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2025/9/8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2025/9/8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Hierarchical Reinforcement Learning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2025/09/08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279" y="1844040"/>
            <a:ext cx="10801004" cy="545671"/>
          </a:xfrm>
        </p:spPr>
        <p:txBody>
          <a:bodyPr/>
          <a:lstStyle/>
          <a:p>
            <a:r>
              <a:rPr lang="zh-TW" altLang="en-US" dirty="0"/>
              <a:t>現實中實際問題多為</a:t>
            </a:r>
            <a:r>
              <a:rPr lang="en-US" altLang="zh-TW" dirty="0"/>
              <a:t>dynamic flexible job shop scheduling problem(DFJSP)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EC2189D-7F10-4E0B-A757-3908F1BC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99" y="2601782"/>
            <a:ext cx="6634171" cy="278413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378287F-DD89-4C0B-AF36-03AFB42D75BA}"/>
              </a:ext>
            </a:extLst>
          </p:cNvPr>
          <p:cNvSpPr txBox="1"/>
          <p:nvPr/>
        </p:nvSpPr>
        <p:spPr>
          <a:xfrm>
            <a:off x="7003270" y="3532184"/>
            <a:ext cx="442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5400" dirty="0"/>
              <a:t>+</a:t>
            </a:r>
            <a:endParaRPr lang="zh-TW" altLang="en-US" sz="5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94E9AC-EE8A-43B8-B5EB-33BF74F02FB6}"/>
              </a:ext>
            </a:extLst>
          </p:cNvPr>
          <p:cNvSpPr txBox="1"/>
          <p:nvPr/>
        </p:nvSpPr>
        <p:spPr>
          <a:xfrm>
            <a:off x="7586924" y="3338358"/>
            <a:ext cx="45790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Dynamic event</a:t>
            </a:r>
          </a:p>
          <a:p>
            <a:pPr algn="ctr"/>
            <a:r>
              <a:rPr lang="en-US" altLang="zh-TW" sz="4000" dirty="0"/>
              <a:t>(Random job arrival)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73780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Three categories</a:t>
            </a:r>
            <a:r>
              <a:rPr lang="zh-TW" altLang="en-US" dirty="0"/>
              <a:t> </a:t>
            </a:r>
            <a:r>
              <a:rPr lang="en-US" altLang="zh-TW" dirty="0"/>
              <a:t>of Previous methods: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completely reactive scheduling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無預先排程，事件發生時做子問題排程，無法綜觀全局。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dirty="0"/>
              <a:t>predictive reactive scheduling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有預先計畫，當事件發生時，做修改或重新排程。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dirty="0"/>
              <a:t>robust proactive scheduling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在</a:t>
            </a:r>
            <a:r>
              <a:rPr lang="en-US" altLang="zh-TW" dirty="0"/>
              <a:t>predictive reactive scheduling</a:t>
            </a:r>
            <a:r>
              <a:rPr lang="zh-TW" altLang="en-US" dirty="0"/>
              <a:t> 基礎上增加緩衝區，避免頻繁修改。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傳統演算法因動態調整問題，無法在有限時間內完成。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Genetic programming (GP)</a:t>
            </a:r>
            <a:r>
              <a:rPr lang="zh-TW" altLang="en-US" dirty="0"/>
              <a:t>，使用演算法來自動演化出派工法則。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但需要專業知識與多次的嘗試。</a:t>
            </a:r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40"/>
            <a:ext cx="11534531" cy="16829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RL</a:t>
            </a:r>
            <a:r>
              <a:rPr lang="zh-TW" altLang="en-US" dirty="0"/>
              <a:t> 應用</a:t>
            </a:r>
            <a:r>
              <a:rPr lang="en-US" altLang="zh-TW" dirty="0"/>
              <a:t>:</a:t>
            </a:r>
          </a:p>
          <a:p>
            <a:pPr lvl="1">
              <a:lnSpc>
                <a:spcPct val="150000"/>
              </a:lnSpc>
            </a:pPr>
            <a:r>
              <a:rPr lang="zh-TW" altLang="en-US" dirty="0"/>
              <a:t>結合派工法則，讓</a:t>
            </a:r>
            <a:r>
              <a:rPr lang="en-US" altLang="zh-TW" dirty="0"/>
              <a:t>agent</a:t>
            </a:r>
            <a:r>
              <a:rPr lang="zh-TW" altLang="en-US" dirty="0"/>
              <a:t>來選擇目前最適合的派工法則。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dirty="0"/>
              <a:t>end-to-end DRL</a:t>
            </a:r>
            <a:r>
              <a:rPr lang="zh-TW" altLang="en-US" dirty="0"/>
              <a:t>，直接產生出排程。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11B0BF-B2BC-4AD2-8C89-44BA0E9CF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4595"/>
            <a:ext cx="12192000" cy="301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79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40"/>
            <a:ext cx="11534531" cy="16829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使用一個高階</a:t>
            </a:r>
            <a:r>
              <a:rPr lang="en-US" altLang="zh-TW" dirty="0"/>
              <a:t>Agent</a:t>
            </a:r>
            <a:r>
              <a:rPr lang="zh-TW" altLang="en-US" dirty="0"/>
              <a:t>決定何時進行重新排程，兩個低階</a:t>
            </a:r>
            <a:r>
              <a:rPr lang="en-US" altLang="zh-TW" dirty="0"/>
              <a:t>Agent</a:t>
            </a:r>
            <a:r>
              <a:rPr lang="zh-TW" altLang="en-US" dirty="0"/>
              <a:t>分別為工作流程和機器的指派做決策</a:t>
            </a: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5B052A1-98BC-4E01-9AE2-924B78702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855" y="2677948"/>
            <a:ext cx="8554011" cy="36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7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320" y="1844039"/>
                <a:ext cx="11534531" cy="41447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dirty="0"/>
                  <a:t>高階</a:t>
                </a:r>
                <a:r>
                  <a:rPr lang="en-US" altLang="zh-TW" dirty="0"/>
                  <a:t>Agent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dirty="0"/>
                  <a:t>State:</a:t>
                </a:r>
                <a:r>
                  <a:rPr lang="zh-TW" altLang="en-US" dirty="0"/>
                  <a:t> 緩衝區的工單量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p>
                    <m:r>
                      <a:rPr lang="zh-TW" altLang="en-US" i="1">
                        <a:latin typeface="Cambria Math" panose="02040503050406030204" pitchFamily="18" charset="0"/>
                      </a:rPr>
                      <m:t>和</m:t>
                    </m:r>
                  </m:oMath>
                </a14:m>
                <a:r>
                  <a:rPr lang="zh-TW" altLang="en-US" dirty="0"/>
                  <a:t>機台在</a:t>
                </a:r>
                <a:r>
                  <a:rPr lang="en-US" altLang="zh-TW" dirty="0"/>
                  <a:t>time step</a:t>
                </a:r>
                <a:r>
                  <a:rPr lang="zh-TW" altLang="en-US" dirty="0"/>
                  <a:t>的完工時間的變異數的串接後再標準化。</a:t>
                </a:r>
                <a:endParaRPr lang="en-US" altLang="zh-TW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zh-TW" dirty="0"/>
                  <a:t>Action:</a:t>
                </a:r>
                <a:r>
                  <a:rPr lang="zh-TW" altLang="en-US" dirty="0"/>
                  <a:t>二元變數，釋放或不釋放工單。</a:t>
                </a:r>
                <a:endParaRPr lang="en-US" altLang="zh-TW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zh-TW" dirty="0"/>
                  <a:t>Reward: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dirty="0"/>
                          <m:t>−</m:t>
                        </m:r>
                        <m:r>
                          <m:rPr>
                            <m:nor/>
                          </m:rPr>
                          <a:rPr lang="en-US" altLang="zh-TW" dirty="0"/>
                          <m:t>time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dirty="0"/>
                          <m:t>avg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dirty="0"/>
                          <m:t>time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dirty="0"/>
                          <m:t>avg</m:t>
                        </m:r>
                      </m:sub>
                    </m:sSub>
                  </m:oMath>
                </a14:m>
                <a:r>
                  <a:rPr lang="zh-TW" altLang="en-US" dirty="0"/>
                  <a:t>為在時間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到</a:t>
                </a:r>
                <a:r>
                  <a:rPr lang="en-US" altLang="zh-TW" dirty="0"/>
                  <a:t>t+1</a:t>
                </a:r>
                <a:r>
                  <a:rPr lang="zh-TW" altLang="en-US" dirty="0"/>
                  <a:t>中完成的</a:t>
                </a:r>
                <a:r>
                  <a:rPr lang="en-US" altLang="zh-TW" dirty="0"/>
                  <a:t>operation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加工時間的平均。</a:t>
                </a:r>
                <a:br>
                  <a:rPr lang="en-US" altLang="zh-TW" dirty="0"/>
                </a:br>
                <a:endParaRPr lang="en-US" altLang="zh-TW" dirty="0"/>
              </a:p>
            </p:txBody>
          </p:sp>
        </mc:Choice>
        <mc:Fallback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320" y="1844039"/>
                <a:ext cx="11534531" cy="4144779"/>
              </a:xfrm>
              <a:blipFill>
                <a:blip r:embed="rId2"/>
                <a:stretch>
                  <a:fillRect l="-15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681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320" y="1844039"/>
                <a:ext cx="11534531" cy="41447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dirty="0"/>
                  <a:t>高階</a:t>
                </a:r>
                <a:r>
                  <a:rPr lang="en-US" altLang="zh-TW" dirty="0"/>
                  <a:t>Agent-DDQN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TW" altLang="en-US" dirty="0"/>
                  <a:t>使用</a:t>
                </a:r>
                <a:r>
                  <a:rPr lang="en-US" altLang="zh-TW" dirty="0"/>
                  <a:t>MLP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TW" altLang="en-US" dirty="0"/>
                  <a:t>最小化</a:t>
                </a:r>
                <a:r>
                  <a:rPr lang="en-US" altLang="zh-TW" dirty="0"/>
                  <a:t>temporal difference error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TW" altLang="en-US" dirty="0"/>
                  <a:t>使用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lang="zh-TW" altLang="en-US" dirty="0"/>
                  <a:t>避免過度樂觀的估值</a:t>
                </a:r>
                <a:endParaRPr lang="en-US" altLang="zh-TW" dirty="0"/>
              </a:p>
              <a:p>
                <a:pPr lvl="1">
                  <a:lnSpc>
                    <a:spcPct val="150000"/>
                  </a:lnSpc>
                </a:pPr>
                <a:r>
                  <a:rPr lang="zh-TW" altLang="en-US" dirty="0"/>
                  <a:t>每</a:t>
                </a:r>
                <a:r>
                  <a:rPr lang="en-US" altLang="zh-TW" dirty="0"/>
                  <a:t>C</a:t>
                </a:r>
                <a:r>
                  <a:rPr lang="zh-TW" altLang="en-US" dirty="0"/>
                  <a:t>步會將</a:t>
                </a:r>
                <a:r>
                  <a:rPr lang="en-US" altLang="zh-TW" dirty="0"/>
                  <a:t>Q</a:t>
                </a:r>
                <a:r>
                  <a:rPr lang="zh-TW" altLang="en-US" dirty="0"/>
                  <a:t>網路的參數複製至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lang="en-US" altLang="zh-TW" dirty="0"/>
                  <a:t> </a:t>
                </a:r>
                <a:br>
                  <a:rPr lang="en-US" altLang="zh-TW" dirty="0"/>
                </a:br>
                <a:endParaRPr lang="en-US" altLang="zh-TW" dirty="0"/>
              </a:p>
            </p:txBody>
          </p:sp>
        </mc:Choice>
        <mc:Fallback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320" y="1844039"/>
                <a:ext cx="11534531" cy="4144779"/>
              </a:xfrm>
              <a:blipFill>
                <a:blip r:embed="rId2"/>
                <a:stretch>
                  <a:fillRect l="-15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2434FBAC-BDDB-4546-9491-AACB922A8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926" y="3067913"/>
            <a:ext cx="561100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93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320" y="1844039"/>
                <a:ext cx="11534531" cy="4094537"/>
              </a:xfrm>
            </p:spPr>
            <p:txBody>
              <a:bodyPr>
                <a:norm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zh-TW" altLang="en-US" sz="2400" dirty="0"/>
                  <a:t>低階</a:t>
                </a:r>
                <a:r>
                  <a:rPr lang="en-US" altLang="zh-TW" sz="2400" dirty="0"/>
                  <a:t> Agents</a:t>
                </a:r>
                <a:r>
                  <a:rPr lang="zh-TW" altLang="en-US" sz="2400" dirty="0"/>
                  <a:t> </a:t>
                </a:r>
                <a:r>
                  <a:rPr lang="en-US" altLang="zh-TW" sz="2800" dirty="0"/>
                  <a:t>(Job)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zh-TW" sz="2000" dirty="0"/>
                  <a:t>State:</a:t>
                </a:r>
                <a:r>
                  <a:rPr lang="zh-TW" altLang="en-US" sz="2000" dirty="0"/>
                  <a:t>           為在時間</a:t>
                </a:r>
                <a:r>
                  <a:rPr lang="en-US" altLang="zh-TW" sz="2000" dirty="0"/>
                  <a:t>t</a:t>
                </a:r>
                <a:r>
                  <a:rPr lang="zh-TW" altLang="en-US" sz="2000" dirty="0"/>
                  <a:t>的</a:t>
                </a:r>
                <a:r>
                  <a:rPr lang="en-US" altLang="zh-TW" sz="2000" dirty="0"/>
                  <a:t>disjunctive graph</a:t>
                </a:r>
                <a:r>
                  <a:rPr lang="zh-TW" altLang="en-US" sz="2000" dirty="0"/>
                  <a:t>                                                             其中       為指定機台順序後，具有方向性。而每個節點包含資訊</a:t>
                </a:r>
                <a:r>
                  <a:rPr lang="en-US" altLang="zh-TW" sz="2000" dirty="0"/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LB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altLang="zh-TW" sz="2000" dirty="0"/>
                  <a:t> )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altLang="zh-TW" sz="2000" dirty="0"/>
                  <a:t> )] </a:t>
                </a:r>
                <a:r>
                  <a:rPr lang="zh-TW" altLang="en-US" sz="2000" dirty="0"/>
                  <a:t>，其中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LB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altLang="zh-TW" sz="2000" dirty="0"/>
                  <a:t> )</a:t>
                </a:r>
                <a:r>
                  <a:rPr lang="zh-TW" altLang="en-US" sz="2000" dirty="0"/>
                  <a:t> 為在時間</a:t>
                </a:r>
                <a:r>
                  <a:rPr lang="en-US" altLang="zh-TW" sz="2000" dirty="0"/>
                  <a:t>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zh-TW" altLang="en-US" sz="2000" dirty="0"/>
                  <a:t>的實際完成時間或預估的下限時間，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altLang="zh-TW" sz="2000" dirty="0"/>
                  <a:t> )</a:t>
                </a:r>
                <a:r>
                  <a:rPr lang="zh-TW" altLang="en-US" sz="2000" dirty="0"/>
                  <a:t>為是否被排程。</a:t>
                </a:r>
                <a:endParaRPr lang="en-US" altLang="zh-TW" sz="2000" dirty="0"/>
              </a:p>
              <a:p>
                <a:pPr lvl="2">
                  <a:lnSpc>
                    <a:spcPct val="150000"/>
                  </a:lnSpc>
                </a:pPr>
                <a:r>
                  <a:rPr lang="en-US" altLang="zh-TW" sz="2000" dirty="0"/>
                  <a:t>Action: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         </a:t>
                </a:r>
                <a:r>
                  <a:rPr lang="zh-TW" altLang="en-US" sz="2000" dirty="0"/>
                  <a:t>為可排程的</a:t>
                </a:r>
                <a:r>
                  <a:rPr lang="en-US" altLang="zh-TW" sz="2000" dirty="0"/>
                  <a:t>operation </a:t>
                </a:r>
                <a:r>
                  <a:rPr lang="zh-TW" altLang="en-US" sz="2000" dirty="0"/>
                  <a:t>在最初時為</a:t>
                </a:r>
                <a:endParaRPr lang="en-US" altLang="zh-TW" sz="2000" dirty="0"/>
              </a:p>
              <a:p>
                <a:pPr lvl="2">
                  <a:lnSpc>
                    <a:spcPct val="150000"/>
                  </a:lnSpc>
                </a:pPr>
                <a:r>
                  <a:rPr lang="en-US" altLang="zh-TW" sz="2000" dirty="0"/>
                  <a:t>Reward:</a:t>
                </a:r>
                <a:r>
                  <a:rPr lang="zh-TW" altLang="en-US" sz="2000" dirty="0"/>
                  <a:t>                                      其中                                            ，為最小化</a:t>
                </a:r>
                <a:r>
                  <a:rPr lang="en-US" altLang="zh-TW" sz="2000" dirty="0" err="1"/>
                  <a:t>makespan</a:t>
                </a:r>
                <a:r>
                  <a:rPr lang="zh-TW" altLang="en-US" sz="2000" dirty="0"/>
                  <a:t>。</a:t>
                </a:r>
                <a:br>
                  <a:rPr lang="en-US" altLang="zh-TW" dirty="0"/>
                </a:br>
                <a:endParaRPr lang="en-US" altLang="zh-TW" dirty="0"/>
              </a:p>
            </p:txBody>
          </p:sp>
        </mc:Choice>
        <mc:Fallback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320" y="1844039"/>
                <a:ext cx="11534531" cy="4094537"/>
              </a:xfrm>
              <a:blipFill>
                <a:blip r:embed="rId3"/>
                <a:stretch>
                  <a:fillRect r="-4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9A4B646C-E089-47D4-8627-B4C4EA0F9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242" y="2700065"/>
            <a:ext cx="3705742" cy="3048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C3A491-508E-4404-AA99-DEB0FE75C3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804" r="11977" b="-24507"/>
          <a:stretch/>
        </p:blipFill>
        <p:spPr>
          <a:xfrm>
            <a:off x="10153793" y="2704922"/>
            <a:ext cx="341644" cy="37955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51B677F-D2C6-4C7A-9933-72505D5C3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987" y="2598475"/>
            <a:ext cx="533474" cy="44773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1565CE6-0FF7-4DEA-8E9B-F8C0B6527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714" y="4326205"/>
            <a:ext cx="552527" cy="36200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F25CAFD-1D18-48BF-810C-736C5130F6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690" y="4354783"/>
            <a:ext cx="1419423" cy="30484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50850F4-05EC-460B-891C-65BF639B06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7724" y="4814611"/>
            <a:ext cx="2286319" cy="40010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446C207-25C4-4103-A298-6D0AA3DB2C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6951" y="4877164"/>
            <a:ext cx="2705478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31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320" y="1844039"/>
                <a:ext cx="11534531" cy="4094537"/>
              </a:xfrm>
            </p:spPr>
            <p:txBody>
              <a:bodyPr>
                <a:norm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zh-TW" altLang="en-US" sz="2400" dirty="0"/>
                  <a:t>低階</a:t>
                </a:r>
                <a:r>
                  <a:rPr lang="en-US" altLang="zh-TW" sz="2400" dirty="0"/>
                  <a:t> Agents</a:t>
                </a:r>
                <a:r>
                  <a:rPr lang="zh-TW" altLang="en-US" sz="2400" dirty="0"/>
                  <a:t> </a:t>
                </a:r>
                <a:r>
                  <a:rPr lang="en-US" altLang="zh-TW" sz="2800" dirty="0"/>
                  <a:t>(Machine)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zh-TW" sz="2000" dirty="0"/>
                  <a:t>State:</a:t>
                </a:r>
                <a:r>
                  <a:rPr lang="zh-TW" altLang="en-US" sz="2000" dirty="0"/>
                  <a:t>           為                       其中           為機台</a:t>
                </a:r>
                <a:r>
                  <a:rPr lang="en-US" altLang="zh-TW" sz="2000" dirty="0"/>
                  <a:t>k</a:t>
                </a:r>
                <a:r>
                  <a:rPr lang="zh-TW" altLang="en-US" sz="2000" dirty="0"/>
                  <a:t>在時間</a:t>
                </a:r>
                <a:r>
                  <a:rPr lang="en-US" altLang="zh-TW" sz="2000" dirty="0"/>
                  <a:t>t</a:t>
                </a:r>
                <a:r>
                  <a:rPr lang="zh-TW" altLang="en-US" sz="2000" dirty="0"/>
                  <a:t>前的完成時間，        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zh-TW" altLang="en-US" sz="2000" dirty="0"/>
                  <a:t>在機台</a:t>
                </a:r>
                <a:r>
                  <a:rPr lang="en-US" altLang="zh-TW" sz="2000" dirty="0"/>
                  <a:t>k</a:t>
                </a:r>
                <a:r>
                  <a:rPr lang="zh-TW" altLang="en-US" sz="2000" dirty="0"/>
                  <a:t>的加工時間，而若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zh-TW" altLang="en-US" sz="2000" dirty="0"/>
                  <a:t>在機台</a:t>
                </a:r>
                <a:r>
                  <a:rPr lang="en-US" altLang="zh-TW" sz="2000" dirty="0"/>
                  <a:t>k</a:t>
                </a:r>
                <a:r>
                  <a:rPr lang="zh-TW" altLang="en-US" sz="2000" dirty="0"/>
                  <a:t>無法加工，則取所有可加工機台之平均值。</a:t>
                </a:r>
                <a:endParaRPr lang="en-US" altLang="zh-TW" sz="2000" dirty="0"/>
              </a:p>
              <a:p>
                <a:pPr lvl="2">
                  <a:lnSpc>
                    <a:spcPct val="150000"/>
                  </a:lnSpc>
                </a:pPr>
                <a:r>
                  <a:rPr lang="en-US" altLang="zh-TW" sz="2000" dirty="0"/>
                  <a:t>Action:         </a:t>
                </a:r>
                <a:r>
                  <a:rPr lang="zh-TW" altLang="en-US" sz="2000" dirty="0"/>
                  <a:t>  為</a:t>
                </a:r>
                <a:r>
                  <a:rPr lang="en-US" altLang="zh-TW" sz="2000" dirty="0"/>
                  <a:t>Job agent</a:t>
                </a:r>
                <a:r>
                  <a:rPr lang="zh-TW" altLang="en-US" sz="2000" dirty="0"/>
                  <a:t>所選出之</a:t>
                </a:r>
                <a:r>
                  <a:rPr lang="en-US" altLang="zh-TW" sz="2000" dirty="0"/>
                  <a:t>operation</a:t>
                </a:r>
                <a:r>
                  <a:rPr lang="zh-TW" altLang="en-US" sz="2000" dirty="0"/>
                  <a:t>可加工的機台</a:t>
                </a:r>
                <a:endParaRPr lang="en-US" altLang="zh-TW" sz="2000" dirty="0"/>
              </a:p>
              <a:p>
                <a:pPr lvl="2">
                  <a:lnSpc>
                    <a:spcPct val="150000"/>
                  </a:lnSpc>
                </a:pPr>
                <a:r>
                  <a:rPr lang="en-US" altLang="zh-TW" sz="2000" dirty="0"/>
                  <a:t>Reward:</a:t>
                </a:r>
                <a:r>
                  <a:rPr lang="zh-TW" altLang="en-US" sz="2000" dirty="0"/>
                  <a:t>同</a:t>
                </a:r>
                <a:r>
                  <a:rPr lang="en-US" altLang="zh-TW" sz="2000" dirty="0"/>
                  <a:t>Job agent</a:t>
                </a:r>
                <a:br>
                  <a:rPr lang="en-US" altLang="zh-TW" dirty="0"/>
                </a:br>
                <a:endParaRPr lang="en-US" altLang="zh-TW" dirty="0"/>
              </a:p>
            </p:txBody>
          </p:sp>
        </mc:Choice>
        <mc:Fallback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320" y="1844039"/>
                <a:ext cx="11534531" cy="4094537"/>
              </a:xfrm>
              <a:blipFill>
                <a:blip r:embed="rId3"/>
                <a:stretch>
                  <a:fillRect r="-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C8E9CD85-07FB-423E-8A6B-DA7B86209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856" y="2654624"/>
            <a:ext cx="628738" cy="34294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A7ADC68-DCDD-4C70-B089-9EFA7DDCA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2943" y="2645097"/>
            <a:ext cx="1419423" cy="36200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CDBB814-81A9-46E8-9133-B8BCDAE313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593" t="1" r="46225" b="7894"/>
          <a:stretch/>
        </p:blipFill>
        <p:spPr>
          <a:xfrm>
            <a:off x="4612194" y="2673679"/>
            <a:ext cx="612949" cy="33341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1ECE4E0-D55D-4390-BD9A-17C7AB65D4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8010" t="-1" r="5873" b="-30929"/>
          <a:stretch/>
        </p:blipFill>
        <p:spPr>
          <a:xfrm>
            <a:off x="8751923" y="2645097"/>
            <a:ext cx="512657" cy="47396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7E9FD61-8178-4DEC-920B-9044846F8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714" y="3804996"/>
            <a:ext cx="619211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8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altLang="zh-TW" sz="2800" dirty="0"/>
              <a:t>Parameterizing Policies</a:t>
            </a:r>
            <a:r>
              <a:rPr lang="zh-TW" altLang="en-US" sz="2800" dirty="0"/>
              <a:t> </a:t>
            </a:r>
            <a:r>
              <a:rPr lang="en-US" altLang="zh-TW" sz="2800" dirty="0"/>
              <a:t>(Job encoder)</a:t>
            </a:r>
          </a:p>
          <a:p>
            <a:pPr lvl="2">
              <a:lnSpc>
                <a:spcPct val="150000"/>
              </a:lnSpc>
            </a:pPr>
            <a:r>
              <a:rPr lang="zh-TW" altLang="en-US" sz="2000" dirty="0"/>
              <a:t>使用</a:t>
            </a:r>
            <a:r>
              <a:rPr lang="en-US" altLang="zh-TW" sz="2000" dirty="0"/>
              <a:t>GIN</a:t>
            </a:r>
            <a:r>
              <a:rPr lang="zh-TW" altLang="en-US" sz="2000" dirty="0"/>
              <a:t>，藉由聚合和</a:t>
            </a:r>
            <a:r>
              <a:rPr lang="en-US" altLang="zh-TW" sz="2000" dirty="0"/>
              <a:t>MLP</a:t>
            </a:r>
            <a:r>
              <a:rPr lang="zh-TW" altLang="en-US" sz="2000" dirty="0"/>
              <a:t>更新參數來加強特徵向量。</a:t>
            </a:r>
            <a:endParaRPr lang="en-US" altLang="zh-TW" sz="2000" dirty="0"/>
          </a:p>
          <a:p>
            <a:pPr lvl="2">
              <a:lnSpc>
                <a:spcPct val="150000"/>
              </a:lnSpc>
            </a:pPr>
            <a:endParaRPr lang="en-US" altLang="zh-TW" sz="2000" dirty="0"/>
          </a:p>
          <a:p>
            <a:pPr lvl="2">
              <a:lnSpc>
                <a:spcPct val="150000"/>
              </a:lnSpc>
            </a:pPr>
            <a:endParaRPr lang="en-US" altLang="zh-TW" sz="2000" dirty="0"/>
          </a:p>
          <a:p>
            <a:pPr lvl="2">
              <a:lnSpc>
                <a:spcPct val="150000"/>
              </a:lnSpc>
            </a:pPr>
            <a:r>
              <a:rPr lang="zh-TW" altLang="en-US" sz="2000" dirty="0"/>
              <a:t>對於輸入包含有向</a:t>
            </a:r>
            <a:r>
              <a:rPr lang="en-US" altLang="zh-TW" sz="2000" dirty="0"/>
              <a:t>(</a:t>
            </a:r>
            <a:r>
              <a:rPr lang="zh-TW" altLang="en-US" sz="2000" dirty="0"/>
              <a:t>流程</a:t>
            </a:r>
            <a:r>
              <a:rPr lang="en-US" altLang="zh-TW" sz="2000" dirty="0"/>
              <a:t>)</a:t>
            </a:r>
            <a:r>
              <a:rPr lang="zh-TW" altLang="en-US" sz="2000" dirty="0"/>
              <a:t>與無向邊</a:t>
            </a:r>
            <a:r>
              <a:rPr lang="en-US" altLang="zh-TW" sz="2000" dirty="0"/>
              <a:t>(</a:t>
            </a:r>
            <a:r>
              <a:rPr lang="zh-TW" altLang="en-US" sz="2000" dirty="0"/>
              <a:t>機台</a:t>
            </a:r>
            <a:r>
              <a:rPr lang="en-US" altLang="zh-TW" sz="2000" dirty="0"/>
              <a:t>)</a:t>
            </a:r>
            <a:r>
              <a:rPr lang="zh-TW" altLang="en-US" sz="2000" dirty="0"/>
              <a:t>的問題，先忽視無向邊，當機台決定後再加入考慮。</a:t>
            </a:r>
            <a:endParaRPr lang="en-US" altLang="zh-TW" sz="2000" dirty="0"/>
          </a:p>
          <a:p>
            <a:pPr lvl="2">
              <a:lnSpc>
                <a:spcPct val="150000"/>
              </a:lnSpc>
            </a:pPr>
            <a:r>
              <a:rPr lang="zh-TW" altLang="en-US" sz="2000" dirty="0"/>
              <a:t>最終輸出會再經過</a:t>
            </a:r>
            <a:r>
              <a:rPr lang="en-US" altLang="zh-TW" sz="2000" dirty="0"/>
              <a:t>pooling</a:t>
            </a:r>
            <a:r>
              <a:rPr lang="zh-TW" altLang="en-US" sz="2000" dirty="0"/>
              <a:t>處理</a:t>
            </a:r>
            <a:br>
              <a:rPr lang="en-US" altLang="zh-TW" dirty="0"/>
            </a:b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824FE4B-47D2-45B1-AABB-AF0B41091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80" y="3035616"/>
            <a:ext cx="6058746" cy="122889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18F4C05-FC17-4EAF-8E5F-870A83BC5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312" y="4777437"/>
            <a:ext cx="5039428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26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altLang="zh-TW" sz="2800" dirty="0"/>
              <a:t>Parameterizing Policies</a:t>
            </a:r>
            <a:r>
              <a:rPr lang="zh-TW" altLang="en-US" sz="2800" dirty="0"/>
              <a:t> </a:t>
            </a:r>
            <a:r>
              <a:rPr lang="en-US" altLang="zh-TW" sz="2800" dirty="0"/>
              <a:t>(Machine encoder)</a:t>
            </a:r>
          </a:p>
          <a:p>
            <a:pPr lvl="2">
              <a:lnSpc>
                <a:spcPct val="150000"/>
              </a:lnSpc>
            </a:pPr>
            <a:r>
              <a:rPr lang="zh-TW" altLang="en-US" sz="2000" dirty="0"/>
              <a:t>直接使用</a:t>
            </a:r>
            <a:r>
              <a:rPr lang="en-US" altLang="zh-TW" sz="2000" dirty="0"/>
              <a:t>MLP</a:t>
            </a:r>
            <a:r>
              <a:rPr lang="zh-TW" altLang="en-US" sz="2000" dirty="0"/>
              <a:t>取得        在</a:t>
            </a:r>
            <a:r>
              <a:rPr lang="en-US" altLang="zh-TW" sz="2000" dirty="0"/>
              <a:t>pooling</a:t>
            </a:r>
            <a:r>
              <a:rPr lang="zh-TW" altLang="en-US" sz="2000" dirty="0"/>
              <a:t>後得</a:t>
            </a:r>
            <a:endParaRPr lang="en-US" altLang="zh-TW" sz="2000" dirty="0"/>
          </a:p>
          <a:p>
            <a:pPr lvl="1"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zh-TW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Parameterizing Policies</a:t>
            </a:r>
            <a:r>
              <a:rPr lang="zh-TW" altLang="en-U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(decoder)</a:t>
            </a:r>
          </a:p>
          <a:p>
            <a:pPr lvl="2">
              <a:lnSpc>
                <a:spcPct val="150000"/>
              </a:lnSpc>
            </a:pPr>
            <a:r>
              <a:rPr lang="zh-TW" alt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使用相同架構但不同參數的</a:t>
            </a:r>
            <a:r>
              <a:rPr lang="en-US" altLang="zh-TW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MLP</a:t>
            </a:r>
            <a:r>
              <a:rPr lang="zh-TW" alt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得到動作分數</a:t>
            </a:r>
            <a:endParaRPr lang="en-US" altLang="zh-TW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2">
              <a:lnSpc>
                <a:spcPct val="150000"/>
              </a:lnSpc>
            </a:pPr>
            <a:endParaRPr lang="en-US" altLang="zh-TW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2">
              <a:lnSpc>
                <a:spcPct val="150000"/>
              </a:lnSpc>
            </a:pPr>
            <a:endParaRPr lang="en-US" altLang="zh-TW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2">
              <a:lnSpc>
                <a:spcPct val="150000"/>
              </a:lnSpc>
            </a:pPr>
            <a:r>
              <a:rPr lang="zh-TW" alt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而選擇過的選項以負無限大取代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523216C-971E-40C3-A818-F5FD67C0B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409" y="2690055"/>
            <a:ext cx="400106" cy="35247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3FC2F6A-6637-404B-AFE9-8BB26A720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007" y="2685409"/>
            <a:ext cx="295316" cy="31436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3485C22-82D9-48FF-9C1C-08DBB2B8B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734" y="4392208"/>
            <a:ext cx="3801005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58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altLang="zh-TW" sz="2800" dirty="0"/>
              <a:t>Training Algorithm</a:t>
            </a:r>
          </a:p>
          <a:p>
            <a:pPr lvl="2">
              <a:lnSpc>
                <a:spcPct val="150000"/>
              </a:lnSpc>
            </a:pPr>
            <a:r>
              <a:rPr lang="zh-TW" altLang="en-US" sz="2000" dirty="0"/>
              <a:t>使用</a:t>
            </a:r>
            <a:r>
              <a:rPr lang="en-US" altLang="zh-TW" sz="2000" dirty="0"/>
              <a:t>PPO</a:t>
            </a:r>
            <a:r>
              <a:rPr lang="zh-TW" altLang="en-US" sz="2000" dirty="0"/>
              <a:t>作為訓練的演算法，並使用兩個</a:t>
            </a:r>
            <a:r>
              <a:rPr lang="en-US" altLang="zh-TW" sz="2000" dirty="0"/>
              <a:t>actor</a:t>
            </a:r>
            <a:r>
              <a:rPr lang="zh-TW" altLang="en-US" sz="2000" dirty="0"/>
              <a:t>                           和</a:t>
            </a:r>
            <a:endParaRPr lang="en-US" altLang="zh-TW" sz="2000" dirty="0"/>
          </a:p>
          <a:p>
            <a:pPr lvl="2">
              <a:lnSpc>
                <a:spcPct val="150000"/>
              </a:lnSpc>
            </a:pPr>
            <a:r>
              <a:rPr lang="zh-TW" altLang="en-US" sz="2000" dirty="0"/>
              <a:t>使用同一個</a:t>
            </a:r>
            <a:r>
              <a:rPr lang="en-US" altLang="zh-TW" sz="2000" dirty="0"/>
              <a:t>value function</a:t>
            </a:r>
          </a:p>
          <a:p>
            <a:pPr lvl="2">
              <a:lnSpc>
                <a:spcPct val="150000"/>
              </a:lnSpc>
            </a:pPr>
            <a:r>
              <a:rPr lang="en-US" altLang="zh-TW" sz="2000" dirty="0"/>
              <a:t>advantage function</a:t>
            </a:r>
            <a:r>
              <a:rPr lang="zh-TW" altLang="en-US" sz="2000" dirty="0"/>
              <a:t>為</a:t>
            </a:r>
            <a:endParaRPr lang="en-US" altLang="zh-TW" sz="2000" dirty="0"/>
          </a:p>
          <a:p>
            <a:pPr lvl="2">
              <a:lnSpc>
                <a:spcPct val="150000"/>
              </a:lnSpc>
            </a:pPr>
            <a:r>
              <a:rPr lang="en-US" altLang="zh-TW" sz="2000" dirty="0"/>
              <a:t>actor</a:t>
            </a:r>
            <a:r>
              <a:rPr lang="zh-TW" altLang="en-US" sz="2000" dirty="0"/>
              <a:t> </a:t>
            </a:r>
            <a:r>
              <a:rPr lang="en-US" altLang="zh-TW" sz="2000" dirty="0"/>
              <a:t>m</a:t>
            </a:r>
            <a:r>
              <a:rPr lang="zh-TW" altLang="en-US" sz="2000" dirty="0"/>
              <a:t>和</a:t>
            </a:r>
            <a:r>
              <a:rPr lang="en-US" altLang="zh-TW" sz="2000" dirty="0"/>
              <a:t>o</a:t>
            </a:r>
            <a:r>
              <a:rPr lang="zh-TW" altLang="en-US" sz="2000" dirty="0"/>
              <a:t>會經由右側</a:t>
            </a:r>
            <a:r>
              <a:rPr lang="en-US" altLang="zh-TW" sz="2000" dirty="0"/>
              <a:t>clip objective</a:t>
            </a:r>
            <a:r>
              <a:rPr lang="zh-TW" altLang="en-US" sz="2000" dirty="0"/>
              <a:t>優化</a:t>
            </a:r>
            <a:endParaRPr lang="en-US" altLang="zh-TW" sz="2000" dirty="0"/>
          </a:p>
          <a:p>
            <a:pPr lvl="2">
              <a:lnSpc>
                <a:spcPct val="150000"/>
              </a:lnSpc>
            </a:pPr>
            <a:r>
              <a:rPr lang="zh-TW" altLang="en-US" sz="2000" dirty="0"/>
              <a:t>其中            等於     </a:t>
            </a:r>
            <a:endParaRPr lang="en-US" altLang="zh-TW" sz="2000" dirty="0"/>
          </a:p>
          <a:p>
            <a:pPr lvl="2">
              <a:lnSpc>
                <a:spcPct val="150000"/>
              </a:lnSpc>
            </a:pPr>
            <a:r>
              <a:rPr lang="zh-TW" altLang="en-US" sz="2000" dirty="0"/>
              <a:t>而</a:t>
            </a:r>
            <a:r>
              <a:rPr lang="en-US" altLang="zh-TW" sz="2000" dirty="0" err="1"/>
              <a:t>criti</a:t>
            </a:r>
            <a:r>
              <a:rPr lang="zh-TW" altLang="en-US" sz="2000" dirty="0"/>
              <a:t>則是使用</a:t>
            </a:r>
            <a:r>
              <a:rPr lang="en-US" altLang="zh-TW" sz="2000" dirty="0"/>
              <a:t>MSE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77DFB3F-BA99-43FC-BC08-C4F777EEB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483" y="2646143"/>
            <a:ext cx="1562318" cy="40010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3CC3C44-53CB-431D-9362-44077FD7D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890" y="2646143"/>
            <a:ext cx="1810003" cy="32389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658B7E7-D68E-4D43-BFA4-6E39A29E8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8979" y="3212049"/>
            <a:ext cx="1427083" cy="30089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CE8ECF40-F2F2-4AED-B383-03C3B2B52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4326" y="3600932"/>
            <a:ext cx="3213589" cy="72407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5E914F4-6B19-4818-BAC6-AA38099A88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6971" y="4122141"/>
            <a:ext cx="4658375" cy="103837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A724E15-1A90-4919-9141-2F1F830942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501" y="4747354"/>
            <a:ext cx="724001" cy="41915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9A28DDB-A788-4C46-8C25-1359853E6C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6796" y="4664016"/>
            <a:ext cx="1524213" cy="590632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3ADEC36-7A5A-4C0B-93CA-140FEA9B2E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0136" y="5460447"/>
            <a:ext cx="5858693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12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zh-TW" altLang="en-US" sz="2800" dirty="0"/>
              <a:t>參數設定</a:t>
            </a:r>
            <a:endParaRPr lang="en-US" altLang="zh-TW" sz="2800" dirty="0"/>
          </a:p>
          <a:p>
            <a:pPr lvl="1">
              <a:lnSpc>
                <a:spcPct val="150000"/>
              </a:lnSpc>
            </a:pPr>
            <a:r>
              <a:rPr lang="zh-TW" altLang="en-US" sz="2000" dirty="0"/>
              <a:t>                         ，其中      為</a:t>
            </a:r>
            <a:r>
              <a:rPr lang="en-US" altLang="zh-TW" sz="2000" dirty="0"/>
              <a:t>operations </a:t>
            </a:r>
            <a:r>
              <a:rPr lang="zh-TW" altLang="en-US" sz="2000" dirty="0"/>
              <a:t>的平均加工時間，    為工單的平均</a:t>
            </a:r>
            <a:r>
              <a:rPr lang="zh-TW" altLang="en-US" dirty="0"/>
              <a:t>所有</a:t>
            </a:r>
            <a:r>
              <a:rPr lang="en-US" altLang="zh-TW" sz="2000" dirty="0"/>
              <a:t>operations</a:t>
            </a:r>
            <a:r>
              <a:rPr lang="zh-TW" altLang="en-US" sz="2000" dirty="0"/>
              <a:t>數。</a:t>
            </a:r>
            <a:endParaRPr lang="en-US" altLang="zh-TW" sz="200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2FDD3EFC-4CB5-4CBB-BADB-470A6A5A6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76" y="3300268"/>
            <a:ext cx="5496692" cy="2086266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FC91E11-092B-44E6-872F-F8BEC1B12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76" y="2634105"/>
            <a:ext cx="1533739" cy="40010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9FBCD02-EEEE-4B3A-8E20-178789D0D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621" y="2695191"/>
            <a:ext cx="362001" cy="33342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F1AAC63-4FC8-4368-93FC-12579C86CF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760" y="2722205"/>
            <a:ext cx="314369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20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14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320" y="1844039"/>
                <a:ext cx="11534531" cy="4094537"/>
              </a:xfrm>
            </p:spPr>
            <p:txBody>
              <a:bodyPr>
                <a:norm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zh-TW" altLang="en-US" sz="2800" dirty="0"/>
                  <a:t>比較對象</a:t>
                </a:r>
                <a:endParaRPr lang="en-US" altLang="zh-TW" sz="2800" dirty="0"/>
              </a:p>
              <a:p>
                <a:pPr lvl="1">
                  <a:lnSpc>
                    <a:spcPct val="150000"/>
                  </a:lnSpc>
                </a:pP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zh-TW" dirty="0"/>
                  <a:t>T rescheduling + dispatching rules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dirty="0"/>
                  <a:t>Learning to choose dispatching rules (L2D)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zh-TW" dirty="0"/>
                  <a:t>T rescheduling +ACO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dirty="0"/>
                  <a:t>Optimal: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MIP(</a:t>
                </a:r>
                <a:r>
                  <a:rPr lang="en-US" altLang="zh-TW" dirty="0" err="1"/>
                  <a:t>Gurobi</a:t>
                </a:r>
                <a:r>
                  <a:rPr lang="en-US" altLang="zh-TW" dirty="0"/>
                  <a:t>,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limited in 3600s )</a:t>
                </a:r>
                <a:endParaRPr lang="en-US" altLang="zh-TW" sz="2000" dirty="0"/>
              </a:p>
            </p:txBody>
          </p:sp>
        </mc:Choice>
        <mc:Fallback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46CB4645-8B4E-4C68-869F-D9F48FEC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320" y="1844039"/>
                <a:ext cx="11534531" cy="409453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883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zh-TW" altLang="en-US" sz="2800" dirty="0"/>
              <a:t>主實驗</a:t>
            </a:r>
            <a:endParaRPr lang="en-US" altLang="zh-TW" sz="28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5402D94-83C1-4575-B825-708B23D76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880" y="2540749"/>
            <a:ext cx="8832501" cy="365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05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zh-TW" altLang="en-US" sz="2800" dirty="0"/>
              <a:t>主實驗的泛化能力</a:t>
            </a:r>
            <a:endParaRPr lang="en-US" altLang="zh-TW" sz="2800" dirty="0"/>
          </a:p>
          <a:p>
            <a:pPr lvl="2">
              <a:lnSpc>
                <a:spcPct val="150000"/>
              </a:lnSpc>
            </a:pPr>
            <a:r>
              <a:rPr lang="zh-TW" altLang="en-US" sz="2000" dirty="0"/>
              <a:t>設</a:t>
            </a:r>
            <a:r>
              <a:rPr lang="en-US" altLang="zh-TW" sz="2000" dirty="0"/>
              <a:t>dynamically arrived</a:t>
            </a:r>
            <a:r>
              <a:rPr lang="zh-TW" altLang="en-US" sz="2000" dirty="0"/>
              <a:t> </a:t>
            </a:r>
            <a:r>
              <a:rPr lang="en-US" altLang="zh-TW" sz="2000" dirty="0"/>
              <a:t>Job</a:t>
            </a:r>
            <a:r>
              <a:rPr lang="zh-TW" altLang="en-US" sz="2000" dirty="0"/>
              <a:t>為</a:t>
            </a:r>
            <a:r>
              <a:rPr lang="en-US" altLang="zh-TW" sz="2000" dirty="0"/>
              <a:t>100</a:t>
            </a:r>
            <a:r>
              <a:rPr lang="zh-TW" altLang="en-US" sz="2000" dirty="0"/>
              <a:t>進行訓練</a:t>
            </a:r>
            <a:endParaRPr lang="en-US" altLang="zh-TW" sz="24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5E46598-BE71-4DA2-A4C5-033C1EAA8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7832"/>
            <a:ext cx="12136544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09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zh-TW" altLang="en-US" sz="2800" dirty="0"/>
              <a:t>於子問題的泛化能力</a:t>
            </a:r>
            <a:endParaRPr lang="en-US" altLang="zh-TW" sz="2800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99E24FF-91D4-46A1-9E4D-D47090A80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032" y="2105017"/>
            <a:ext cx="6037475" cy="4094163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0F958F1-4DD8-4592-BD2D-A2B5FE976344}"/>
              </a:ext>
            </a:extLst>
          </p:cNvPr>
          <p:cNvCxnSpPr/>
          <p:nvPr/>
        </p:nvCxnSpPr>
        <p:spPr>
          <a:xfrm flipV="1">
            <a:off x="4009293" y="5382568"/>
            <a:ext cx="2421653" cy="30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95A868E2-E868-4E0E-B631-ACABA6C3BFA0}"/>
              </a:ext>
            </a:extLst>
          </p:cNvPr>
          <p:cNvSpPr txBox="1"/>
          <p:nvPr/>
        </p:nvSpPr>
        <p:spPr>
          <a:xfrm>
            <a:off x="1858945" y="5533293"/>
            <a:ext cx="2270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Model </a:t>
            </a:r>
            <a:r>
              <a:rPr lang="zh-TW" altLang="en-US" dirty="0"/>
              <a:t>的訓練集大小</a:t>
            </a:r>
            <a:endParaRPr lang="en-US" altLang="zh-TW" dirty="0"/>
          </a:p>
          <a:p>
            <a:pPr algn="ctr"/>
            <a:r>
              <a:rPr lang="en-US" altLang="zh-TW" dirty="0"/>
              <a:t>J</a:t>
            </a:r>
            <a:r>
              <a:rPr lang="zh-TW" altLang="en-US" dirty="0"/>
              <a:t>*</a:t>
            </a:r>
            <a:r>
              <a:rPr lang="en-US" altLang="zh-TW" dirty="0"/>
              <a:t>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1747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zh-TW" altLang="en-US" sz="2800" dirty="0"/>
              <a:t>高階</a:t>
            </a:r>
            <a:r>
              <a:rPr lang="en-US" altLang="zh-TW" sz="2800" dirty="0"/>
              <a:t>Agent</a:t>
            </a:r>
            <a:r>
              <a:rPr lang="zh-TW" altLang="en-US" sz="2800" dirty="0"/>
              <a:t>的成效檢驗</a:t>
            </a:r>
            <a:endParaRPr lang="en-US" altLang="zh-TW" sz="28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CA764FD-A43C-48A4-9A0C-7EC05805D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357" y="2013728"/>
            <a:ext cx="5048955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31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zh-TW" altLang="en-US" sz="2800" dirty="0"/>
              <a:t>低階</a:t>
            </a:r>
            <a:r>
              <a:rPr lang="en-US" altLang="zh-TW" sz="2800" dirty="0"/>
              <a:t>Agent</a:t>
            </a:r>
            <a:r>
              <a:rPr lang="zh-TW" altLang="en-US" sz="2800" dirty="0"/>
              <a:t>的成效檢驗</a:t>
            </a:r>
            <a:endParaRPr lang="en-US" altLang="zh-TW" sz="2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6FB5F99-3935-43C6-84AF-C73CB8A41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636" y="1927044"/>
            <a:ext cx="6030795" cy="393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4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855F658-A9E3-4727-A2A3-EC857AADF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579" y="2216255"/>
            <a:ext cx="6304704" cy="402316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09453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zh-TW" altLang="en-US" sz="2800" dirty="0"/>
              <a:t>低階</a:t>
            </a:r>
            <a:r>
              <a:rPr lang="en-US" altLang="zh-TW" sz="2800" dirty="0"/>
              <a:t>Agent</a:t>
            </a:r>
            <a:r>
              <a:rPr lang="zh-TW" altLang="en-US" sz="2800" dirty="0"/>
              <a:t>於實際問題的表現</a:t>
            </a:r>
            <a:r>
              <a:rPr lang="en-US" altLang="zh-TW" sz="2800" dirty="0"/>
              <a:t>(</a:t>
            </a:r>
            <a:r>
              <a:rPr lang="en-US" altLang="zh-TW" sz="2400" dirty="0" err="1"/>
              <a:t>Hurink-Vdata</a:t>
            </a:r>
            <a:r>
              <a:rPr lang="en-US" altLang="zh-TW" sz="2800" dirty="0"/>
              <a:t>)</a:t>
            </a:r>
          </a:p>
          <a:p>
            <a:pPr lvl="2">
              <a:lnSpc>
                <a:spcPct val="150000"/>
              </a:lnSpc>
            </a:pPr>
            <a:r>
              <a:rPr lang="zh-TW" altLang="en-US" sz="2400" dirty="0"/>
              <a:t>結果雖不一定優於演算法，</a:t>
            </a:r>
            <a:endParaRPr lang="en-US" altLang="zh-TW" sz="2400" dirty="0"/>
          </a:p>
          <a:p>
            <a:pPr marL="384048" lvl="2" indent="0">
              <a:lnSpc>
                <a:spcPct val="150000"/>
              </a:lnSpc>
              <a:buNone/>
            </a:pPr>
            <a:r>
              <a:rPr lang="en-US" altLang="zh-TW" sz="2400" dirty="0"/>
              <a:t>	</a:t>
            </a:r>
            <a:r>
              <a:rPr lang="zh-TW" altLang="en-US" sz="2400" dirty="0"/>
              <a:t>但在眾多的實驗中，本研究</a:t>
            </a:r>
            <a:endParaRPr lang="en-US" altLang="zh-TW" sz="2400" dirty="0"/>
          </a:p>
          <a:p>
            <a:pPr marL="384048" lvl="2" indent="0">
              <a:lnSpc>
                <a:spcPct val="150000"/>
              </a:lnSpc>
              <a:buNone/>
            </a:pPr>
            <a:r>
              <a:rPr lang="en-US" altLang="zh-TW" sz="2400" dirty="0"/>
              <a:t>	</a:t>
            </a:r>
            <a:r>
              <a:rPr lang="zh-TW" altLang="en-US" sz="2400" dirty="0"/>
              <a:t>的執行時間明顯優於演算法。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348687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115807</TotalTime>
  <Words>911</Words>
  <Application>Microsoft Office PowerPoint</Application>
  <PresentationFormat>寬螢幕</PresentationFormat>
  <Paragraphs>149</Paragraphs>
  <Slides>21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0" baseType="lpstr">
      <vt:lpstr>微軟正黑體</vt:lpstr>
      <vt:lpstr>新細明體</vt:lpstr>
      <vt:lpstr>Abadi</vt:lpstr>
      <vt:lpstr>Arial</vt:lpstr>
      <vt:lpstr>Calibri</vt:lpstr>
      <vt:lpstr>Calibri Light</vt:lpstr>
      <vt:lpstr>Cambria Math</vt:lpstr>
      <vt:lpstr>Cascadia Code</vt:lpstr>
      <vt:lpstr>回顧</vt:lpstr>
      <vt:lpstr>Hierarchical Reinforcement Learning</vt:lpstr>
      <vt:lpstr>INTRODUCTION</vt:lpstr>
      <vt:lpstr>INTRODUCTION</vt:lpstr>
      <vt:lpstr>INTRODUCTION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COMPUTATIONAL EXPERIMENT</vt:lpstr>
      <vt:lpstr>COMPUTATIONAL EXPERIMENT</vt:lpstr>
      <vt:lpstr>COMPUTATIONAL EXPERIMENT</vt:lpstr>
      <vt:lpstr>COMPUTATIONAL EXPERIMENT</vt:lpstr>
      <vt:lpstr>COMPUTATIONAL EXPERIMENT</vt:lpstr>
      <vt:lpstr>COMPUTATIONAL EXPERIMENT</vt:lpstr>
      <vt:lpstr>COMPUTATIONAL EXPERIMENT</vt:lpstr>
      <vt:lpstr>COMPUTATIONAL EXPERIMENT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李信翰</cp:lastModifiedBy>
  <cp:revision>772</cp:revision>
  <dcterms:created xsi:type="dcterms:W3CDTF">2022-03-03T14:40:23Z</dcterms:created>
  <dcterms:modified xsi:type="dcterms:W3CDTF">2025-09-09T07:54:19Z</dcterms:modified>
</cp:coreProperties>
</file>