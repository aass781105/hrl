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0"/>
  </p:notesMasterIdLst>
  <p:sldIdLst>
    <p:sldId id="942" r:id="rId2"/>
    <p:sldId id="1098" r:id="rId3"/>
    <p:sldId id="1110" r:id="rId4"/>
    <p:sldId id="1111" r:id="rId5"/>
    <p:sldId id="1112" r:id="rId6"/>
    <p:sldId id="1114" r:id="rId7"/>
    <p:sldId id="1123" r:id="rId8"/>
    <p:sldId id="1113" r:id="rId9"/>
    <p:sldId id="1115" r:id="rId10"/>
    <p:sldId id="1117" r:id="rId11"/>
    <p:sldId id="1124" r:id="rId12"/>
    <p:sldId id="1116" r:id="rId13"/>
    <p:sldId id="1118" r:id="rId14"/>
    <p:sldId id="1119" r:id="rId15"/>
    <p:sldId id="1120" r:id="rId16"/>
    <p:sldId id="1121" r:id="rId17"/>
    <p:sldId id="1122" r:id="rId18"/>
    <p:sldId id="93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70AD47"/>
    <a:srgbClr val="3F6EC2"/>
    <a:srgbClr val="ED7D31"/>
    <a:srgbClr val="C00000"/>
    <a:srgbClr val="4E799B"/>
    <a:srgbClr val="FFAD39"/>
    <a:srgbClr val="FF9966"/>
    <a:srgbClr val="B0966A"/>
    <a:srgbClr val="CA6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佈景主題樣式 2 - 輔色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深色樣式 1 - 輔色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89333" autoAdjust="0"/>
  </p:normalViewPr>
  <p:slideViewPr>
    <p:cSldViewPr snapToGrid="0">
      <p:cViewPr varScale="1">
        <p:scale>
          <a:sx n="99" d="100"/>
          <a:sy n="99" d="100"/>
        </p:scale>
        <p:origin x="1020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1842FF-CB32-43DF-B9FE-65EF665875B2}" type="datetimeFigureOut">
              <a:rPr lang="zh-TW" altLang="en-US" smtClean="0"/>
              <a:t>2026/4/24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E097C-2611-49AA-93D4-A0110E9A53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6620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E097C-2611-49AA-93D4-A0110E9A53C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1902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E097C-2611-49AA-93D4-A0110E9A53C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85884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E097C-2611-49AA-93D4-A0110E9A53C2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6439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E097C-2611-49AA-93D4-A0110E9A53C2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12119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E097C-2611-49AA-93D4-A0110E9A53C2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33419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E097C-2611-49AA-93D4-A0110E9A53C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2756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E097C-2611-49AA-93D4-A0110E9A53C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78259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E097C-2611-49AA-93D4-A0110E9A53C2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7975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E097C-2611-49AA-93D4-A0110E9A53C2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43090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E097C-2611-49AA-93D4-A0110E9A53C2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82298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E097C-2611-49AA-93D4-A0110E9A53C2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16355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E097C-2611-49AA-93D4-A0110E9A53C2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49809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E097C-2611-49AA-93D4-A0110E9A53C2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0921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E097C-2611-49AA-93D4-A0110E9A53C2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37233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E097C-2611-49AA-93D4-A0110E9A53C2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96289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E097C-2611-49AA-93D4-A0110E9A53C2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6985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960880"/>
            <a:ext cx="10058400" cy="1210733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400" spc="-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6218" y="4064624"/>
            <a:ext cx="10058400" cy="1143000"/>
          </a:xfrm>
        </p:spPr>
        <p:txBody>
          <a:bodyPr lIns="91440" rIns="9144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dirty="0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414A-AA3B-479F-9443-E87E6DB2D303}" type="datetime1">
              <a:rPr lang="zh-TW" altLang="en-US" smtClean="0"/>
              <a:t>2026/4/24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385064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Taipei Tech logo">
            <a:extLst>
              <a:ext uri="{FF2B5EF4-FFF2-40B4-BE49-F238E27FC236}">
                <a16:creationId xmlns:a16="http://schemas.microsoft.com/office/drawing/2014/main" id="{C84FB869-60CA-1359-A1A9-972FEE00D5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573" y="82333"/>
            <a:ext cx="1109133" cy="6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A8FE2F8E-0A2C-6F39-816C-42C1E1733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328" y="180909"/>
            <a:ext cx="3740342" cy="55882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9E7AFDF-5951-D557-114F-9D59ED13850D}"/>
              </a:ext>
            </a:extLst>
          </p:cNvPr>
          <p:cNvSpPr/>
          <p:nvPr userDrawn="1"/>
        </p:nvSpPr>
        <p:spPr>
          <a:xfrm>
            <a:off x="1" y="1632361"/>
            <a:ext cx="854110" cy="23352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F597C5-038F-02ED-F1C7-CE412689C651}"/>
              </a:ext>
            </a:extLst>
          </p:cNvPr>
          <p:cNvSpPr/>
          <p:nvPr userDrawn="1"/>
        </p:nvSpPr>
        <p:spPr>
          <a:xfrm>
            <a:off x="11337885" y="1632360"/>
            <a:ext cx="854110" cy="23352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54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1005" y="997522"/>
            <a:ext cx="9562253" cy="545671"/>
          </a:xfrm>
        </p:spPr>
        <p:txBody>
          <a:bodyPr>
            <a:noAutofit/>
          </a:bodyPr>
          <a:lstStyle>
            <a:lvl1pPr marL="0">
              <a:defRPr sz="40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64139-FB37-44CF-9649-84761977F7A6}" type="datetime1">
              <a:rPr lang="zh-TW" altLang="en-US" smtClean="0"/>
              <a:t>2026/4/24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14E0F19-E296-C08D-6CCC-3FFA478020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24280" y="1844040"/>
            <a:ext cx="10012680" cy="4307840"/>
          </a:xfrm>
        </p:spPr>
        <p:txBody>
          <a:bodyPr/>
          <a:lstStyle>
            <a:lvl1pPr marL="91440" indent="-9144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400"/>
            </a:lvl1pPr>
            <a:lvl2pPr marL="38404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/>
            </a:lvl2pPr>
            <a:lvl3pPr marL="56692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3pPr>
            <a:lvl4pPr marL="74980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4pPr>
            <a:lvl5pPr marL="93268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zh-TW" altLang="en-US" dirty="0"/>
              <a:t> 按一下以編輯母片文字樣式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 第三層</a:t>
            </a:r>
          </a:p>
          <a:p>
            <a:pPr lvl="3"/>
            <a:r>
              <a:rPr lang="zh-TW" altLang="en-US" dirty="0"/>
              <a:t> 第四層</a:t>
            </a:r>
          </a:p>
          <a:p>
            <a:pPr lvl="4"/>
            <a:r>
              <a:rPr lang="zh-TW" altLang="en-US" dirty="0"/>
              <a:t> 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291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6B276-F255-4EEC-8D40-1223573FF8B6}" type="datetime1">
              <a:rPr lang="zh-TW" altLang="en-US" smtClean="0"/>
              <a:t>2026/4/24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D32E87-AE6C-472D-9A09-3ECFE3A03479}"/>
              </a:ext>
            </a:extLst>
          </p:cNvPr>
          <p:cNvSpPr/>
          <p:nvPr userDrawn="1"/>
        </p:nvSpPr>
        <p:spPr>
          <a:xfrm>
            <a:off x="0" y="0"/>
            <a:ext cx="367200" cy="558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F9B39C-AD5F-C429-CFBC-3A61DB623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880" y="33090"/>
            <a:ext cx="9562253" cy="545671"/>
          </a:xfrm>
        </p:spPr>
        <p:txBody>
          <a:bodyPr>
            <a:noAutofit/>
          </a:bodyPr>
          <a:lstStyle>
            <a:lvl1pPr marL="0">
              <a:defRPr sz="32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BBEB8-4775-A21F-4CBB-D3B6B1972A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8640" y="911014"/>
            <a:ext cx="11247120" cy="5240866"/>
          </a:xfrm>
        </p:spPr>
        <p:txBody>
          <a:bodyPr/>
          <a:lstStyle>
            <a:lvl1pPr marL="91440" indent="-9144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400"/>
            </a:lvl1pPr>
            <a:lvl2pPr marL="38404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/>
            </a:lvl2pPr>
            <a:lvl3pPr marL="56692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3pPr>
            <a:lvl4pPr marL="74980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4pPr>
            <a:lvl5pPr marL="93268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zh-TW" altLang="en-US" dirty="0"/>
              <a:t> 按一下以編輯母片文字樣式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 第三層</a:t>
            </a:r>
          </a:p>
          <a:p>
            <a:pPr lvl="3"/>
            <a:r>
              <a:rPr lang="zh-TW" altLang="en-US" dirty="0"/>
              <a:t> 第四層</a:t>
            </a:r>
          </a:p>
          <a:p>
            <a:pPr lvl="4"/>
            <a:r>
              <a:rPr lang="zh-TW" altLang="en-US" dirty="0"/>
              <a:t> 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997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9F5CB97-E547-425F-B1EF-51E6D4EAC77F}" type="datetime1">
              <a:rPr lang="zh-TW" altLang="en-US" smtClean="0"/>
              <a:t>2026/4/24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23565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2BE65-6E56-49AE-80DA-7E1BCEC842BD}" type="datetime1">
              <a:rPr lang="zh-TW" altLang="en-US" smtClean="0"/>
              <a:t>2026/4/24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7800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714" y="6515590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fld id="{459D13DB-F681-4B20-BE28-C9CE0BB35DC9}" type="datetime1">
              <a:rPr lang="zh-TW" altLang="en-US" smtClean="0"/>
              <a:pPr/>
              <a:t>2026/4/24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571397"/>
            <a:ext cx="4822804" cy="2535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baseline="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132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296F0BE3-5357-4671-AC41-EE354106F685}"/>
              </a:ext>
            </a:extLst>
          </p:cNvPr>
          <p:cNvSpPr/>
          <p:nvPr userDrawn="1"/>
        </p:nvSpPr>
        <p:spPr>
          <a:xfrm>
            <a:off x="0" y="0"/>
            <a:ext cx="367200" cy="558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6" name="Picture 2" descr="Taipei Tech logo">
            <a:extLst>
              <a:ext uri="{FF2B5EF4-FFF2-40B4-BE49-F238E27FC236}">
                <a16:creationId xmlns:a16="http://schemas.microsoft.com/office/drawing/2014/main" id="{B93B3042-4014-4658-5163-E5664504D9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687" y="76285"/>
            <a:ext cx="1109133" cy="6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9624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3" r:id="rId3"/>
    <p:sldLayoutId id="2147483704" r:id="rId4"/>
    <p:sldLayoutId id="2147483707" r:id="rId5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FFB725-A3BC-1735-E5D3-E841251F3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960880"/>
            <a:ext cx="10058400" cy="1556043"/>
          </a:xfrm>
        </p:spPr>
        <p:txBody>
          <a:bodyPr>
            <a:normAutofit/>
          </a:bodyPr>
          <a:lstStyle/>
          <a:p>
            <a:r>
              <a:rPr lang="zh-TW" altLang="en-US" dirty="0"/>
              <a:t>架構細節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B61C99B-68D5-06B4-0619-45FF2CD5F2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李信翰</a:t>
            </a:r>
            <a:endParaRPr lang="en-US" altLang="zh-TW" dirty="0"/>
          </a:p>
          <a:p>
            <a:r>
              <a:rPr lang="en-US" altLang="zh-TW"/>
              <a:t>2026/03/21</a:t>
            </a:r>
            <a:endParaRPr lang="en-US" altLang="zh-TW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829393D-EB17-0B9B-F7A1-7EBE72096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310FEA9-4B06-E7EE-E0A0-84370D4E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67401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 descr="一張含有 文字, 螢幕擷取畫面, 圖表, 設計 的圖片&#10;&#10;AI 產生的內容可能不正確。">
            <a:extLst>
              <a:ext uri="{FF2B5EF4-FFF2-40B4-BE49-F238E27FC236}">
                <a16:creationId xmlns:a16="http://schemas.microsoft.com/office/drawing/2014/main" id="{FC78F904-FCF1-CDAA-B9BC-4F8638F88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678" y="0"/>
            <a:ext cx="7575229" cy="685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上層模型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2</a:t>
            </a:fld>
            <a:endParaRPr lang="zh-TW" altLang="en-US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51237C28-39C8-B95B-8512-5DD2851FE79C}"/>
              </a:ext>
            </a:extLst>
          </p:cNvPr>
          <p:cNvCxnSpPr>
            <a:cxnSpLocks/>
          </p:cNvCxnSpPr>
          <p:nvPr/>
        </p:nvCxnSpPr>
        <p:spPr>
          <a:xfrm>
            <a:off x="3368842" y="1260909"/>
            <a:ext cx="4446872" cy="1751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1069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上層</a:t>
            </a:r>
            <a:r>
              <a:rPr lang="en-US" altLang="zh-TW" dirty="0"/>
              <a:t>state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39"/>
            <a:ext cx="11288142" cy="461574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Buffer Size: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Buffer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目前工單數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Avg System Load: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所有機器平均剩餘的工作負荷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Min System Load: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最快空閒的那台機器還要多久才能加工新工作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Load Std: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各機器間負荷的標準差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Load Span: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偵測最忙與最閒機器的極端差距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Weighted Idle: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對越靠近現在時間的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idle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加權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Unweighted Idle</a:t>
            </a:r>
          </a:p>
        </p:txBody>
      </p:sp>
    </p:spTree>
    <p:extLst>
      <p:ext uri="{BB962C8B-B14F-4D97-AF65-F5344CB8AC3E}">
        <p14:creationId xmlns:p14="http://schemas.microsoft.com/office/powerpoint/2010/main" val="2010028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上層</a:t>
            </a:r>
            <a:r>
              <a:rPr lang="en-US" altLang="zh-TW" dirty="0"/>
              <a:t>state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39"/>
            <a:ext cx="11288142" cy="461574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Buf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NegSlack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 Ratio: buffer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中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Slack &lt; 0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的工單比例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Buf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 Min Slack: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buffer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中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Slack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最小值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Buf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 Avg Slack</a:t>
            </a: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Buf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 Slack Std</a:t>
            </a: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WIP Min Slack 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目前排程中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Slack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最小值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(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不包含不同重排的部分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WIP Avg Slack</a:t>
            </a: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WIP Tardy Ratio</a:t>
            </a:r>
          </a:p>
        </p:txBody>
      </p:sp>
    </p:spTree>
    <p:extLst>
      <p:ext uri="{BB962C8B-B14F-4D97-AF65-F5344CB8AC3E}">
        <p14:creationId xmlns:p14="http://schemas.microsoft.com/office/powerpoint/2010/main" val="3947111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上層</a:t>
            </a:r>
            <a:r>
              <a:rPr lang="en-US" altLang="zh-TW" dirty="0"/>
              <a:t>state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39"/>
            <a:ext cx="11288142" cy="461574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WIP Slack Std</a:t>
            </a: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WIP Job Count</a:t>
            </a: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Tardiness Density: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目前延遲與剩餘工時的比率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Slack Density: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wip_avg_slack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 / (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wip_count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 + 1)</a:t>
            </a:r>
          </a:p>
        </p:txBody>
      </p:sp>
    </p:spTree>
    <p:extLst>
      <p:ext uri="{BB962C8B-B14F-4D97-AF65-F5344CB8AC3E}">
        <p14:creationId xmlns:p14="http://schemas.microsoft.com/office/powerpoint/2010/main" val="4272774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上層</a:t>
            </a:r>
            <a:r>
              <a:rPr lang="en-US" altLang="zh-TW" dirty="0"/>
              <a:t>action</a:t>
            </a:r>
            <a:r>
              <a:rPr lang="zh-TW" altLang="en-US" dirty="0"/>
              <a:t>、</a:t>
            </a:r>
            <a:r>
              <a:rPr lang="en-US" altLang="zh-TW" dirty="0"/>
              <a:t>reward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39"/>
            <a:ext cx="11288142" cy="461574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Step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為有工單到達時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Act = 0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，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Hold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，不釋放工單也不重排，時間推進並更新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state</a:t>
            </a: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Act = 1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，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Release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，釋放所有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buffer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內的工單，與排程中可重排的工單組成靜態問題給下層重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reward = (0.003)r_stab + (0.015)r_buf + (0.1)r_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TD</a:t>
            </a:r>
            <a:r>
              <a:rPr lang="pt-BR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 + (0.0)r_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MK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，權重目前都還在嘗試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TW" sz="1600" dirty="0" err="1">
                <a:solidFill>
                  <a:srgbClr val="222222"/>
                </a:solidFill>
                <a:latin typeface="Arial" panose="020B0604020202020204" pitchFamily="34" charset="0"/>
              </a:rPr>
              <a:t>r_stab</a:t>
            </a:r>
            <a:r>
              <a:rPr lang="zh-TW" altLang="en-US" sz="16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=</a:t>
            </a:r>
            <a:r>
              <a:rPr lang="zh-TW" altLang="en-US" sz="16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release</a:t>
            </a:r>
            <a:r>
              <a:rPr lang="zh-TW" altLang="en-US" sz="1600" dirty="0">
                <a:solidFill>
                  <a:srgbClr val="222222"/>
                </a:solidFill>
                <a:latin typeface="Arial" panose="020B0604020202020204" pitchFamily="34" charset="0"/>
              </a:rPr>
              <a:t>懲罰</a:t>
            </a:r>
            <a:endParaRPr lang="en-US" altLang="zh-TW" sz="16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TW" sz="1600" dirty="0" err="1">
                <a:solidFill>
                  <a:srgbClr val="222222"/>
                </a:solidFill>
                <a:latin typeface="Arial" panose="020B0604020202020204" pitchFamily="34" charset="0"/>
              </a:rPr>
              <a:t>r_buf</a:t>
            </a: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 = </a:t>
            </a:r>
            <a:r>
              <a:rPr lang="zh-TW" altLang="en-US" sz="1600" dirty="0">
                <a:solidFill>
                  <a:srgbClr val="222222"/>
                </a:solidFill>
                <a:latin typeface="Arial" panose="020B0604020202020204" pitchFamily="34" charset="0"/>
              </a:rPr>
              <a:t>當</a:t>
            </a: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buffer</a:t>
            </a:r>
            <a:r>
              <a:rPr lang="zh-TW" altLang="en-US" sz="1600" dirty="0">
                <a:solidFill>
                  <a:srgbClr val="222222"/>
                </a:solidFill>
                <a:latin typeface="Arial" panose="020B0604020202020204" pitchFamily="34" charset="0"/>
              </a:rPr>
              <a:t>內工單 </a:t>
            </a: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slack</a:t>
            </a:r>
            <a:r>
              <a:rPr lang="zh-TW" altLang="en-US" sz="16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&lt;</a:t>
            </a:r>
            <a:r>
              <a:rPr lang="zh-TW" altLang="en-US" sz="16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0</a:t>
            </a:r>
            <a:r>
              <a:rPr lang="zh-TW" altLang="en-US" sz="1600" dirty="0">
                <a:solidFill>
                  <a:srgbClr val="222222"/>
                </a:solidFill>
                <a:latin typeface="Arial" panose="020B0604020202020204" pitchFamily="34" charset="0"/>
              </a:rPr>
              <a:t>時</a:t>
            </a:r>
            <a:r>
              <a:rPr lang="en-US" altLang="zh-TW" sz="1600" dirty="0" err="1">
                <a:solidFill>
                  <a:srgbClr val="222222"/>
                </a:solidFill>
                <a:latin typeface="Arial" panose="020B0604020202020204" pitchFamily="34" charset="0"/>
              </a:rPr>
              <a:t>r_buf</a:t>
            </a: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 = slack </a:t>
            </a:r>
            <a:r>
              <a:rPr lang="zh-TW" altLang="en-US" sz="1600" dirty="0">
                <a:solidFill>
                  <a:srgbClr val="222222"/>
                </a:solidFill>
                <a:latin typeface="Arial" panose="020B0604020202020204" pitchFamily="34" charset="0"/>
              </a:rPr>
              <a:t>， </a:t>
            </a: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0 &lt;= slack</a:t>
            </a:r>
            <a:r>
              <a:rPr lang="zh-TW" altLang="en-US" sz="16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&lt;100</a:t>
            </a:r>
            <a:r>
              <a:rPr lang="zh-TW" altLang="en-US" sz="1600" dirty="0">
                <a:solidFill>
                  <a:srgbClr val="222222"/>
                </a:solidFill>
                <a:latin typeface="Arial" panose="020B0604020202020204" pitchFamily="34" charset="0"/>
              </a:rPr>
              <a:t>時 </a:t>
            </a:r>
            <a:r>
              <a:rPr lang="en-US" altLang="zh-TW" sz="1600" dirty="0" err="1">
                <a:solidFill>
                  <a:srgbClr val="222222"/>
                </a:solidFill>
                <a:latin typeface="Arial" panose="020B0604020202020204" pitchFamily="34" charset="0"/>
              </a:rPr>
              <a:t>r_buf</a:t>
            </a:r>
            <a:r>
              <a:rPr lang="zh-TW" altLang="en-US" sz="16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=</a:t>
            </a:r>
            <a:r>
              <a:rPr lang="zh-TW" altLang="en-US" sz="16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-slack * 0.5</a:t>
            </a:r>
          </a:p>
          <a:p>
            <a:pPr lvl="1">
              <a:lnSpc>
                <a:spcPct val="150000"/>
              </a:lnSpc>
            </a:pPr>
            <a:r>
              <a:rPr lang="en-US" altLang="zh-TW" sz="1600" dirty="0" err="1">
                <a:solidFill>
                  <a:srgbClr val="222222"/>
                </a:solidFill>
                <a:latin typeface="Arial" panose="020B0604020202020204" pitchFamily="34" charset="0"/>
              </a:rPr>
              <a:t>r_TD</a:t>
            </a: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 = </a:t>
            </a:r>
            <a:r>
              <a:rPr lang="zh-TW" altLang="en-US" sz="1600" dirty="0">
                <a:solidFill>
                  <a:srgbClr val="222222"/>
                </a:solidFill>
                <a:latin typeface="Arial" panose="020B0604020202020204" pitchFamily="34" charset="0"/>
              </a:rPr>
              <a:t>當模擬結束後的</a:t>
            </a: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tardiness</a:t>
            </a:r>
            <a:r>
              <a:rPr lang="zh-TW" altLang="en-US" sz="16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/ (</a:t>
            </a:r>
            <a:r>
              <a:rPr lang="en-US" altLang="zh-TW" sz="1600" dirty="0" err="1">
                <a:solidFill>
                  <a:srgbClr val="222222"/>
                </a:solidFill>
                <a:latin typeface="Arial" panose="020B0604020202020204" pitchFamily="34" charset="0"/>
              </a:rPr>
              <a:t>num_total_event</a:t>
            </a: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 * </a:t>
            </a:r>
            <a:r>
              <a:rPr lang="en-US" altLang="zh-TW" sz="1600" dirty="0" err="1">
                <a:solidFill>
                  <a:srgbClr val="222222"/>
                </a:solidFill>
                <a:latin typeface="Arial" panose="020B0604020202020204" pitchFamily="34" charset="0"/>
              </a:rPr>
              <a:t>mean_pt</a:t>
            </a: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) </a:t>
            </a:r>
          </a:p>
          <a:p>
            <a:pPr lvl="1">
              <a:lnSpc>
                <a:spcPct val="150000"/>
              </a:lnSpc>
            </a:pPr>
            <a:r>
              <a:rPr lang="en-US" altLang="zh-TW" sz="1600" dirty="0" err="1">
                <a:solidFill>
                  <a:srgbClr val="222222"/>
                </a:solidFill>
                <a:latin typeface="Arial" panose="020B0604020202020204" pitchFamily="34" charset="0"/>
              </a:rPr>
              <a:t>r_MK</a:t>
            </a: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 = </a:t>
            </a:r>
            <a:r>
              <a:rPr lang="sv-SE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-((mk_ratio + 1) ^2) – 1 </a:t>
            </a:r>
            <a:r>
              <a:rPr lang="zh-TW" altLang="en-US" sz="1600" dirty="0">
                <a:solidFill>
                  <a:srgbClr val="222222"/>
                </a:solidFill>
                <a:latin typeface="Arial" panose="020B0604020202020204" pitchFamily="34" charset="0"/>
              </a:rPr>
              <a:t>， </a:t>
            </a:r>
            <a:r>
              <a:rPr lang="en-US" altLang="zh-TW" sz="1600" dirty="0" err="1">
                <a:solidFill>
                  <a:srgbClr val="222222"/>
                </a:solidFill>
                <a:latin typeface="Arial" panose="020B0604020202020204" pitchFamily="34" charset="0"/>
              </a:rPr>
              <a:t>mk_ratio</a:t>
            </a: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 =</a:t>
            </a:r>
            <a:r>
              <a:rPr lang="zh-TW" altLang="en-US" sz="1600" dirty="0">
                <a:solidFill>
                  <a:srgbClr val="222222"/>
                </a:solidFill>
                <a:latin typeface="Arial" panose="020B0604020202020204" pitchFamily="34" charset="0"/>
              </a:rPr>
              <a:t>模擬結束後的</a:t>
            </a:r>
            <a:r>
              <a:rPr lang="en-US" altLang="zh-TW" sz="1600" dirty="0" err="1">
                <a:solidFill>
                  <a:srgbClr val="222222"/>
                </a:solidFill>
                <a:latin typeface="Arial" panose="020B0604020202020204" pitchFamily="34" charset="0"/>
              </a:rPr>
              <a:t>makespan</a:t>
            </a:r>
            <a:r>
              <a:rPr lang="zh-TW" altLang="en-US" sz="16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/ (</a:t>
            </a:r>
            <a:r>
              <a:rPr lang="en-US" altLang="zh-TW" sz="1600" dirty="0" err="1">
                <a:solidFill>
                  <a:srgbClr val="222222"/>
                </a:solidFill>
                <a:latin typeface="Arial" panose="020B0604020202020204" pitchFamily="34" charset="0"/>
              </a:rPr>
              <a:t>num_total_event</a:t>
            </a: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 * </a:t>
            </a:r>
            <a:r>
              <a:rPr lang="en-US" altLang="zh-TW" sz="1600" dirty="0" err="1">
                <a:solidFill>
                  <a:srgbClr val="222222"/>
                </a:solidFill>
                <a:latin typeface="Arial" panose="020B0604020202020204" pitchFamily="34" charset="0"/>
              </a:rPr>
              <a:t>mean_pt</a:t>
            </a: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) </a:t>
            </a:r>
          </a:p>
          <a:p>
            <a:pPr lvl="1">
              <a:lnSpc>
                <a:spcPct val="150000"/>
              </a:lnSpc>
            </a:pPr>
            <a:endParaRPr lang="en-US" altLang="zh-TW" sz="16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723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上層</a:t>
            </a:r>
            <a:r>
              <a:rPr lang="en-US" altLang="zh-TW" dirty="0"/>
              <a:t>network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13" name="內容版面配置區 12" descr="一張含有 文字, 螢幕擷取畫面, 圖表, 字型 的圖片&#10;&#10;AI 產生的內容可能不正確。">
            <a:extLst>
              <a:ext uri="{FF2B5EF4-FFF2-40B4-BE49-F238E27FC236}">
                <a16:creationId xmlns:a16="http://schemas.microsoft.com/office/drawing/2014/main" id="{A627CF84-D838-1AF2-39CB-51F315CDB3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734" y="1681046"/>
            <a:ext cx="10574531" cy="5176954"/>
          </a:xfrm>
        </p:spPr>
      </p:pic>
    </p:spTree>
    <p:extLst>
      <p:ext uri="{BB962C8B-B14F-4D97-AF65-F5344CB8AC3E}">
        <p14:creationId xmlns:p14="http://schemas.microsoft.com/office/powerpoint/2010/main" val="295117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 descr="一張含有 文字, 螢幕擷取畫面, 圖表, 設計 的圖片&#10;&#10;AI 產生的內容可能不正確。">
            <a:extLst>
              <a:ext uri="{FF2B5EF4-FFF2-40B4-BE49-F238E27FC236}">
                <a16:creationId xmlns:a16="http://schemas.microsoft.com/office/drawing/2014/main" id="{FC78F904-FCF1-CDAA-B9BC-4F8638F88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678" y="0"/>
            <a:ext cx="7575229" cy="685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下層模型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8</a:t>
            </a:fld>
            <a:endParaRPr lang="zh-TW" altLang="en-US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51237C28-39C8-B95B-8512-5DD2851FE79C}"/>
              </a:ext>
            </a:extLst>
          </p:cNvPr>
          <p:cNvCxnSpPr>
            <a:cxnSpLocks/>
          </p:cNvCxnSpPr>
          <p:nvPr/>
        </p:nvCxnSpPr>
        <p:spPr>
          <a:xfrm>
            <a:off x="3282215" y="1183907"/>
            <a:ext cx="1665170" cy="2618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593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下層</a:t>
            </a:r>
            <a:r>
              <a:rPr lang="en-US" altLang="zh-TW" dirty="0"/>
              <a:t>state -Op state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39"/>
            <a:ext cx="11288142" cy="461574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Op_scheduled_flag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是否已排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Op_ct_lb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：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完成時間下界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Op_min_pt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：可選機台中的最短加工時間</a:t>
            </a: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Op_pt_span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：加工時間跨度，通常是 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max_pt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 - 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min_pt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Op_mean_pt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：平均加工時間</a:t>
            </a: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Op_waiting_time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：目前等待時間</a:t>
            </a: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Op_remain_work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：從這道工序往後的剩餘工作量</a:t>
            </a:r>
          </a:p>
        </p:txBody>
      </p:sp>
    </p:spTree>
    <p:extLst>
      <p:ext uri="{BB962C8B-B14F-4D97-AF65-F5344CB8AC3E}">
        <p14:creationId xmlns:p14="http://schemas.microsoft.com/office/powerpoint/2010/main" val="617364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下層</a:t>
            </a:r>
            <a:r>
              <a:rPr lang="en-US" altLang="zh-TW" dirty="0"/>
              <a:t>state -Op state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39"/>
            <a:ext cx="11288142" cy="461574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Op_match_job_left_Op_nums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：該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job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還剩幾道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endParaRPr lang="zh-TW" altLang="en-US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Op_match_job_remain_work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：該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job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的總剩餘工作量</a:t>
            </a: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Op_available_mch_nums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：這道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可用機台數</a:t>
            </a: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feat_rem_time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：距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due date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的剩餘時間</a:t>
            </a: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feat_slack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：剩餘時間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-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剩餘工作量</a:t>
            </a: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feat_cr_log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：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critical ratio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的對數形式</a:t>
            </a: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feat_is_tardy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：是否已經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tardy(slack &lt; 0)</a:t>
            </a:r>
          </a:p>
        </p:txBody>
      </p:sp>
    </p:spTree>
    <p:extLst>
      <p:ext uri="{BB962C8B-B14F-4D97-AF65-F5344CB8AC3E}">
        <p14:creationId xmlns:p14="http://schemas.microsoft.com/office/powerpoint/2010/main" val="2250922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下層</a:t>
            </a:r>
            <a:r>
              <a:rPr lang="en-US" altLang="zh-TW" dirty="0"/>
              <a:t>state -Op state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39"/>
            <a:ext cx="11288142" cy="461574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job_current_tardiness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，目前有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slack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為考慮了後續的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，使用目前延遲更有急迫性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Slack_rank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目前，較相近的為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CR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值，屬於各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job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的絕對數值，在不同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due date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分布的例題排序可能更有意義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Slack_gap_to_min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此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job slack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與當前最小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slack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的差值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Remaining_flex_min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從下一道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到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job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最後一道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，最小可行機台比例，目前僅有當前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的可用機台數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remaining_flex</a:t>
            </a:r>
            <a:r>
              <a:rPr lang="en-US" altLang="zh-TW" sz="2000" err="1">
                <a:solidFill>
                  <a:srgbClr val="222222"/>
                </a:solidFill>
                <a:latin typeface="Arial" panose="020B0604020202020204" pitchFamily="34" charset="0"/>
              </a:rPr>
              <a:t>_</a:t>
            </a:r>
            <a:r>
              <a:rPr lang="en-US" altLang="zh-TW" sz="2000">
                <a:solidFill>
                  <a:srgbClr val="222222"/>
                </a:solidFill>
                <a:latin typeface="Arial" panose="020B0604020202020204" pitchFamily="34" charset="0"/>
              </a:rPr>
              <a:t>mean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5529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下層</a:t>
            </a:r>
            <a:r>
              <a:rPr lang="en-US" altLang="zh-TW" dirty="0"/>
              <a:t>state</a:t>
            </a:r>
            <a:r>
              <a:rPr lang="zh-TW" altLang="en-US" dirty="0"/>
              <a:t> </a:t>
            </a:r>
            <a:r>
              <a:rPr lang="en-US" altLang="zh-TW" dirty="0"/>
              <a:t>-</a:t>
            </a:r>
            <a:r>
              <a:rPr lang="en-US" altLang="zh-TW" dirty="0" err="1"/>
              <a:t>Mch</a:t>
            </a:r>
            <a:r>
              <a:rPr lang="zh-TW" altLang="en-US" dirty="0"/>
              <a:t> </a:t>
            </a:r>
            <a:r>
              <a:rPr lang="en-US" altLang="zh-TW" dirty="0"/>
              <a:t>state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39"/>
            <a:ext cx="11288142" cy="461574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Mch_current_available_jc_nums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 :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目前可用的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Job-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機台候選配對數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Mch_current_available_op_nums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 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該機台目前可排工序數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Mch_min_pt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該機台可選擇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中最小加工時間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mch_mean_pt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該機台可選擇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的平均加工時間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mch_waiting_time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 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該機台可選擇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中排下去造成的最小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idle</a:t>
            </a: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mch_tardiness_pressure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該機台可選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中遲交的比率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未排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mean_slack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所有未排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job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的平均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slack</a:t>
            </a:r>
          </a:p>
        </p:txBody>
      </p:sp>
    </p:spTree>
    <p:extLst>
      <p:ext uri="{BB962C8B-B14F-4D97-AF65-F5344CB8AC3E}">
        <p14:creationId xmlns:p14="http://schemas.microsoft.com/office/powerpoint/2010/main" val="2819467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下層</a:t>
            </a:r>
            <a:r>
              <a:rPr lang="en-US" altLang="zh-TW" dirty="0"/>
              <a:t>state -</a:t>
            </a:r>
            <a:r>
              <a:rPr lang="en-US" altLang="zh-TW" dirty="0" err="1"/>
              <a:t>Mch</a:t>
            </a:r>
            <a:r>
              <a:rPr lang="zh-TW" altLang="en-US" dirty="0"/>
              <a:t> </a:t>
            </a:r>
            <a:r>
              <a:rPr lang="en-US" altLang="zh-TW" dirty="0"/>
              <a:t>state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39"/>
            <a:ext cx="11288142" cy="461574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未排 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slack_std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所有未排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job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的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slack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標準差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壅塞程度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所有未排工單數與機台數的比值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886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下層</a:t>
            </a:r>
            <a:r>
              <a:rPr lang="en-US" altLang="zh-TW" dirty="0"/>
              <a:t>state -Pair</a:t>
            </a:r>
            <a:r>
              <a:rPr lang="zh-TW" altLang="en-US" dirty="0"/>
              <a:t> </a:t>
            </a:r>
            <a:r>
              <a:rPr lang="en-US" altLang="zh-TW" dirty="0"/>
              <a:t>state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8" y="1844039"/>
            <a:ext cx="11756571" cy="461574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以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Op-machine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為單位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Pair_pt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 :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該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在該機台的加工時間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Pair_pt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相對於該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在所有機台的最大加工時間的比值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Pair_pt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相對於該機台目前可選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的最大加工時間的比值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Pair_pt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相對於整個環境剩餘所有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中的最大加工時間的比值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Pair_pt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相對於該機台剩餘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中的最大加工時間的比值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Pair_pt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相對於所有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pair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中的最大加工時間的比值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245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下層</a:t>
            </a:r>
            <a:r>
              <a:rPr lang="en-US" altLang="zh-TW" dirty="0"/>
              <a:t>state -Pair</a:t>
            </a:r>
            <a:r>
              <a:rPr lang="zh-TW" altLang="en-US" dirty="0"/>
              <a:t> </a:t>
            </a:r>
            <a:r>
              <a:rPr lang="en-US" altLang="zh-TW" dirty="0"/>
              <a:t>state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8" y="1844039"/>
            <a:ext cx="11756571" cy="461574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Pair_pt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占整個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job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剩餘工作量的比例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pair_wait_time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此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目前等待時間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+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此機台目前空閒時間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pair_est_lateness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pair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最早可加工時間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+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Pair_pt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–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due date</a:t>
            </a:r>
          </a:p>
          <a:p>
            <a:pPr>
              <a:lnSpc>
                <a:spcPct val="150000"/>
              </a:lnSpc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644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下層</a:t>
            </a:r>
            <a:r>
              <a:rPr lang="en-US" altLang="zh-TW" dirty="0"/>
              <a:t>reward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8" y="1844039"/>
            <a:ext cx="11756571" cy="461574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總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reward = (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reward_mk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 + 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reward_td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) / 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n_j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 、 除以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n_j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為了在課程式學習中適應不同大小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reward_mk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 =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上步的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MK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下限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–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這步的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MK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下限 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(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論文中的時間單位為一個平均加工時間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MK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下限為 新全局下限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= max(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其他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job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原本的下界限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,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job_j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更新後的新下限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)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，而在排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job_j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時只會更新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job_j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下限，所以當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job_j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下限更新後沒有比其他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job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原本的下界限</a:t>
            </a:r>
            <a:r>
              <a:rPr lang="zh-TW" altLang="en-US" sz="2000">
                <a:solidFill>
                  <a:srgbClr val="222222"/>
                </a:solidFill>
                <a:latin typeface="Arial" panose="020B0604020202020204" pitchFamily="34" charset="0"/>
              </a:rPr>
              <a:t>大，新全局下限會一樣。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reward_td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 = - alpha * (tardiness / 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mean_op_pt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 )</a:t>
            </a: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除以 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mean_op_pt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對齊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MK</a:t>
            </a:r>
          </a:p>
        </p:txBody>
      </p:sp>
    </p:spTree>
    <p:extLst>
      <p:ext uri="{BB962C8B-B14F-4D97-AF65-F5344CB8AC3E}">
        <p14:creationId xmlns:p14="http://schemas.microsoft.com/office/powerpoint/2010/main" val="337283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下層</a:t>
            </a:r>
            <a:r>
              <a:rPr lang="en-US" altLang="zh-TW" dirty="0"/>
              <a:t>network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17</a:t>
            </a:fld>
            <a:endParaRPr lang="zh-TW" altLang="en-US"/>
          </a:p>
        </p:txBody>
      </p:sp>
      <p:pic>
        <p:nvPicPr>
          <p:cNvPr id="11" name="圖片 10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78EBFBCE-D995-6105-6FEA-9065EA6579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801" y="1862127"/>
            <a:ext cx="9828660" cy="499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027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1FDE61-E3D2-E6BC-0F9F-9A422FAE07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</a:t>
            </a:r>
            <a:r>
              <a:rPr lang="zh-TW" altLang="en-US" dirty="0"/>
              <a:t> </a:t>
            </a:r>
            <a:r>
              <a:rPr lang="en-US" altLang="zh-TW" dirty="0"/>
              <a:t>END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6F3F00-E9C9-CE25-63F7-48B11D19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18</a:t>
            </a:fld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01CA2B-8F20-5B3D-72AC-0153AA21F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3293835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自訂 2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789D89"/>
      </a:accent1>
      <a:accent2>
        <a:srgbClr val="789D89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rgbClr val="C00000"/>
        </a:solidFill>
      </a:spPr>
      <a:bodyPr rtlCol="0" anchor="ctr"/>
      <a:lstStyle>
        <a:defPPr algn="ctr">
          <a:defRPr sz="3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185856</TotalTime>
  <Words>1284</Words>
  <Application>Microsoft Office PowerPoint</Application>
  <PresentationFormat>寬螢幕</PresentationFormat>
  <Paragraphs>141</Paragraphs>
  <Slides>18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4" baseType="lpstr">
      <vt:lpstr>微軟正黑體</vt:lpstr>
      <vt:lpstr>Abadi</vt:lpstr>
      <vt:lpstr>Arial</vt:lpstr>
      <vt:lpstr>Calibri</vt:lpstr>
      <vt:lpstr>Cascadia Code</vt:lpstr>
      <vt:lpstr>回顧</vt:lpstr>
      <vt:lpstr>架構細節</vt:lpstr>
      <vt:lpstr>上層模型</vt:lpstr>
      <vt:lpstr>上層state</vt:lpstr>
      <vt:lpstr>上層state</vt:lpstr>
      <vt:lpstr>上層state</vt:lpstr>
      <vt:lpstr>上層action、reward</vt:lpstr>
      <vt:lpstr>上層network</vt:lpstr>
      <vt:lpstr>下層模型</vt:lpstr>
      <vt:lpstr>下層state -Op state</vt:lpstr>
      <vt:lpstr>下層state -Op state</vt:lpstr>
      <vt:lpstr>下層state -Op state</vt:lpstr>
      <vt:lpstr>下層state -Mch state</vt:lpstr>
      <vt:lpstr>下層state -Mch state</vt:lpstr>
      <vt:lpstr>下層state -Pair state</vt:lpstr>
      <vt:lpstr>下層state -Pair state</vt:lpstr>
      <vt:lpstr>下層reward</vt:lpstr>
      <vt:lpstr>下層network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電容錯誤偵測</dc:title>
  <dc:creator>陳佳伶</dc:creator>
  <cp:lastModifiedBy>123</cp:lastModifiedBy>
  <cp:revision>1085</cp:revision>
  <dcterms:created xsi:type="dcterms:W3CDTF">2022-03-03T14:40:23Z</dcterms:created>
  <dcterms:modified xsi:type="dcterms:W3CDTF">2026-04-27T05:27:14Z</dcterms:modified>
</cp:coreProperties>
</file>